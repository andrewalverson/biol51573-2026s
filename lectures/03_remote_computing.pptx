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450" r:id="rId2"/>
    <p:sldId id="404" r:id="rId3"/>
    <p:sldId id="333" r:id="rId4"/>
    <p:sldId id="397" r:id="rId5"/>
    <p:sldId id="398" r:id="rId6"/>
    <p:sldId id="451" r:id="rId7"/>
    <p:sldId id="455" r:id="rId8"/>
    <p:sldId id="460" r:id="rId9"/>
    <p:sldId id="424" r:id="rId10"/>
    <p:sldId id="454" r:id="rId11"/>
    <p:sldId id="463" r:id="rId12"/>
    <p:sldId id="473" r:id="rId13"/>
    <p:sldId id="464" r:id="rId14"/>
    <p:sldId id="472" r:id="rId15"/>
    <p:sldId id="466" r:id="rId16"/>
    <p:sldId id="467" r:id="rId17"/>
    <p:sldId id="468" r:id="rId18"/>
    <p:sldId id="469" r:id="rId19"/>
    <p:sldId id="461" r:id="rId20"/>
    <p:sldId id="462" r:id="rId21"/>
    <p:sldId id="470" r:id="rId22"/>
    <p:sldId id="432" r:id="rId23"/>
    <p:sldId id="401" r:id="rId24"/>
    <p:sldId id="402" r:id="rId25"/>
    <p:sldId id="405" r:id="rId26"/>
    <p:sldId id="406" r:id="rId27"/>
    <p:sldId id="407" r:id="rId28"/>
    <p:sldId id="410" r:id="rId29"/>
    <p:sldId id="408" r:id="rId30"/>
    <p:sldId id="403" r:id="rId31"/>
    <p:sldId id="433" r:id="rId32"/>
    <p:sldId id="440" r:id="rId33"/>
    <p:sldId id="446" r:id="rId34"/>
    <p:sldId id="449" r:id="rId35"/>
    <p:sldId id="447" r:id="rId36"/>
    <p:sldId id="448" r:id="rId37"/>
    <p:sldId id="452" r:id="rId38"/>
    <p:sldId id="459" r:id="rId39"/>
    <p:sldId id="435" r:id="rId40"/>
    <p:sldId id="438" r:id="rId41"/>
    <p:sldId id="439" r:id="rId42"/>
    <p:sldId id="458" r:id="rId43"/>
    <p:sldId id="444" r:id="rId44"/>
    <p:sldId id="445" r:id="rId45"/>
    <p:sldId id="441" r:id="rId46"/>
    <p:sldId id="442" r:id="rId47"/>
    <p:sldId id="443" r:id="rId48"/>
    <p:sldId id="431" r:id="rId49"/>
    <p:sldId id="429" r:id="rId50"/>
    <p:sldId id="434" r:id="rId51"/>
    <p:sldId id="436" r:id="rId52"/>
    <p:sldId id="437" r:id="rId53"/>
    <p:sldId id="411" r:id="rId54"/>
    <p:sldId id="456" r:id="rId55"/>
    <p:sldId id="425" r:id="rId56"/>
    <p:sldId id="426" r:id="rId57"/>
    <p:sldId id="427" r:id="rId58"/>
    <p:sldId id="428" r:id="rId59"/>
    <p:sldId id="471" r:id="rId60"/>
    <p:sldId id="457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88"/>
    <p:restoredTop sz="95479" autoAdjust="0"/>
  </p:normalViewPr>
  <p:slideViewPr>
    <p:cSldViewPr snapToGrid="0" snapToObjects="1">
      <p:cViewPr varScale="1">
        <p:scale>
          <a:sx n="117" d="100"/>
          <a:sy n="117" d="100"/>
        </p:scale>
        <p:origin x="29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180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B08EE-425C-7E44-9D2F-3328869B9756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FB4DF-11AF-7E42-841D-4EA344DF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11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3B117-C548-C24D-B5EC-9EEE3D79DFC1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CD0FA-6A7B-8444-A447-3B5AA0B24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763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70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20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37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373B-4FEF-689A-43D9-11F6FC7B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6CC0A-1E66-FC1E-D068-80FF86BE2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6E5DA-A284-07EC-11F7-20ABC7EF7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F4160-1F08-8AA3-E302-6E8BE2223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43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0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BFBC-EA9A-2C33-4469-E6DC61140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ECF33-577E-EC43-D6BF-BCF32AED4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3C56E-8059-29E8-35F6-851EAA83A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0387-15F7-73A1-E52F-4597EA5E4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92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99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26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16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01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10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05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64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-K option to add to keychain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authorized_keys</a:t>
            </a:r>
            <a:r>
              <a:rPr lang="en-US" dirty="0"/>
              <a:t> on remote machine needs to be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rwxr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76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-K option to add to keychain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authorized_keys</a:t>
            </a:r>
            <a:r>
              <a:rPr lang="en-US" dirty="0"/>
              <a:t> on remote machine needs to be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rwxr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05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5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2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2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7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1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0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3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9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6, class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7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Week 6, class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92F12-F120-0D48-BEA4-7DA610DE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3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rsug.itd.umich.edu/software/fugu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tiff"/><Relationship Id="rId4" Type="http://schemas.openxmlformats.org/officeDocument/2006/relationships/hyperlink" Target="https://filezilla-project.org/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00692"/>
            <a:ext cx="8229600" cy="1143000"/>
          </a:xfrm>
        </p:spPr>
        <p:txBody>
          <a:bodyPr/>
          <a:lstStyle/>
          <a:p>
            <a:r>
              <a:rPr lang="en-US"/>
              <a:t>Working remotely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63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0167" y="471980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Remote computing (and related issues)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715" y="1610185"/>
            <a:ext cx="77676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7713" indent="-457200">
              <a:spcAft>
                <a:spcPts val="1200"/>
              </a:spcAft>
              <a:buFont typeface="Lucida Grande"/>
              <a:buChar char="-"/>
            </a:pPr>
            <a:r>
              <a:rPr lang="en-US" sz="2800" dirty="0"/>
              <a:t>Logging on</a:t>
            </a:r>
          </a:p>
          <a:p>
            <a:pPr marL="747713" indent="-457200">
              <a:spcAft>
                <a:spcPts val="1200"/>
              </a:spcAft>
              <a:buFont typeface="Lucida Grande"/>
              <a:buChar char="-"/>
            </a:pPr>
            <a:r>
              <a:rPr lang="en-US" sz="2800" dirty="0"/>
              <a:t>Copying files</a:t>
            </a:r>
          </a:p>
          <a:p>
            <a:pPr marL="747713" indent="-457200">
              <a:spcAft>
                <a:spcPts val="1200"/>
              </a:spcAft>
              <a:buFont typeface="Lucida Grande"/>
              <a:buChar char="-"/>
            </a:pPr>
            <a:r>
              <a:rPr lang="en-US" sz="2800" dirty="0"/>
              <a:t>Retrieving data</a:t>
            </a:r>
          </a:p>
          <a:p>
            <a:pPr marL="747713" indent="-457200">
              <a:spcAft>
                <a:spcPts val="1200"/>
              </a:spcAft>
              <a:buFont typeface="Lucida Grande"/>
              <a:buChar char="-"/>
            </a:pPr>
            <a:r>
              <a:rPr lang="en-US" sz="2800" dirty="0"/>
              <a:t>Compressing data</a:t>
            </a:r>
          </a:p>
          <a:p>
            <a:pPr marL="747713" indent="-457200">
              <a:spcAft>
                <a:spcPts val="1200"/>
              </a:spcAft>
              <a:buFont typeface="Lucida Grande"/>
              <a:buChar char="-"/>
            </a:pPr>
            <a:r>
              <a:rPr lang="en-US" sz="2800" dirty="0"/>
              <a:t>Verifying data</a:t>
            </a:r>
          </a:p>
          <a:p>
            <a:pPr marL="747713" indent="-457200">
              <a:spcAft>
                <a:spcPts val="1200"/>
              </a:spcAft>
              <a:buFont typeface="Lucida Grande"/>
              <a:buChar char="-"/>
            </a:pPr>
            <a:r>
              <a:rPr lang="en-US" sz="2800" dirty="0"/>
              <a:t>Preparing job scripts</a:t>
            </a:r>
          </a:p>
          <a:p>
            <a:pPr marL="747713" indent="-457200">
              <a:spcAft>
                <a:spcPts val="1200"/>
              </a:spcAft>
              <a:buFont typeface="Lucida Grande"/>
              <a:buChar char="-"/>
            </a:pPr>
            <a:r>
              <a:rPr lang="en-US" sz="2800" dirty="0"/>
              <a:t>Submitting jobs</a:t>
            </a:r>
          </a:p>
        </p:txBody>
      </p:sp>
    </p:spTree>
    <p:extLst>
      <p:ext uri="{BB962C8B-B14F-4D97-AF65-F5344CB8AC3E}">
        <p14:creationId xmlns:p14="http://schemas.microsoft.com/office/powerpoint/2010/main" val="2059436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Logging onto a remote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–   </a:t>
            </a:r>
            <a:r>
              <a:rPr lang="en-US" sz="2400" dirty="0">
                <a:cs typeface="Calibri"/>
              </a:rPr>
              <a:t>establish a </a:t>
            </a:r>
            <a:r>
              <a:rPr lang="en-US" sz="2400" u="sng" dirty="0">
                <a:cs typeface="Calibri"/>
              </a:rPr>
              <a:t>s</a:t>
            </a:r>
            <a:r>
              <a:rPr lang="en-US" sz="2400" dirty="0">
                <a:cs typeface="Calibri"/>
              </a:rPr>
              <a:t>ecure </a:t>
            </a:r>
            <a:r>
              <a:rPr lang="en-US" sz="2400" u="sng" dirty="0">
                <a:cs typeface="Calibri"/>
              </a:rPr>
              <a:t>sh</a:t>
            </a:r>
            <a:r>
              <a:rPr lang="en-US" sz="2400" dirty="0">
                <a:cs typeface="Calibri"/>
              </a:rPr>
              <a:t>ell</a:t>
            </a:r>
          </a:p>
          <a:p>
            <a:pPr marL="1146175" lvl="1" indent="-287338"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used to log into a remote machine and execute commands</a:t>
            </a:r>
          </a:p>
          <a:p>
            <a:pPr marL="1146175" lvl="1" indent="-287338"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requires password authentication</a:t>
            </a:r>
          </a:p>
          <a:p>
            <a:pPr marL="1146175" lvl="1" indent="-287338"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it's </a:t>
            </a:r>
            <a:r>
              <a:rPr lang="en-US" sz="2400" b="1" i="1" dirty="0">
                <a:latin typeface="Calibri"/>
                <a:cs typeface="Calibri"/>
              </a:rPr>
              <a:t>secure</a:t>
            </a:r>
            <a:r>
              <a:rPr lang="en-US" sz="2400" dirty="0">
                <a:latin typeface="Calibri"/>
                <a:cs typeface="Calibri"/>
              </a:rPr>
              <a:t>, meaning that your login data are encrypted as they're transmitted through cyberspace</a:t>
            </a:r>
          </a:p>
          <a:p>
            <a:pPr marL="1146175" lvl="1" indent="-287338"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latin typeface="Calibri"/>
                <a:cs typeface="Calibri"/>
              </a:rPr>
              <a:t>UNSECURE connections: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telnet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rlogin</a:t>
            </a:r>
            <a:r>
              <a:rPr lang="en-US" sz="2400" dirty="0">
                <a:latin typeface="Calibri"/>
                <a:cs typeface="Calibri"/>
              </a:rPr>
              <a:t>, and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ftp</a:t>
            </a:r>
          </a:p>
          <a:p>
            <a:pPr marL="1146175" lvl="1" indent="-287338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alibri"/>
              </a:rPr>
              <a:t>can install </a:t>
            </a:r>
            <a:r>
              <a:rPr lang="en-US" sz="2400" dirty="0" err="1">
                <a:cs typeface="Calibri"/>
              </a:rPr>
              <a:t>OpenSSH</a:t>
            </a:r>
            <a:r>
              <a:rPr lang="en-US" sz="2400" dirty="0">
                <a:cs typeface="Calibri"/>
              </a:rPr>
              <a:t> on any Linux system</a:t>
            </a:r>
          </a:p>
          <a:p>
            <a:pPr marL="1146175" lvl="1" indent="-287338">
              <a:spcAft>
                <a:spcPts val="400"/>
              </a:spcAft>
              <a:buFont typeface="Arial"/>
              <a:buChar char="•"/>
            </a:pPr>
            <a:r>
              <a:rPr lang="en-US" sz="2400" dirty="0">
                <a:cs typeface="Calibri"/>
              </a:rPr>
              <a:t>can enable </a:t>
            </a:r>
            <a:r>
              <a:rPr lang="en-US" sz="2400" dirty="0" err="1">
                <a:cs typeface="Calibri"/>
              </a:rPr>
              <a:t>OpenSSH</a:t>
            </a:r>
            <a:r>
              <a:rPr lang="en-US" sz="2400" dirty="0">
                <a:cs typeface="Calibri"/>
              </a:rPr>
              <a:t> on any Mac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7349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Logging onto a remote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12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–   </a:t>
            </a:r>
            <a:r>
              <a:rPr lang="en-US" sz="2400" dirty="0">
                <a:cs typeface="Calibri"/>
              </a:rPr>
              <a:t>establish a </a:t>
            </a:r>
            <a:r>
              <a:rPr lang="en-US" sz="2400" u="sng" dirty="0">
                <a:cs typeface="Calibri"/>
              </a:rPr>
              <a:t>s</a:t>
            </a:r>
            <a:r>
              <a:rPr lang="en-US" sz="2400" dirty="0">
                <a:cs typeface="Calibri"/>
              </a:rPr>
              <a:t>ecure </a:t>
            </a:r>
            <a:r>
              <a:rPr lang="en-US" sz="2400" u="sng" dirty="0">
                <a:cs typeface="Calibri"/>
              </a:rPr>
              <a:t>sh</a:t>
            </a:r>
            <a:r>
              <a:rPr lang="en-US" sz="2400" dirty="0">
                <a:cs typeface="Calibri"/>
              </a:rPr>
              <a:t>ell</a:t>
            </a:r>
          </a:p>
          <a:p>
            <a:pPr marL="225425" lvl="1" indent="346075">
              <a:spcAft>
                <a:spcPts val="4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&lt;username&gt;@hpc-portal2.hpc.uark.edu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713413"/>
            <a:ext cx="76454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. . . where</a:t>
            </a:r>
            <a:r>
              <a:rPr lang="en-US" sz="2400" dirty="0">
                <a:latin typeface="Courier"/>
                <a:cs typeface="Courier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&lt;username&gt;</a:t>
            </a:r>
            <a:r>
              <a:rPr lang="en-US" sz="2400" dirty="0">
                <a:latin typeface="Courier"/>
                <a:cs typeface="Courier"/>
              </a:rPr>
              <a:t> </a:t>
            </a:r>
            <a:r>
              <a:rPr lang="en-US" sz="2400" dirty="0"/>
              <a:t>is:</a:t>
            </a:r>
          </a:p>
          <a:p>
            <a:pPr marL="977900" indent="-342900">
              <a:buFont typeface="Lucida Grande"/>
              <a:buChar char="–"/>
            </a:pPr>
            <a:r>
              <a:rPr lang="en-US" sz="2400" dirty="0"/>
              <a:t>the name you requested, or</a:t>
            </a:r>
          </a:p>
          <a:p>
            <a:pPr marL="977900" indent="-342900">
              <a:buFont typeface="Lucida Grande"/>
              <a:buChar char="–"/>
            </a:pPr>
            <a:r>
              <a:rPr lang="en-US" sz="2400" dirty="0"/>
              <a:t>in our case, your UARK username and password</a:t>
            </a:r>
          </a:p>
        </p:txBody>
      </p:sp>
    </p:spTree>
    <p:extLst>
      <p:ext uri="{BB962C8B-B14F-4D97-AF65-F5344CB8AC3E}">
        <p14:creationId xmlns:p14="http://schemas.microsoft.com/office/powerpoint/2010/main" val="68343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465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Adopt a single user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2233890"/>
            <a:ext cx="8823220" cy="2257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800"/>
              </a:spcAft>
            </a:pPr>
            <a:r>
              <a:rPr lang="en-US" sz="2200" dirty="0">
                <a:latin typeface="Calibri"/>
                <a:cs typeface="Calibri"/>
              </a:rPr>
              <a:t>If your username where you're currently logged in is the same as the one on the remote computer, then:</a:t>
            </a:r>
          </a:p>
          <a:p>
            <a:pPr marL="225425" lvl="1" indent="346075">
              <a:spcAft>
                <a:spcPts val="16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hpc-portal2.hpc.uark.edu</a:t>
            </a:r>
          </a:p>
          <a:p>
            <a:pPr marL="177800" lvl="1">
              <a:spcAft>
                <a:spcPts val="800"/>
              </a:spcAft>
            </a:pPr>
            <a:r>
              <a:rPr lang="en-US" sz="2200" dirty="0">
                <a:latin typeface="Calibri"/>
                <a:cs typeface="Calibri"/>
              </a:rPr>
              <a:t>As opposed to:</a:t>
            </a:r>
          </a:p>
          <a:p>
            <a:pPr marL="225425" lvl="1" indent="346075">
              <a:spcAft>
                <a:spcPts val="800"/>
              </a:spcAft>
            </a:pPr>
            <a:r>
              <a:rPr lang="en-US" sz="2400" dirty="0">
                <a:latin typeface="Courier"/>
                <a:cs typeface="Courier"/>
              </a:rPr>
              <a:t>$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u="sng" dirty="0">
                <a:solidFill>
                  <a:srgbClr val="0000FF"/>
                </a:solidFill>
                <a:latin typeface="Courier"/>
                <a:cs typeface="Courier"/>
              </a:rPr>
              <a:t>username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@hpc-portal2.hpc.uark.edu</a:t>
            </a:r>
            <a:endParaRPr lang="en-US" sz="2400" dirty="0"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751" y="1305758"/>
            <a:ext cx="8598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Zapf Dingbats"/>
                <a:ea typeface="Zapf Dingbats"/>
                <a:cs typeface="Zapf Dingbats"/>
                <a:sym typeface="Zapf Dingbats"/>
              </a:rPr>
              <a:t>★ </a:t>
            </a:r>
            <a:r>
              <a:rPr lang="en-US" sz="2400" dirty="0">
                <a:sym typeface="Zapf Dingbats"/>
              </a:rPr>
              <a:t>S</a:t>
            </a:r>
            <a:r>
              <a:rPr lang="en-US" sz="2400" dirty="0"/>
              <a:t>ave time by adopting a single username for all your accounts </a:t>
            </a:r>
            <a:r>
              <a:rPr lang="en-US" sz="2400" dirty="0">
                <a:latin typeface="Zapf Dingbats"/>
                <a:ea typeface="Zapf Dingbats"/>
                <a:cs typeface="Zapf Dingbats"/>
                <a:sym typeface="Zapf Dingbats"/>
              </a:rPr>
              <a:t>★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073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File system on AHPCC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667" y="1435822"/>
            <a:ext cx="7096762" cy="4637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where you're at when you log in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/home/username </a:t>
            </a:r>
            <a:r>
              <a:rPr lang="en-US" dirty="0">
                <a:latin typeface="Courier"/>
                <a:cs typeface="Courier"/>
              </a:rPr>
              <a:t>[on the "head node"]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where to store your data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/storage/username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where to run standard jobs from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$HOME or storage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solidFill>
                <a:srgbClr val="31859C"/>
              </a:solidFill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where to run jobs with high read/write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/scratch/$SLURM_JOB_ID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257300" lvl="3" indent="-342900"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ourier"/>
                <a:cs typeface="Courier"/>
              </a:rPr>
              <a:t>copy input files to this directory</a:t>
            </a:r>
          </a:p>
          <a:p>
            <a:pPr marL="1257300" lvl="3" indent="-342900"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ourier"/>
                <a:cs typeface="Courier"/>
              </a:rPr>
              <a:t>execute commands</a:t>
            </a:r>
          </a:p>
          <a:p>
            <a:pPr marL="1257300" lvl="3" indent="-342900"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ourier"/>
                <a:cs typeface="Courier"/>
              </a:rPr>
              <a:t>copy output back to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0300" y="1435822"/>
            <a:ext cx="2361291" cy="92333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Don't start running a bunch of analyses on the login node!</a:t>
            </a:r>
          </a:p>
        </p:txBody>
      </p:sp>
    </p:spTree>
    <p:extLst>
      <p:ext uri="{BB962C8B-B14F-4D97-AF65-F5344CB8AC3E}">
        <p14:creationId xmlns:p14="http://schemas.microsoft.com/office/powerpoint/2010/main" val="162426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Submitting a job to a remote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144" y="1536389"/>
            <a:ext cx="8377563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Get all of your data in place on the remote system (see "File system on AHPCC")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Create a job script that includes:</a:t>
            </a:r>
          </a:p>
          <a:p>
            <a:pPr marL="800100" lvl="1" indent="-342900">
              <a:spcAft>
                <a:spcPts val="600"/>
              </a:spcAft>
              <a:buFont typeface="Arial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all the information needed to run your job</a:t>
            </a:r>
          </a:p>
          <a:p>
            <a:pPr marL="800100" lvl="1" indent="-342900">
              <a:spcAft>
                <a:spcPts val="600"/>
              </a:spcAft>
              <a:buFont typeface="Arial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all the commands you want to run, exactly as you would type them on the command line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Submit your job – as defined in your job script – to the queue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8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144" y="39623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There are different queuing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144" y="1536389"/>
            <a:ext cx="8377563" cy="1570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1963" indent="-461963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TORQUE/PBS</a:t>
            </a:r>
          </a:p>
          <a:p>
            <a:pPr marL="461963" indent="-461963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SLURM (AHPCC)</a:t>
            </a:r>
          </a:p>
        </p:txBody>
      </p:sp>
    </p:spTree>
    <p:extLst>
      <p:ext uri="{BB962C8B-B14F-4D97-AF65-F5344CB8AC3E}">
        <p14:creationId xmlns:p14="http://schemas.microsoft.com/office/powerpoint/2010/main" val="3928188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144" y="161102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Submitting and checking the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144" y="1121458"/>
            <a:ext cx="709676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1" indent="-114300">
              <a:spcBef>
                <a:spcPts val="1800"/>
              </a:spcBef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what queues are available on the cluster?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sinfo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–l</a:t>
            </a:r>
            <a:r>
              <a:rPr lang="en-US" dirty="0">
                <a:latin typeface="Courier"/>
                <a:cs typeface="Calibri Light" panose="020F0302020204030204" pitchFamily="34" charset="0"/>
              </a:rPr>
              <a:t>, or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qstat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-q</a:t>
            </a:r>
          </a:p>
          <a:p>
            <a:pPr marL="114300" lvl="1" indent="-114300">
              <a:spcBef>
                <a:spcPts val="1800"/>
              </a:spcBef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submit the job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sbatch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job_script.sh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&gt;</a:t>
            </a:r>
          </a:p>
          <a:p>
            <a:pPr marL="114300" lvl="1" indent="-114300">
              <a:spcBef>
                <a:spcPts val="1800"/>
              </a:spcBef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when will my job start?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squeue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–start –j &lt;job id&gt;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where are programs installed 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/share/apps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what programs are installed as modules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module avail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load a module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module load blast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252713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397722"/>
            <a:ext cx="709676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check status of job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squeue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-l -u &lt;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user_name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&gt;</a:t>
            </a:r>
          </a:p>
          <a:p>
            <a:pPr marL="114300" lvl="1" indent="-114300">
              <a:spcBef>
                <a:spcPts val="400"/>
              </a:spcBef>
              <a:spcAft>
                <a:spcPts val="400"/>
              </a:spcAft>
            </a:pPr>
            <a:endParaRPr lang="en-US" dirty="0"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kill the job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scancel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&lt;Job ID&gt;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kill all my jobs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scancel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-u &lt;username&gt;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kill all my pending jobs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scancel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-t PENDING -u &lt;username&gt;</a:t>
            </a:r>
          </a:p>
          <a:p>
            <a:pPr marL="114300" lvl="1" indent="-114300">
              <a:spcAft>
                <a:spcPts val="400"/>
              </a:spcAft>
            </a:pP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17EF1A7-3B56-D360-A7DF-3AEC7732F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Submitting and checking the job</a:t>
            </a:r>
          </a:p>
        </p:txBody>
      </p:sp>
    </p:spTree>
    <p:extLst>
      <p:ext uri="{BB962C8B-B14F-4D97-AF65-F5344CB8AC3E}">
        <p14:creationId xmlns:p14="http://schemas.microsoft.com/office/powerpoint/2010/main" val="239185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4AAEF-99BE-7DB7-E6EC-14018E6498B1}"/>
              </a:ext>
            </a:extLst>
          </p:cNvPr>
          <p:cNvSpPr txBox="1"/>
          <p:nvPr/>
        </p:nvSpPr>
        <p:spPr>
          <a:xfrm>
            <a:off x="6559750" y="2126595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name your job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34DA96-2976-4536-DB9A-0F3A50749D55}"/>
              </a:ext>
            </a:extLst>
          </p:cNvPr>
          <p:cNvCxnSpPr/>
          <p:nvPr/>
        </p:nvCxnSpPr>
        <p:spPr>
          <a:xfrm flipH="1">
            <a:off x="5770676" y="2338071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2D12BEA-76E0-D7AC-35FD-BEFE1354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333810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18364-46AA-F652-F84D-C35305046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B48F3C-812D-AA5C-9811-4007BF3A81AB}"/>
              </a:ext>
            </a:extLst>
          </p:cNvPr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A8A6D-038B-523E-D23E-C8EEECA3B4A1}"/>
              </a:ext>
            </a:extLst>
          </p:cNvPr>
          <p:cNvSpPr txBox="1"/>
          <p:nvPr/>
        </p:nvSpPr>
        <p:spPr>
          <a:xfrm>
            <a:off x="5090179" y="2387853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name of the queue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1AA5BB-784E-F6B3-5BD6-D9B9877D56E4}"/>
              </a:ext>
            </a:extLst>
          </p:cNvPr>
          <p:cNvCxnSpPr/>
          <p:nvPr/>
        </p:nvCxnSpPr>
        <p:spPr>
          <a:xfrm flipH="1">
            <a:off x="4301105" y="2599329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C0BE916E-33F8-8438-69C3-3CFE9175F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99439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4AAEF-99BE-7DB7-E6EC-14018E6498B1}"/>
              </a:ext>
            </a:extLst>
          </p:cNvPr>
          <p:cNvSpPr txBox="1"/>
          <p:nvPr/>
        </p:nvSpPr>
        <p:spPr>
          <a:xfrm>
            <a:off x="4373778" y="2693325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quality of service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34DA96-2976-4536-DB9A-0F3A50749D55}"/>
              </a:ext>
            </a:extLst>
          </p:cNvPr>
          <p:cNvCxnSpPr/>
          <p:nvPr/>
        </p:nvCxnSpPr>
        <p:spPr>
          <a:xfrm flipH="1">
            <a:off x="3584704" y="2883029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8EA8F8C8-B721-F98D-8610-B48C7DBA6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2003558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1209B-6A77-00AB-CE66-6CE45732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B09FDB-028E-EBC6-F792-46B192B12EC2}"/>
              </a:ext>
            </a:extLst>
          </p:cNvPr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BC72A-9937-B1A4-18A0-49435AC9FDFD}"/>
              </a:ext>
            </a:extLst>
          </p:cNvPr>
          <p:cNvSpPr txBox="1"/>
          <p:nvPr/>
        </p:nvSpPr>
        <p:spPr>
          <a:xfrm>
            <a:off x="4068978" y="2976354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number of nodes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102085-B742-093A-6E28-7DC213A5C1AB}"/>
              </a:ext>
            </a:extLst>
          </p:cNvPr>
          <p:cNvCxnSpPr/>
          <p:nvPr/>
        </p:nvCxnSpPr>
        <p:spPr>
          <a:xfrm flipH="1">
            <a:off x="3247246" y="3166058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64CD25F1-F735-1015-6B09-DB7E949F8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1403956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4AAEF-99BE-7DB7-E6EC-14018E6498B1}"/>
              </a:ext>
            </a:extLst>
          </p:cNvPr>
          <p:cNvSpPr txBox="1"/>
          <p:nvPr/>
        </p:nvSpPr>
        <p:spPr>
          <a:xfrm>
            <a:off x="5257900" y="3208921"/>
            <a:ext cx="3631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number of cores</a:t>
            </a:r>
          </a:p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(take only what you need)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34DA96-2976-4536-DB9A-0F3A50749D55}"/>
              </a:ext>
            </a:extLst>
          </p:cNvPr>
          <p:cNvCxnSpPr/>
          <p:nvPr/>
        </p:nvCxnSpPr>
        <p:spPr>
          <a:xfrm flipH="1">
            <a:off x="4468826" y="3420397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E6C43B8-F529-8614-2281-8B7E0EE26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498081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4AAEF-99BE-7DB7-E6EC-14018E6498B1}"/>
              </a:ext>
            </a:extLst>
          </p:cNvPr>
          <p:cNvSpPr txBox="1"/>
          <p:nvPr/>
        </p:nvSpPr>
        <p:spPr>
          <a:xfrm>
            <a:off x="4718948" y="3475311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wall time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34DA96-2976-4536-DB9A-0F3A50749D55}"/>
              </a:ext>
            </a:extLst>
          </p:cNvPr>
          <p:cNvCxnSpPr/>
          <p:nvPr/>
        </p:nvCxnSpPr>
        <p:spPr>
          <a:xfrm flipH="1">
            <a:off x="3929874" y="3686787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2932964D-71B0-C4AF-DBB6-DEFBE5DD8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3045946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4AAEF-99BE-7DB7-E6EC-14018E6498B1}"/>
              </a:ext>
            </a:extLst>
          </p:cNvPr>
          <p:cNvSpPr txBox="1"/>
          <p:nvPr/>
        </p:nvSpPr>
        <p:spPr>
          <a:xfrm>
            <a:off x="3908499" y="3725858"/>
            <a:ext cx="4733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file names for STDOUT and STDERR;</a:t>
            </a:r>
          </a:p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this can be anything you want</a:t>
            </a:r>
          </a:p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(%j is the job ID)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34DA96-2976-4536-DB9A-0F3A50749D55}"/>
              </a:ext>
            </a:extLst>
          </p:cNvPr>
          <p:cNvCxnSpPr>
            <a:cxnSpLocks/>
          </p:cNvCxnSpPr>
          <p:nvPr/>
        </p:nvCxnSpPr>
        <p:spPr>
          <a:xfrm flipH="1">
            <a:off x="3119425" y="4122393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80BFF8CC-51E5-F6D0-962F-4AE8775BA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454282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4AAEF-99BE-7DB7-E6EC-14018E6498B1}"/>
              </a:ext>
            </a:extLst>
          </p:cNvPr>
          <p:cNvSpPr txBox="1"/>
          <p:nvPr/>
        </p:nvSpPr>
        <p:spPr>
          <a:xfrm>
            <a:off x="5270012" y="4441747"/>
            <a:ext cx="36407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"/>
                <a:cs typeface="Courier"/>
              </a:rPr>
              <a:t>send me emails about the job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34DA96-2976-4536-DB9A-0F3A50749D55}"/>
              </a:ext>
            </a:extLst>
          </p:cNvPr>
          <p:cNvCxnSpPr/>
          <p:nvPr/>
        </p:nvCxnSpPr>
        <p:spPr>
          <a:xfrm flipH="1">
            <a:off x="4468826" y="4616887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5694D6CF-5ED0-374D-8F72-EF736FDAB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4015979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1D505-6B12-5944-9B39-FB3A44CA5CBE}"/>
              </a:ext>
            </a:extLst>
          </p:cNvPr>
          <p:cNvSpPr txBox="1"/>
          <p:nvPr/>
        </p:nvSpPr>
        <p:spPr>
          <a:xfrm>
            <a:off x="4301105" y="5118350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cd into the working directory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F9B156-6CA7-BC4D-9B29-FF94A1DA4995}"/>
              </a:ext>
            </a:extLst>
          </p:cNvPr>
          <p:cNvCxnSpPr/>
          <p:nvPr/>
        </p:nvCxnSpPr>
        <p:spPr>
          <a:xfrm flipH="1">
            <a:off x="3512031" y="5329826"/>
            <a:ext cx="830765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97B0362D-F984-9014-0EEB-968BE0C10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1371657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667" y="1597144"/>
            <a:ext cx="70781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#!/bin/bash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--job-name=&lt;insert job name&gt;</a:t>
            </a:r>
          </a:p>
          <a:p>
            <a:r>
              <a:rPr lang="en-US" dirty="0">
                <a:latin typeface="Courier"/>
                <a:cs typeface="Courier"/>
              </a:rPr>
              <a:t>#SBATCH --partition comp72</a:t>
            </a:r>
          </a:p>
          <a:p>
            <a:r>
              <a:rPr lang="en-US" dirty="0">
                <a:latin typeface="Courier"/>
                <a:cs typeface="Courier"/>
              </a:rPr>
              <a:t>#SBATCH --</a:t>
            </a:r>
            <a:r>
              <a:rPr lang="en-US" dirty="0" err="1">
                <a:latin typeface="Courier"/>
                <a:cs typeface="Courier"/>
              </a:rPr>
              <a:t>qos</a:t>
            </a:r>
            <a:r>
              <a:rPr lang="en-US" dirty="0">
                <a:latin typeface="Courier"/>
                <a:cs typeface="Courier"/>
              </a:rPr>
              <a:t> comp</a:t>
            </a:r>
          </a:p>
          <a:p>
            <a:r>
              <a:rPr lang="en-US" dirty="0">
                <a:latin typeface="Courier"/>
                <a:cs typeface="Courier"/>
              </a:rPr>
              <a:t>#SBATCH --nodes=1</a:t>
            </a:r>
          </a:p>
          <a:p>
            <a:r>
              <a:rPr lang="en-US" dirty="0">
                <a:latin typeface="Courier"/>
                <a:cs typeface="Courier"/>
              </a:rPr>
              <a:t>#SBATCH --tasks-per-node=32</a:t>
            </a:r>
          </a:p>
          <a:p>
            <a:r>
              <a:rPr lang="en-US" dirty="0">
                <a:latin typeface="Courier"/>
                <a:cs typeface="Courier"/>
              </a:rPr>
              <a:t>#SBATCH --time=72:00:00</a:t>
            </a:r>
          </a:p>
          <a:p>
            <a:r>
              <a:rPr lang="en-US" dirty="0">
                <a:latin typeface="Courier"/>
                <a:cs typeface="Courier"/>
              </a:rPr>
              <a:t>#SBATCH -o %</a:t>
            </a:r>
            <a:r>
              <a:rPr lang="en-US" dirty="0" err="1">
                <a:latin typeface="Courier"/>
                <a:cs typeface="Courier"/>
              </a:rPr>
              <a:t>j.out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-e %</a:t>
            </a:r>
            <a:r>
              <a:rPr lang="en-US" dirty="0" err="1">
                <a:latin typeface="Courier"/>
                <a:cs typeface="Courier"/>
              </a:rPr>
              <a:t>j.err</a:t>
            </a:r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#SBATCH --mail-type=ALL</a:t>
            </a:r>
          </a:p>
          <a:p>
            <a:r>
              <a:rPr lang="en-US" dirty="0">
                <a:latin typeface="Courier"/>
                <a:cs typeface="Courier"/>
              </a:rPr>
              <a:t>#SBATCH --mail-user=</a:t>
            </a:r>
            <a:r>
              <a:rPr lang="en-US" dirty="0" err="1">
                <a:latin typeface="Courier"/>
                <a:cs typeface="Courier"/>
              </a:rPr>
              <a:t>aja@uark.edu</a:t>
            </a:r>
            <a:endParaRPr lang="en-US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cd $SLURM_SUBMIT_DIR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job command here</a:t>
            </a:r>
          </a:p>
          <a:p>
            <a:r>
              <a:rPr lang="en-US" dirty="0"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latin typeface="Courier"/>
                <a:cs typeface="Courier"/>
              </a:rPr>
              <a:t>command 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FB6A11-A1D4-DB06-386D-3261E58012A0}"/>
              </a:ext>
            </a:extLst>
          </p:cNvPr>
          <p:cNvGrpSpPr/>
          <p:nvPr/>
        </p:nvGrpSpPr>
        <p:grpSpPr>
          <a:xfrm>
            <a:off x="2106722" y="6086873"/>
            <a:ext cx="3328614" cy="369332"/>
            <a:chOff x="4892311" y="6320147"/>
            <a:chExt cx="3328614" cy="369332"/>
          </a:xfrm>
        </p:grpSpPr>
        <p:sp>
          <p:nvSpPr>
            <p:cNvPr id="15" name="TextBox 14"/>
            <p:cNvSpPr txBox="1"/>
            <p:nvPr/>
          </p:nvSpPr>
          <p:spPr>
            <a:xfrm>
              <a:off x="5681385" y="6320147"/>
              <a:ext cx="2539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/>
                  <a:cs typeface="Courier"/>
                </a:rPr>
                <a:t>command(s) to run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>
              <a:off x="4892311" y="6531623"/>
              <a:ext cx="830765" cy="0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3E3835A0-50DB-BF56-B704-0A1FE85D0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Anatomy of a SLURM script</a:t>
            </a:r>
          </a:p>
        </p:txBody>
      </p:sp>
    </p:spTree>
    <p:extLst>
      <p:ext uri="{BB962C8B-B14F-4D97-AF65-F5344CB8AC3E}">
        <p14:creationId xmlns:p14="http://schemas.microsoft.com/office/powerpoint/2010/main" val="1033548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3834" y="368074"/>
            <a:ext cx="8436747" cy="862385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For jobs with lots of output, add this to the end of your SLURM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834" y="1597144"/>
            <a:ext cx="85563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/>
                <a:cs typeface="Courier"/>
              </a:rPr>
              <a:t># copy input files to the scratch disk before running the job</a:t>
            </a:r>
          </a:p>
          <a:p>
            <a:r>
              <a:rPr lang="en-US" dirty="0" err="1">
                <a:solidFill>
                  <a:srgbClr val="0432FF"/>
                </a:solidFill>
                <a:latin typeface="Courier"/>
                <a:cs typeface="Courier"/>
              </a:rPr>
              <a:t>rsync</a:t>
            </a:r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 -</a:t>
            </a:r>
            <a:r>
              <a:rPr lang="en-US" dirty="0" err="1">
                <a:solidFill>
                  <a:srgbClr val="0432FF"/>
                </a:solidFill>
                <a:latin typeface="Courier"/>
                <a:cs typeface="Courier"/>
              </a:rPr>
              <a:t>arl</a:t>
            </a:r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 * /scratch/$SLURM_JOB_ID/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cd into the scratch folder to run the job</a:t>
            </a:r>
          </a:p>
          <a:p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cd /scratch/$SLURM_JOB_ID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run the job</a:t>
            </a:r>
          </a:p>
          <a:p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command 1</a:t>
            </a:r>
          </a:p>
          <a:p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command 2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cd back into the original folder when job has completed</a:t>
            </a:r>
          </a:p>
          <a:p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cd $SLURM_SUBMIT_DIR</a:t>
            </a:r>
          </a:p>
          <a:p>
            <a:endParaRPr lang="en-US" dirty="0">
              <a:solidFill>
                <a:srgbClr val="0432FF"/>
              </a:solidFill>
              <a:latin typeface="Courier"/>
              <a:cs typeface="Courier"/>
            </a:endParaRPr>
          </a:p>
          <a:p>
            <a:r>
              <a:rPr lang="en-US" dirty="0">
                <a:latin typeface="Courier"/>
                <a:cs typeface="Courier"/>
              </a:rPr>
              <a:t># copy the output files back from the scratch disk</a:t>
            </a:r>
          </a:p>
          <a:p>
            <a:r>
              <a:rPr lang="en-US" dirty="0" err="1">
                <a:solidFill>
                  <a:srgbClr val="0432FF"/>
                </a:solidFill>
                <a:latin typeface="Courier"/>
                <a:cs typeface="Courier"/>
              </a:rPr>
              <a:t>rsync</a:t>
            </a:r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 -</a:t>
            </a:r>
            <a:r>
              <a:rPr lang="en-US" dirty="0" err="1">
                <a:solidFill>
                  <a:srgbClr val="0432FF"/>
                </a:solidFill>
                <a:latin typeface="Courier"/>
                <a:cs typeface="Courier"/>
              </a:rPr>
              <a:t>arl</a:t>
            </a:r>
            <a:r>
              <a:rPr lang="en-US" dirty="0">
                <a:solidFill>
                  <a:srgbClr val="0432FF"/>
                </a:solidFill>
                <a:latin typeface="Courier"/>
                <a:cs typeface="Courier"/>
              </a:rPr>
              <a:t> /scratch/$SLURM_JOB_ID/* .</a:t>
            </a:r>
          </a:p>
        </p:txBody>
      </p:sp>
    </p:spTree>
    <p:extLst>
      <p:ext uri="{BB962C8B-B14F-4D97-AF65-F5344CB8AC3E}">
        <p14:creationId xmlns:p14="http://schemas.microsoft.com/office/powerpoint/2010/main" val="3955728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00692"/>
            <a:ext cx="8229600" cy="1143000"/>
          </a:xfrm>
        </p:spPr>
        <p:txBody>
          <a:bodyPr/>
          <a:lstStyle/>
          <a:p>
            <a:r>
              <a:rPr lang="en-US" dirty="0"/>
              <a:t>Copying files</a:t>
            </a:r>
          </a:p>
        </p:txBody>
      </p:sp>
    </p:spTree>
    <p:extLst>
      <p:ext uri="{BB962C8B-B14F-4D97-AF65-F5344CB8AC3E}">
        <p14:creationId xmlns:p14="http://schemas.microsoft.com/office/powerpoint/2010/main" val="2756561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Copying files </a:t>
            </a:r>
            <a:r>
              <a:rPr lang="en-US" sz="3600" b="1" i="1" dirty="0"/>
              <a:t>to</a:t>
            </a:r>
            <a:r>
              <a:rPr lang="en-US" sz="3600" dirty="0"/>
              <a:t> a remote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18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lvl="1">
              <a:spcAft>
                <a:spcPts val="8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	</a:t>
            </a:r>
            <a:r>
              <a:rPr lang="en-US" sz="2400" dirty="0">
                <a:cs typeface="Calibri"/>
              </a:rPr>
              <a:t>– </a:t>
            </a:r>
            <a:r>
              <a:rPr lang="en-US" sz="2400" u="sng" dirty="0">
                <a:cs typeface="Calibri"/>
              </a:rPr>
              <a:t>S</a:t>
            </a:r>
            <a:r>
              <a:rPr lang="en-US" sz="2400" dirty="0">
                <a:cs typeface="Calibri"/>
              </a:rPr>
              <a:t>ecure </a:t>
            </a:r>
            <a:r>
              <a:rPr lang="en-US" sz="2400" u="sng" dirty="0">
                <a:cs typeface="Calibri"/>
              </a:rPr>
              <a:t>c</a:t>
            </a:r>
            <a:r>
              <a:rPr lang="en-US" sz="2400" dirty="0">
                <a:cs typeface="Calibri"/>
              </a:rPr>
              <a:t>o</a:t>
            </a:r>
            <a:r>
              <a:rPr lang="en-US" sz="2400" u="sng" dirty="0">
                <a:cs typeface="Calibri"/>
              </a:rPr>
              <a:t>p</a:t>
            </a:r>
            <a:r>
              <a:rPr lang="en-US" sz="2400" dirty="0">
                <a:cs typeface="Calibri"/>
              </a:rPr>
              <a:t>y files between hosts on a network</a:t>
            </a:r>
          </a:p>
          <a:p>
            <a:pPr marL="1714500" lvl="1" indent="-342900">
              <a:spcAft>
                <a:spcPts val="800"/>
              </a:spcAft>
              <a:buFont typeface="Lucida Grande"/>
              <a:buChar char="−"/>
            </a:pPr>
            <a:r>
              <a:rPr lang="en-US" sz="2400" dirty="0">
                <a:cs typeface="Calibri"/>
              </a:rPr>
              <a:t>Uses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400" dirty="0">
                <a:solidFill>
                  <a:srgbClr val="0000FF"/>
                </a:solidFill>
                <a:cs typeface="Calibri"/>
              </a:rPr>
              <a:t> </a:t>
            </a:r>
            <a:r>
              <a:rPr lang="en-US" sz="2400" dirty="0">
                <a:cs typeface="Calibri"/>
              </a:rPr>
              <a:t>for data transfer, so it offers the same security as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endParaRPr lang="en-US" sz="2400" dirty="0">
              <a:latin typeface="Calibri"/>
              <a:cs typeface="Calibri"/>
            </a:endParaRPr>
          </a:p>
          <a:p>
            <a:pPr marL="1714500" lvl="1" indent="-342900">
              <a:spcAft>
                <a:spcPts val="800"/>
              </a:spcAft>
              <a:buFont typeface="Lucida Grande"/>
              <a:buChar char="−"/>
            </a:pPr>
            <a:r>
              <a:rPr lang="en-US" sz="2400" dirty="0">
                <a:solidFill>
                  <a:srgbClr val="000000"/>
                </a:solidFill>
                <a:latin typeface="Calibri"/>
                <a:cs typeface="Calibri"/>
              </a:rPr>
              <a:t>Requires password authentication</a:t>
            </a:r>
            <a:endParaRPr lang="en-US" sz="2400" dirty="0">
              <a:solidFill>
                <a:srgbClr val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0005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Copying files between computers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Usage: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Basic structure: source file first, destination file second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[options]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source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destination</a:t>
            </a:r>
          </a:p>
        </p:txBody>
      </p:sp>
    </p:spTree>
    <p:extLst>
      <p:ext uri="{BB962C8B-B14F-4D97-AF65-F5344CB8AC3E}">
        <p14:creationId xmlns:p14="http://schemas.microsoft.com/office/powerpoint/2010/main" val="1824739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Copying files between computers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Usage: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Copying between two computers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[options]</a:t>
            </a: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31859C"/>
                </a:solidFill>
                <a:latin typeface="Courier"/>
                <a:cs typeface="Courier"/>
              </a:rPr>
              <a:t>path_to_file</a:t>
            </a:r>
            <a:r>
              <a:rPr lang="en-US" dirty="0">
                <a:solidFill>
                  <a:srgbClr val="31859C"/>
                </a:solidFill>
                <a:latin typeface="Courier"/>
                <a:cs typeface="Courier"/>
              </a:rPr>
              <a:t>/filename \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solidFill>
                  <a:srgbClr val="31859C"/>
                </a:solidFill>
                <a:latin typeface="Courier"/>
                <a:cs typeface="Courier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Courier"/>
                <a:cs typeface="Courier"/>
              </a:rPr>
              <a:t>username@destination_host:my_directory</a:t>
            </a:r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/filename</a:t>
            </a:r>
          </a:p>
        </p:txBody>
      </p:sp>
      <p:sp>
        <p:nvSpPr>
          <p:cNvPr id="7" name="Right Brace 6"/>
          <p:cNvSpPr/>
          <p:nvPr/>
        </p:nvSpPr>
        <p:spPr>
          <a:xfrm rot="5400000">
            <a:off x="2098094" y="1364328"/>
            <a:ext cx="285750" cy="341187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66417" y="3258440"/>
            <a:ext cx="3143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usernames are not identical on the 2 accounts, must specify both username AND the host name, separated by '@'</a:t>
            </a:r>
          </a:p>
        </p:txBody>
      </p:sp>
    </p:spTree>
    <p:extLst>
      <p:ext uri="{BB962C8B-B14F-4D97-AF65-F5344CB8AC3E}">
        <p14:creationId xmlns:p14="http://schemas.microsoft.com/office/powerpoint/2010/main" val="151090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Copying files between computers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Usage: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Copying between two computers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[options]</a:t>
            </a: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31859C"/>
                </a:solidFill>
                <a:latin typeface="Courier"/>
                <a:cs typeface="Courier"/>
              </a:rPr>
              <a:t>path_to_file</a:t>
            </a:r>
            <a:r>
              <a:rPr lang="en-US" dirty="0">
                <a:solidFill>
                  <a:srgbClr val="31859C"/>
                </a:solidFill>
                <a:latin typeface="Courier"/>
                <a:cs typeface="Courier"/>
              </a:rPr>
              <a:t>/filename \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solidFill>
                  <a:srgbClr val="31859C"/>
                </a:solidFill>
                <a:latin typeface="Courier"/>
                <a:cs typeface="Courier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Courier"/>
                <a:cs typeface="Courier"/>
              </a:rPr>
              <a:t>username@destination_host:my_directory</a:t>
            </a:r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/filename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009454" y="3063738"/>
            <a:ext cx="0" cy="457200"/>
          </a:xfrm>
          <a:prstGeom prst="straightConnector1">
            <a:avLst/>
          </a:prstGeom>
          <a:ln w="38100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37828" y="3432038"/>
            <a:ext cx="3143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colon separates the destination host ID from the destination filename (± path)</a:t>
            </a:r>
          </a:p>
        </p:txBody>
      </p:sp>
    </p:spTree>
    <p:extLst>
      <p:ext uri="{BB962C8B-B14F-4D97-AF65-F5344CB8AC3E}">
        <p14:creationId xmlns:p14="http://schemas.microsoft.com/office/powerpoint/2010/main" val="494408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Copying files between computers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Usage: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# Copying between two computers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[options]</a:t>
            </a: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31859C"/>
                </a:solidFill>
                <a:latin typeface="Courier"/>
                <a:cs typeface="Courier"/>
              </a:rPr>
              <a:t>path_to_file</a:t>
            </a:r>
            <a:r>
              <a:rPr lang="en-US" dirty="0">
                <a:solidFill>
                  <a:srgbClr val="31859C"/>
                </a:solidFill>
                <a:latin typeface="Courier"/>
                <a:cs typeface="Courier"/>
              </a:rPr>
              <a:t>/filename \</a:t>
            </a:r>
          </a:p>
          <a:p>
            <a:pPr marL="114300" lvl="1" indent="-114300">
              <a:spcAft>
                <a:spcPts val="400"/>
              </a:spcAft>
            </a:pPr>
            <a:r>
              <a:rPr lang="en-US" dirty="0">
                <a:solidFill>
                  <a:srgbClr val="31859C"/>
                </a:solidFill>
                <a:latin typeface="Courier"/>
                <a:cs typeface="Courier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Courier"/>
                <a:cs typeface="Courier"/>
              </a:rPr>
              <a:t>username@destination_host:my_directory</a:t>
            </a:r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/filename</a:t>
            </a:r>
          </a:p>
        </p:txBody>
      </p:sp>
      <p:sp>
        <p:nvSpPr>
          <p:cNvPr id="7" name="Right Brace 6"/>
          <p:cNvSpPr/>
          <p:nvPr/>
        </p:nvSpPr>
        <p:spPr>
          <a:xfrm rot="5400000">
            <a:off x="5376147" y="1655372"/>
            <a:ext cx="285750" cy="288859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946332" y="3311360"/>
            <a:ext cx="3143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Destination filename (± path)</a:t>
            </a:r>
          </a:p>
        </p:txBody>
      </p:sp>
    </p:spTree>
    <p:extLst>
      <p:ext uri="{BB962C8B-B14F-4D97-AF65-F5344CB8AC3E}">
        <p14:creationId xmlns:p14="http://schemas.microsoft.com/office/powerpoint/2010/main" val="1673601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Copying files </a:t>
            </a:r>
            <a:r>
              <a:rPr lang="en-US" sz="3600" b="1" i="1" dirty="0"/>
              <a:t>to</a:t>
            </a:r>
            <a:r>
              <a:rPr lang="en-US" sz="3600" dirty="0"/>
              <a:t> a remote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" y="1355844"/>
            <a:ext cx="9048750" cy="1749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Copy from current working directory to remote destination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nad4.fasta </a:t>
            </a:r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aja@hpc-portal2.hpc.uark.edu:new_file.fasta</a:t>
            </a:r>
          </a:p>
          <a:p>
            <a:pPr marL="114300" lvl="1" indent="-114300">
              <a:spcAft>
                <a:spcPts val="1400"/>
              </a:spcAft>
            </a:pPr>
            <a:endParaRPr lang="en-US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033029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Copying directories </a:t>
            </a:r>
            <a:r>
              <a:rPr lang="en-US" sz="3600" b="1" i="1" dirty="0"/>
              <a:t>to</a:t>
            </a:r>
            <a:r>
              <a:rPr lang="en-US" sz="3600" dirty="0"/>
              <a:t> a remote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" y="1355844"/>
            <a:ext cx="9048750" cy="2882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Keep the same directory name</a:t>
            </a:r>
          </a:p>
          <a:p>
            <a:pPr marL="114300" lvl="1" indent="-114300">
              <a:spcAft>
                <a:spcPts val="20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-r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watermelon_nt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aja@hpc-portal2.hpc.uark.edu: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Copy to a source directory</a:t>
            </a:r>
          </a:p>
          <a:p>
            <a:pPr marL="114300" lvl="1" indent="-114300">
              <a:spcAft>
                <a:spcPts val="2000"/>
              </a:spcAft>
            </a:pPr>
            <a:r>
              <a:rPr lang="en-US" sz="1600" dirty="0">
                <a:latin typeface="Courier"/>
                <a:cs typeface="Courier"/>
              </a:rPr>
              <a:t>$ </a:t>
            </a:r>
            <a:r>
              <a:rPr lang="en-US" sz="1600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sz="1600" dirty="0">
                <a:solidFill>
                  <a:srgbClr val="0000FF"/>
                </a:solidFill>
                <a:latin typeface="Courier"/>
                <a:cs typeface="Courier"/>
              </a:rPr>
              <a:t> -r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watermelon_nt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urier"/>
                <a:cs typeface="Courier"/>
              </a:rPr>
              <a:t>aja@hpc-portal2.hpc.uark.edu:test_dir/</a:t>
            </a:r>
            <a:r>
              <a:rPr lang="en-US" sz="1600" dirty="0" err="1">
                <a:solidFill>
                  <a:srgbClr val="FF0000"/>
                </a:solidFill>
                <a:latin typeface="Courier"/>
                <a:cs typeface="Courier"/>
              </a:rPr>
              <a:t>copied_nt</a:t>
            </a:r>
            <a:endParaRPr lang="en-US" sz="16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Copy to a source directory, keep the same filename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-r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watermelon_nt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aja@hpc-portal2.hpc.uark.edu:/storage/</a:t>
            </a:r>
            <a:r>
              <a:rPr lang="en-US" dirty="0" err="1">
                <a:solidFill>
                  <a:srgbClr val="FF0000"/>
                </a:solidFill>
                <a:latin typeface="Courier"/>
                <a:cs typeface="Courier"/>
              </a:rPr>
              <a:t>aja</a:t>
            </a:r>
            <a:endParaRPr lang="en-US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33725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Copying </a:t>
            </a:r>
            <a:r>
              <a:rPr lang="en-US" sz="3600" b="1" i="1" dirty="0"/>
              <a:t>from </a:t>
            </a:r>
            <a:r>
              <a:rPr lang="en-US" sz="3600" dirty="0"/>
              <a:t>a remote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382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Copy </a:t>
            </a:r>
            <a:r>
              <a:rPr lang="en-US" b="1" dirty="0">
                <a:latin typeface="Courier"/>
                <a:cs typeface="Courier"/>
              </a:rPr>
              <a:t>from</a:t>
            </a:r>
            <a:r>
              <a:rPr lang="en-US" dirty="0">
                <a:latin typeface="Courier"/>
                <a:cs typeface="Courier"/>
              </a:rPr>
              <a:t> remote $HOME </a:t>
            </a:r>
            <a:r>
              <a:rPr lang="en-US" b="1" dirty="0">
                <a:latin typeface="Courier"/>
                <a:cs typeface="Courier"/>
              </a:rPr>
              <a:t>to </a:t>
            </a:r>
            <a:r>
              <a:rPr lang="en-US" dirty="0">
                <a:latin typeface="Courier"/>
                <a:cs typeface="Courier"/>
              </a:rPr>
              <a:t>current working directory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sz="1600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sz="16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urier"/>
                <a:cs typeface="Courier"/>
              </a:rPr>
              <a:t>aja@hpc-portal2.hpc.uark.edu:nad4.fasta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nad4_copied.fasta</a:t>
            </a:r>
            <a:endParaRPr lang="en-US" sz="16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Copy </a:t>
            </a:r>
            <a:r>
              <a:rPr lang="en-US" b="1" dirty="0">
                <a:latin typeface="Courier"/>
                <a:cs typeface="Courier"/>
              </a:rPr>
              <a:t>from </a:t>
            </a:r>
            <a:r>
              <a:rPr lang="en-US" dirty="0">
                <a:latin typeface="Courier"/>
                <a:cs typeface="Courier"/>
              </a:rPr>
              <a:t>remote directory, keep the same filename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sz="1600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sz="16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urier"/>
                <a:cs typeface="Courier"/>
              </a:rPr>
              <a:t>aja@hpc-portal2.hpc.uark.edu:blast_output/nad4.blastn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.</a:t>
            </a:r>
            <a:endParaRPr lang="en-US" sz="1600" b="1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Copy </a:t>
            </a:r>
            <a:r>
              <a:rPr lang="en-US" b="1" dirty="0">
                <a:latin typeface="Courier"/>
                <a:cs typeface="Courier"/>
              </a:rPr>
              <a:t>to </a:t>
            </a:r>
            <a:r>
              <a:rPr lang="en-US" dirty="0">
                <a:latin typeface="Courier"/>
                <a:cs typeface="Courier"/>
              </a:rPr>
              <a:t>a source directory, keep the same filename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aja@hpc-portal2.hpc.uark.edu:nad4.fasta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biol5153/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Copy directory from a remote computer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-r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hpc-portal2.hpc.uark.edu:blast_output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biol5153/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</a:t>
            </a:r>
            <a:endParaRPr lang="en-US" sz="14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114300" lvl="1" indent="-114300">
              <a:spcAft>
                <a:spcPts val="1400"/>
              </a:spcAft>
            </a:pPr>
            <a:endParaRPr lang="en-US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9648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00692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Compress big files before moving them</a:t>
            </a:r>
          </a:p>
        </p:txBody>
      </p:sp>
    </p:spTree>
    <p:extLst>
      <p:ext uri="{BB962C8B-B14F-4D97-AF65-F5344CB8AC3E}">
        <p14:creationId xmlns:p14="http://schemas.microsoft.com/office/powerpoint/2010/main" val="1486639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Compressing files with </a:t>
            </a:r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19228" y="1355844"/>
            <a:ext cx="8887139" cy="3277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8888" lvl="1" indent="-1033463">
              <a:spcAft>
                <a:spcPts val="800"/>
              </a:spcAft>
            </a:pP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for compressing;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gunzip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for decompressing </a:t>
            </a:r>
          </a:p>
          <a:p>
            <a:pPr marL="1257300" lvl="1" indent="-342900">
              <a:spcAft>
                <a:spcPts val="800"/>
              </a:spcAft>
              <a:buFont typeface="Lucida Grande"/>
              <a:buChar char="–"/>
            </a:pPr>
            <a:r>
              <a:rPr lang="en-US" sz="2000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r>
              <a:rPr lang="en-US" sz="2000" dirty="0">
                <a:cs typeface="Calibri"/>
              </a:rPr>
              <a:t> can compress both files and STDIN</a:t>
            </a:r>
          </a:p>
          <a:p>
            <a:pPr marL="1257300" lvl="1" indent="-342900">
              <a:spcAft>
                <a:spcPts val="800"/>
              </a:spcAft>
              <a:buFont typeface="Lucida Grande"/>
              <a:buChar char="–"/>
            </a:pPr>
            <a:r>
              <a:rPr lang="en-US" sz="2000" dirty="0">
                <a:cs typeface="Calibri"/>
              </a:rPr>
              <a:t>writes to STDOUT by default</a:t>
            </a:r>
          </a:p>
          <a:p>
            <a:pPr marL="1257300" lvl="1" indent="-342900">
              <a:spcAft>
                <a:spcPts val="800"/>
              </a:spcAft>
              <a:buFont typeface="Lucida Grande"/>
              <a:buChar char="–"/>
            </a:pPr>
            <a:r>
              <a:rPr lang="en-US" sz="2000" dirty="0">
                <a:cs typeface="Calibri"/>
              </a:rPr>
              <a:t>operates on files in place by default (i.e., it doesn't create new files)</a:t>
            </a:r>
          </a:p>
          <a:p>
            <a:pPr marL="225425" lvl="1">
              <a:spcBef>
                <a:spcPts val="1800"/>
              </a:spcBef>
              <a:spcAft>
                <a:spcPts val="8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[options]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-c </a:t>
            </a:r>
            <a:r>
              <a:rPr lang="en-US" dirty="0">
                <a:cs typeface="Calibri"/>
              </a:rPr>
              <a:t>send output to STDOUT, allowing creation of duplicate files</a:t>
            </a:r>
            <a:endParaRPr lang="en-US" dirty="0">
              <a:latin typeface="Calibri"/>
              <a:cs typeface="Calibri"/>
            </a:endParaRP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-d </a:t>
            </a:r>
            <a:r>
              <a:rPr lang="en-US" dirty="0">
                <a:cs typeface="Calibri"/>
              </a:rPr>
              <a:t>decompression, rather than compression</a:t>
            </a:r>
          </a:p>
        </p:txBody>
      </p:sp>
    </p:spTree>
    <p:extLst>
      <p:ext uri="{BB962C8B-B14F-4D97-AF65-F5344CB8AC3E}">
        <p14:creationId xmlns:p14="http://schemas.microsoft.com/office/powerpoint/2010/main" val="1674849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Compressing files with </a:t>
            </a:r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4370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compress STDIN</a:t>
            </a:r>
          </a:p>
          <a:p>
            <a:pPr marL="452438" lvl="1" indent="-114300">
              <a:spcAft>
                <a:spcPts val="6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my_program.py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illumina.fa.gz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|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&gt;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out.fa.gz</a:t>
            </a:r>
            <a:endParaRPr lang="en-US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compress a file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compress a file, creating a compressed copy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-c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watermelon.fsa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&gt;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wat.fsa.gz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unzip it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gunzip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wat.fsa.gz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400050" lvl="1" indent="-114300">
              <a:spcAft>
                <a:spcPts val="6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gzip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-d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wat.fsa.gz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7550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Working with zipped files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3462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You don't need to unzip a file to work with it 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view a zipped file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zless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watermelon.fsa.gz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view a zipped file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zcat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watermelon.fsa.gz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</a:t>
            </a:r>
            <a:r>
              <a:rPr lang="en-US" dirty="0" err="1">
                <a:latin typeface="Courier"/>
                <a:cs typeface="Courier"/>
              </a:rPr>
              <a:t>grep</a:t>
            </a:r>
            <a:r>
              <a:rPr lang="en-US" dirty="0">
                <a:latin typeface="Courier"/>
                <a:cs typeface="Courier"/>
              </a:rPr>
              <a:t> a zipped file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zgrep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AATTGC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watermelon.fsa.gz</a:t>
            </a:r>
            <a:endParaRPr lang="en-US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67515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Creating archives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tar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19228" y="1355844"/>
            <a:ext cx="8887139" cy="4765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8888" lvl="1" indent="-1033463">
              <a:spcAft>
                <a:spcPts val="800"/>
              </a:spcAft>
            </a:pP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tar </a:t>
            </a:r>
            <a:r>
              <a:rPr lang="en-US" sz="2800" dirty="0">
                <a:cs typeface="Calibri"/>
              </a:rPr>
              <a:t>creates and manipulates </a:t>
            </a:r>
            <a:r>
              <a:rPr lang="en-US" sz="2800" u="sng" dirty="0">
                <a:cs typeface="Calibri"/>
              </a:rPr>
              <a:t>t</a:t>
            </a:r>
            <a:r>
              <a:rPr lang="en-US" sz="2800" dirty="0">
                <a:cs typeface="Calibri"/>
              </a:rPr>
              <a:t>ape </a:t>
            </a:r>
            <a:r>
              <a:rPr lang="en-US" sz="2800" u="sng" dirty="0">
                <a:cs typeface="Calibri"/>
              </a:rPr>
              <a:t>ar</a:t>
            </a:r>
            <a:r>
              <a:rPr lang="en-US" sz="2800" dirty="0">
                <a:cs typeface="Calibri"/>
              </a:rPr>
              <a:t>chives</a:t>
            </a:r>
          </a:p>
          <a:p>
            <a:pPr marL="1257300" lvl="1" indent="-342900">
              <a:spcAft>
                <a:spcPts val="800"/>
              </a:spcAft>
              <a:buFont typeface="Lucida Grande"/>
              <a:buChar char="–"/>
            </a:pPr>
            <a:r>
              <a:rPr lang="en-US" sz="2000" dirty="0">
                <a:cs typeface="Calibri"/>
              </a:rPr>
              <a:t>allows for compression of entire directories</a:t>
            </a:r>
          </a:p>
          <a:p>
            <a:pPr marL="1257300" lvl="1" indent="-342900">
              <a:spcAft>
                <a:spcPts val="800"/>
              </a:spcAft>
              <a:buFont typeface="Lucida Grande"/>
              <a:buChar char="–"/>
            </a:pPr>
            <a:r>
              <a:rPr lang="en-US" sz="2000" dirty="0">
                <a:cs typeface="Calibri"/>
              </a:rPr>
              <a:t>preserves directory structure</a:t>
            </a:r>
          </a:p>
          <a:p>
            <a:pPr marL="225425" lvl="1">
              <a:spcBef>
                <a:spcPts val="1800"/>
              </a:spcBef>
              <a:spcAft>
                <a:spcPts val="8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tar [options]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archive </a:t>
            </a:r>
            <a:r>
              <a:rPr lang="en-US" sz="2800" dirty="0">
                <a:solidFill>
                  <a:srgbClr val="FF0000"/>
                </a:solidFill>
                <a:latin typeface="Courier"/>
                <a:cs typeface="Courier"/>
              </a:rPr>
              <a:t>directory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-c </a:t>
            </a:r>
            <a:r>
              <a:rPr lang="en-US" dirty="0">
                <a:cs typeface="Calibri"/>
              </a:rPr>
              <a:t>create an archive</a:t>
            </a:r>
            <a:endParaRPr lang="en-US" dirty="0">
              <a:latin typeface="Calibri"/>
              <a:cs typeface="Calibri"/>
            </a:endParaRP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-x </a:t>
            </a:r>
            <a:r>
              <a:rPr lang="en-US" dirty="0">
                <a:cs typeface="Calibri"/>
              </a:rPr>
              <a:t>extract an archive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-v </a:t>
            </a:r>
            <a:r>
              <a:rPr lang="en-US" dirty="0">
                <a:cs typeface="Calibri"/>
              </a:rPr>
              <a:t>produce verbose output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-f &lt;filename&gt; </a:t>
            </a:r>
            <a:r>
              <a:rPr lang="en-US" dirty="0">
                <a:cs typeface="Calibri"/>
              </a:rPr>
              <a:t>read the archive from or write it to the specified file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-t </a:t>
            </a:r>
            <a:r>
              <a:rPr lang="en-US" dirty="0">
                <a:cs typeface="Calibri"/>
              </a:rPr>
              <a:t>list archive contents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-z </a:t>
            </a:r>
            <a:r>
              <a:rPr lang="en-US" dirty="0">
                <a:cs typeface="Calibri"/>
              </a:rPr>
              <a:t>compress the archive with </a:t>
            </a:r>
            <a:r>
              <a:rPr lang="en-US" dirty="0" err="1">
                <a:cs typeface="Calibri"/>
              </a:rPr>
              <a:t>gzip</a:t>
            </a:r>
            <a:endParaRPr lang="en-US" dirty="0">
              <a:cs typeface="Calibri"/>
            </a:endParaRPr>
          </a:p>
          <a:p>
            <a:pPr marL="225425" lvl="1">
              <a:spcAft>
                <a:spcPts val="800"/>
              </a:spcAft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7910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Creating archives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>
              <a:spcBef>
                <a:spcPts val="1200"/>
              </a:spcBef>
            </a:pPr>
            <a:r>
              <a:rPr lang="en-US" dirty="0">
                <a:latin typeface="Courier"/>
                <a:cs typeface="Courier"/>
              </a:rPr>
              <a:t># archive and compress </a:t>
            </a:r>
            <a:r>
              <a:rPr lang="en-US" dirty="0" err="1">
                <a:latin typeface="Courier"/>
                <a:cs typeface="Courier"/>
              </a:rPr>
              <a:t>mt_genomes</a:t>
            </a:r>
            <a:endParaRPr lang="en-US" dirty="0">
              <a:latin typeface="Courier"/>
              <a:cs typeface="Courier"/>
            </a:endParaRP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latin typeface="Courier"/>
                <a:cs typeface="Courier"/>
              </a:rPr>
              <a:t>cp</a:t>
            </a:r>
            <a:r>
              <a:rPr lang="en-US" sz="1400" dirty="0">
                <a:latin typeface="Courier"/>
                <a:cs typeface="Courier"/>
              </a:rPr>
              <a:t> -r ~/Desktop/</a:t>
            </a:r>
            <a:r>
              <a:rPr lang="en-US" sz="1400" dirty="0" err="1">
                <a:latin typeface="Courier"/>
                <a:cs typeface="Courier"/>
              </a:rPr>
              <a:t>watermelon_files</a:t>
            </a:r>
            <a:r>
              <a:rPr lang="en-US" sz="1400" dirty="0">
                <a:latin typeface="Courier"/>
                <a:cs typeface="Courier"/>
              </a:rPr>
              <a:t>/</a:t>
            </a:r>
            <a:r>
              <a:rPr lang="en-US" sz="1400" dirty="0" err="1">
                <a:latin typeface="Courier"/>
                <a:cs typeface="Courier"/>
              </a:rPr>
              <a:t>mt_genomes</a:t>
            </a:r>
            <a:r>
              <a:rPr lang="en-US" sz="1400" dirty="0">
                <a:latin typeface="Courier"/>
                <a:cs typeface="Courier"/>
              </a:rPr>
              <a:t> ~/Desktop</a:t>
            </a:r>
            <a:endParaRPr lang="en-US" sz="14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tar -</a:t>
            </a:r>
            <a:r>
              <a:rPr lang="en-US" sz="1400" dirty="0" err="1">
                <a:latin typeface="Courier"/>
                <a:cs typeface="Courier"/>
              </a:rPr>
              <a:t>czvf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rgbClr val="31859C"/>
                </a:solidFill>
                <a:latin typeface="Courier"/>
                <a:cs typeface="Courier"/>
              </a:rPr>
              <a:t>genomes.tgz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mt_genomes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/</a:t>
            </a: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extract and decompress </a:t>
            </a:r>
            <a:r>
              <a:rPr lang="en-US" dirty="0" err="1">
                <a:latin typeface="Courier"/>
                <a:cs typeface="Courier"/>
              </a:rPr>
              <a:t>genomes.tgz</a:t>
            </a:r>
            <a:endParaRPr lang="en-US" dirty="0">
              <a:latin typeface="Courier"/>
              <a:cs typeface="Courier"/>
            </a:endParaRP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tar -</a:t>
            </a:r>
            <a:r>
              <a:rPr lang="en-US" sz="1400" dirty="0" err="1">
                <a:latin typeface="Courier"/>
                <a:cs typeface="Courier"/>
              </a:rPr>
              <a:t>xzvf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genomes.tgz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</a:endParaRP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view contents of </a:t>
            </a:r>
            <a:r>
              <a:rPr lang="en-US" dirty="0" err="1">
                <a:latin typeface="Courier"/>
                <a:cs typeface="Courier"/>
              </a:rPr>
              <a:t>genomes.tgz</a:t>
            </a:r>
            <a:endParaRPr lang="en-US" dirty="0">
              <a:latin typeface="Courier"/>
              <a:cs typeface="Courier"/>
            </a:endParaRP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tar -</a:t>
            </a:r>
            <a:r>
              <a:rPr lang="en-US" sz="1400" dirty="0" err="1">
                <a:latin typeface="Courier"/>
                <a:cs typeface="Courier"/>
              </a:rPr>
              <a:t>tvf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genomes.tgz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</a:endParaRP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tar -</a:t>
            </a:r>
            <a:r>
              <a:rPr lang="en-US" sz="1400" dirty="0" err="1">
                <a:latin typeface="Courier"/>
                <a:cs typeface="Courier"/>
              </a:rPr>
              <a:t>tvf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genomes.tgz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</a:endParaRP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extract '</a:t>
            </a:r>
            <a:r>
              <a:rPr lang="en-US" dirty="0" err="1">
                <a:latin typeface="Courier"/>
                <a:cs typeface="Courier"/>
              </a:rPr>
              <a:t>ricinus.fasta</a:t>
            </a:r>
            <a:r>
              <a:rPr lang="en-US" dirty="0">
                <a:latin typeface="Courier"/>
                <a:cs typeface="Courier"/>
              </a:rPr>
              <a:t>' from </a:t>
            </a:r>
            <a:r>
              <a:rPr lang="en-US" dirty="0" err="1">
                <a:latin typeface="Courier"/>
                <a:cs typeface="Courier"/>
              </a:rPr>
              <a:t>genomes.tgz</a:t>
            </a:r>
            <a:endParaRPr lang="en-US" dirty="0">
              <a:latin typeface="Courier"/>
              <a:cs typeface="Courier"/>
            </a:endParaRP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tar -</a:t>
            </a:r>
            <a:r>
              <a:rPr lang="en-US" sz="1400" dirty="0" err="1">
                <a:latin typeface="Courier"/>
                <a:cs typeface="Courier"/>
              </a:rPr>
              <a:t>zxvf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genomes.tgz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mt_genomes.ricinus.fasta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98323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560"/>
            <a:ext cx="8229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sz="2400" dirty="0"/>
              <a:t>Make a single file of all the sequences in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Courier"/>
                <a:cs typeface="Courier"/>
              </a:rPr>
              <a:t>watermelon_nt</a:t>
            </a:r>
            <a:r>
              <a:rPr lang="en-US" sz="2400" dirty="0"/>
              <a:t>, zip it, and copy it to </a:t>
            </a:r>
            <a:r>
              <a:rPr lang="en-US" sz="2400" dirty="0">
                <a:solidFill>
                  <a:srgbClr val="953735"/>
                </a:solidFill>
                <a:latin typeface="Courier"/>
                <a:cs typeface="Courier"/>
              </a:rPr>
              <a:t>$HOME/</a:t>
            </a:r>
            <a:r>
              <a:rPr lang="en-US" sz="2400" dirty="0" err="1">
                <a:solidFill>
                  <a:srgbClr val="953735"/>
                </a:solidFill>
                <a:latin typeface="Courier"/>
                <a:cs typeface="Courier"/>
              </a:rPr>
              <a:t>mt_seqs</a:t>
            </a:r>
            <a:r>
              <a:rPr lang="en-US" sz="2400" dirty="0">
                <a:solidFill>
                  <a:srgbClr val="953735"/>
                </a:solidFill>
              </a:rPr>
              <a:t> </a:t>
            </a:r>
            <a:r>
              <a:rPr lang="en-US" sz="2400" dirty="0"/>
              <a:t>on razor.</a:t>
            </a:r>
          </a:p>
        </p:txBody>
      </p:sp>
    </p:spTree>
    <p:extLst>
      <p:ext uri="{BB962C8B-B14F-4D97-AF65-F5344CB8AC3E}">
        <p14:creationId xmlns:p14="http://schemas.microsoft.com/office/powerpoint/2010/main" val="2982975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01C59C-244E-5C1A-E5E5-A80E0A8E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83626"/>
            <a:ext cx="8229600" cy="1143000"/>
          </a:xfrm>
        </p:spPr>
        <p:txBody>
          <a:bodyPr/>
          <a:lstStyle/>
          <a:p>
            <a:r>
              <a:rPr lang="en-US" dirty="0"/>
              <a:t>Verifying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19298912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7226"/>
            <a:ext cx="8229600" cy="1143000"/>
          </a:xfrm>
        </p:spPr>
        <p:txBody>
          <a:bodyPr/>
          <a:lstStyle/>
          <a:p>
            <a:r>
              <a:rPr lang="en-US" dirty="0"/>
              <a:t>Verifying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310" y="1818471"/>
            <a:ext cx="861338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/>
              <a:t>Download times can be very long for large files (e.g., raw sequence data)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/>
              <a:t>Network connections can drop out </a:t>
            </a:r>
            <a:r>
              <a:rPr lang="en-US" dirty="0">
                <a:sym typeface="Wingdings"/>
              </a:rPr>
              <a:t> partial loss of data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sym typeface="Wingdings"/>
              </a:rPr>
              <a:t>Need to verify that your downloaded data is intact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dirty="0">
                <a:sym typeface="Wingdings"/>
              </a:rPr>
              <a:t>We use </a:t>
            </a:r>
            <a:r>
              <a:rPr lang="en-US" i="1" dirty="0">
                <a:sym typeface="Wingdings"/>
              </a:rPr>
              <a:t>checksums</a:t>
            </a:r>
            <a:r>
              <a:rPr lang="en-US" dirty="0">
                <a:sym typeface="Wingdings"/>
              </a:rPr>
              <a:t>, which are </a:t>
            </a:r>
            <a:r>
              <a:rPr lang="en-US" b="1" dirty="0">
                <a:sym typeface="Wingdings"/>
              </a:rPr>
              <a:t>highly compressed data summaries</a:t>
            </a:r>
          </a:p>
          <a:p>
            <a:pPr marL="1200150" lvl="2" indent="-285750">
              <a:spcBef>
                <a:spcPts val="600"/>
              </a:spcBef>
              <a:buFont typeface="Arial"/>
              <a:buChar char="•"/>
            </a:pPr>
            <a:r>
              <a:rPr lang="en-US" dirty="0">
                <a:sym typeface="Wingdings"/>
              </a:rPr>
              <a:t>40 characters in length</a:t>
            </a:r>
          </a:p>
          <a:p>
            <a:pPr marL="1200150" lvl="2" indent="-285750">
              <a:spcBef>
                <a:spcPts val="600"/>
              </a:spcBef>
              <a:buFont typeface="Arial"/>
              <a:buChar char="•"/>
            </a:pPr>
            <a:r>
              <a:rPr lang="en-US" dirty="0">
                <a:sym typeface="Wingdings"/>
              </a:rPr>
              <a:t>16 characters, given in hexadecimal format (0–9, a–f)  16</a:t>
            </a:r>
            <a:r>
              <a:rPr lang="en-US" baseline="30000" dirty="0">
                <a:sym typeface="Wingdings"/>
              </a:rPr>
              <a:t>40</a:t>
            </a:r>
            <a:r>
              <a:rPr lang="en-US" dirty="0">
                <a:sym typeface="Wingdings"/>
              </a:rPr>
              <a:t> possibilities</a:t>
            </a:r>
          </a:p>
          <a:p>
            <a:pPr marL="1200150" lvl="2" indent="-285750">
              <a:spcBef>
                <a:spcPts val="600"/>
              </a:spcBef>
              <a:buFont typeface="Arial"/>
              <a:buChar char="•"/>
            </a:pPr>
            <a:r>
              <a:rPr lang="en-US" i="1" dirty="0">
                <a:sym typeface="Wingdings"/>
              </a:rPr>
              <a:t>checksum </a:t>
            </a:r>
            <a:r>
              <a:rPr lang="en-US" dirty="0">
                <a:sym typeface="Wingdings"/>
              </a:rPr>
              <a:t>algorithms are </a:t>
            </a:r>
            <a:r>
              <a:rPr lang="en-US" b="1" dirty="0">
                <a:sym typeface="Wingdings"/>
              </a:rPr>
              <a:t>deterministic</a:t>
            </a:r>
            <a:r>
              <a:rPr lang="en-US" dirty="0">
                <a:sym typeface="Wingdings"/>
              </a:rPr>
              <a:t> – the same dataset will always get the </a:t>
            </a:r>
            <a:r>
              <a:rPr lang="en-US" i="1" dirty="0">
                <a:sym typeface="Wingdings"/>
              </a:rPr>
              <a:t>checksum</a:t>
            </a:r>
            <a:r>
              <a:rPr lang="en-US" dirty="0">
                <a:sym typeface="Wingdings"/>
              </a:rPr>
              <a:t> value</a:t>
            </a:r>
          </a:p>
          <a:p>
            <a:pPr marL="285750" lvl="2" indent="-285750">
              <a:spcBef>
                <a:spcPts val="600"/>
              </a:spcBef>
              <a:buFont typeface="Arial"/>
              <a:buChar char="•"/>
            </a:pPr>
            <a:r>
              <a:rPr lang="en-US" dirty="0">
                <a:solidFill>
                  <a:srgbClr val="0000FF"/>
                </a:solidFill>
              </a:rPr>
              <a:t>MD5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SHA-1 </a:t>
            </a:r>
            <a:r>
              <a:rPr lang="en-US" dirty="0"/>
              <a:t>are the two most common checksum algorithms</a:t>
            </a:r>
          </a:p>
        </p:txBody>
      </p:sp>
    </p:spTree>
    <p:extLst>
      <p:ext uri="{BB962C8B-B14F-4D97-AF65-F5344CB8AC3E}">
        <p14:creationId xmlns:p14="http://schemas.microsoft.com/office/powerpoint/2010/main" val="1363303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7226"/>
            <a:ext cx="8229600" cy="1143000"/>
          </a:xfrm>
        </p:spPr>
        <p:txBody>
          <a:bodyPr/>
          <a:lstStyle/>
          <a:p>
            <a:r>
              <a:rPr lang="en-US" dirty="0"/>
              <a:t>Verifying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18471"/>
            <a:ext cx="8229600" cy="2646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600" dirty="0"/>
              <a:t>The process:</a:t>
            </a:r>
          </a:p>
          <a:p>
            <a:pPr marL="6858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Generate </a:t>
            </a:r>
            <a:r>
              <a:rPr lang="en-US" i="1" dirty="0"/>
              <a:t>checksum </a:t>
            </a:r>
            <a:r>
              <a:rPr lang="en-US" dirty="0"/>
              <a:t>values for original datasets </a:t>
            </a:r>
            <a:r>
              <a:rPr lang="en-US" dirty="0">
                <a:sym typeface="Wingdings"/>
              </a:rPr>
              <a:t> store them in a text file</a:t>
            </a:r>
          </a:p>
          <a:p>
            <a:pPr marL="6858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>
                <a:sym typeface="Wingdings"/>
              </a:rPr>
              <a:t>User downloads data and text file with </a:t>
            </a:r>
            <a:r>
              <a:rPr lang="en-US" i="1" dirty="0">
                <a:sym typeface="Wingdings"/>
              </a:rPr>
              <a:t>checksum</a:t>
            </a:r>
            <a:r>
              <a:rPr lang="en-US" dirty="0">
                <a:sym typeface="Wingdings"/>
              </a:rPr>
              <a:t> values</a:t>
            </a:r>
          </a:p>
          <a:p>
            <a:pPr marL="6858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User calculates </a:t>
            </a:r>
            <a:r>
              <a:rPr lang="en-US" i="1" dirty="0"/>
              <a:t>checksum </a:t>
            </a:r>
            <a:r>
              <a:rPr lang="en-US" dirty="0"/>
              <a:t>values on downloaded data</a:t>
            </a:r>
          </a:p>
          <a:p>
            <a:pPr marL="6858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Compare both sets of values </a:t>
            </a:r>
            <a:r>
              <a:rPr lang="en-US" dirty="0">
                <a:sym typeface="Wingdings"/>
              </a:rPr>
              <a:t> any difference indicates corrupted data</a:t>
            </a:r>
          </a:p>
          <a:p>
            <a:pPr algn="ctr">
              <a:spcBef>
                <a:spcPts val="1200"/>
              </a:spcBef>
            </a:pPr>
            <a:r>
              <a:rPr lang="en-US" dirty="0">
                <a:sym typeface="Wingdings"/>
              </a:rPr>
              <a:t>* a single byte difference will give a different </a:t>
            </a:r>
            <a:r>
              <a:rPr lang="en-US" i="1" dirty="0">
                <a:sym typeface="Wingdings"/>
              </a:rPr>
              <a:t>checksum </a:t>
            </a:r>
            <a:r>
              <a:rPr lang="en-US" dirty="0">
                <a:sym typeface="Wingdings"/>
              </a:rPr>
              <a:t>value*</a:t>
            </a:r>
          </a:p>
        </p:txBody>
      </p:sp>
    </p:spTree>
    <p:extLst>
      <p:ext uri="{BB962C8B-B14F-4D97-AF65-F5344CB8AC3E}">
        <p14:creationId xmlns:p14="http://schemas.microsoft.com/office/powerpoint/2010/main" val="29329839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Verifying data integrity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md5sum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2667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Calculate an MD5 hash on </a:t>
            </a:r>
            <a:r>
              <a:rPr lang="en-US" dirty="0" err="1">
                <a:latin typeface="Courier"/>
                <a:cs typeface="Courier"/>
              </a:rPr>
              <a:t>fruit.txt</a:t>
            </a:r>
            <a:endParaRPr lang="en-US" dirty="0">
              <a:latin typeface="Courier"/>
              <a:cs typeface="Courier"/>
            </a:endParaRPr>
          </a:p>
          <a:p>
            <a:pPr marL="114300" lvl="1" indent="-114300">
              <a:spcAft>
                <a:spcPts val="1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md5sum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fruit.txt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&gt; fruit.md5sum</a:t>
            </a:r>
          </a:p>
          <a:p>
            <a:pPr marL="114300" lvl="1" indent="-114300">
              <a:spcBef>
                <a:spcPts val="1200"/>
              </a:spcBef>
            </a:pPr>
            <a:r>
              <a:rPr lang="en-US" dirty="0">
                <a:latin typeface="Courier"/>
                <a:cs typeface="Courier"/>
              </a:rPr>
              <a:t># Compare two MD5 hashes with Unix command 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diff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diff fruit.md5sum fruit_original.md5sum</a:t>
            </a:r>
          </a:p>
          <a:p>
            <a:pPr marL="114300" lvl="1" indent="-114300" algn="ctr">
              <a:spcBef>
                <a:spcPts val="1200"/>
              </a:spcBef>
            </a:pPr>
            <a:r>
              <a:rPr lang="en-US" dirty="0">
                <a:cs typeface="Courier"/>
              </a:rPr>
              <a:t>*We can write a script later on to compare long sets of md5 hashes*</a:t>
            </a:r>
          </a:p>
        </p:txBody>
      </p:sp>
    </p:spTree>
    <p:extLst>
      <p:ext uri="{BB962C8B-B14F-4D97-AF65-F5344CB8AC3E}">
        <p14:creationId xmlns:p14="http://schemas.microsoft.com/office/powerpoint/2010/main" val="418623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B6688-5A49-316E-594E-D0DB86D28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0014"/>
            <a:ext cx="8229600" cy="1143000"/>
          </a:xfrm>
        </p:spPr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Extras</a:t>
            </a:r>
          </a:p>
        </p:txBody>
      </p:sp>
    </p:spTree>
    <p:extLst>
      <p:ext uri="{BB962C8B-B14F-4D97-AF65-F5344CB8AC3E}">
        <p14:creationId xmlns:p14="http://schemas.microsoft.com/office/powerpoint/2010/main" val="1262391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00692"/>
            <a:ext cx="8229600" cy="1143000"/>
          </a:xfrm>
        </p:spPr>
        <p:txBody>
          <a:bodyPr/>
          <a:lstStyle/>
          <a:p>
            <a:r>
              <a:rPr lang="en-US" dirty="0"/>
              <a:t>Bigger, more sophisticated copies</a:t>
            </a:r>
          </a:p>
        </p:txBody>
      </p:sp>
    </p:spTree>
    <p:extLst>
      <p:ext uri="{BB962C8B-B14F-4D97-AF65-F5344CB8AC3E}">
        <p14:creationId xmlns:p14="http://schemas.microsoft.com/office/powerpoint/2010/main" val="853830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Synchronizing directories with </a:t>
            </a:r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355844"/>
            <a:ext cx="9144000" cy="5103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8888" lvl="1" indent="-1033463">
              <a:spcAft>
                <a:spcPts val="800"/>
              </a:spcAft>
            </a:pP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for synchronizing directories</a:t>
            </a:r>
          </a:p>
          <a:p>
            <a:pPr marL="1257300" lvl="1" indent="-342900">
              <a:spcAft>
                <a:spcPts val="800"/>
              </a:spcAft>
              <a:buFont typeface="Lucida Grande"/>
              <a:buChar char="–"/>
            </a:pPr>
            <a:r>
              <a:rPr lang="en-US" sz="2000" dirty="0">
                <a:cs typeface="Calibri"/>
              </a:rPr>
              <a:t>only sends the </a:t>
            </a:r>
            <a:r>
              <a:rPr lang="en-US" sz="2000" i="1" dirty="0">
                <a:cs typeface="Calibri"/>
              </a:rPr>
              <a:t>difference </a:t>
            </a:r>
            <a:r>
              <a:rPr lang="en-US" sz="2000" dirty="0">
                <a:cs typeface="Calibri"/>
              </a:rPr>
              <a:t>between file versions</a:t>
            </a:r>
          </a:p>
          <a:p>
            <a:pPr marL="1257300" lvl="1" indent="-342900">
              <a:spcAft>
                <a:spcPts val="800"/>
              </a:spcAft>
              <a:buFont typeface="Lucida Grande"/>
              <a:buChar char="–"/>
            </a:pPr>
            <a:r>
              <a:rPr lang="en-US" sz="2000" dirty="0">
                <a:cs typeface="Calibri"/>
              </a:rPr>
              <a:t>can compress files during transfer</a:t>
            </a:r>
          </a:p>
          <a:p>
            <a:pPr marL="1257300" lvl="1" indent="-342900">
              <a:spcAft>
                <a:spcPts val="800"/>
              </a:spcAft>
              <a:buFont typeface="Lucida Grande"/>
              <a:buChar char="–"/>
            </a:pPr>
            <a:r>
              <a:rPr lang="en-US" sz="2000" dirty="0">
                <a:cs typeface="Calibri"/>
              </a:rPr>
              <a:t>the archive option preserves links, timestamps, permissions, ownership, and other attributes</a:t>
            </a:r>
          </a:p>
          <a:p>
            <a:pPr marL="225425" lvl="1">
              <a:spcBef>
                <a:spcPts val="1800"/>
              </a:spcBef>
              <a:spcAft>
                <a:spcPts val="8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[options]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source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urier"/>
                <a:cs typeface="Courier"/>
              </a:rPr>
              <a:t>destination</a:t>
            </a:r>
            <a:endParaRPr lang="en-US" sz="28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-a, --archive   </a:t>
            </a:r>
            <a:r>
              <a:rPr lang="en-US" dirty="0">
                <a:cs typeface="Calibri"/>
              </a:rPr>
              <a:t>preserve links, timestamps, etc.</a:t>
            </a:r>
            <a:endParaRPr lang="en-US" dirty="0">
              <a:latin typeface="Calibri"/>
              <a:cs typeface="Calibri"/>
            </a:endParaRP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-r, --recursive </a:t>
            </a:r>
            <a:r>
              <a:rPr lang="en-US" dirty="0" err="1">
                <a:cs typeface="Calibri"/>
              </a:rPr>
              <a:t>recurse</a:t>
            </a:r>
            <a:r>
              <a:rPr lang="en-US" dirty="0">
                <a:cs typeface="Calibri"/>
              </a:rPr>
              <a:t> into directories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-v, --verbose   </a:t>
            </a:r>
            <a:r>
              <a:rPr lang="en-US" dirty="0">
                <a:cs typeface="Calibri"/>
              </a:rPr>
              <a:t>print lots of output about synchronization progress and status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-z, --compress  </a:t>
            </a:r>
            <a:r>
              <a:rPr lang="en-US" dirty="0">
                <a:cs typeface="Calibri"/>
              </a:rPr>
              <a:t>compress data as it is sent to its destination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-l, --links     </a:t>
            </a:r>
            <a:r>
              <a:rPr lang="en-US" dirty="0">
                <a:cs typeface="Calibri"/>
              </a:rPr>
              <a:t>preserve symbolic links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-e, </a:t>
            </a:r>
            <a:r>
              <a:rPr lang="en-US" dirty="0">
                <a:cs typeface="Calibri"/>
              </a:rPr>
              <a:t>copy over SSH (note: easiest when you have a public SSH key)</a:t>
            </a:r>
          </a:p>
        </p:txBody>
      </p:sp>
    </p:spTree>
    <p:extLst>
      <p:ext uri="{BB962C8B-B14F-4D97-AF65-F5344CB8AC3E}">
        <p14:creationId xmlns:p14="http://schemas.microsoft.com/office/powerpoint/2010/main" val="32871454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Synchronizing directories with </a:t>
            </a:r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synchronize </a:t>
            </a:r>
            <a:r>
              <a:rPr lang="en-US" dirty="0" err="1">
                <a:latin typeface="Courier"/>
                <a:cs typeface="Courier"/>
              </a:rPr>
              <a:t>mt_genomes</a:t>
            </a:r>
            <a:r>
              <a:rPr lang="en-US" dirty="0">
                <a:latin typeface="Courier"/>
                <a:cs typeface="Courier"/>
              </a:rPr>
              <a:t> folder to your Desktop</a:t>
            </a: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cd ~/Desktop</a:t>
            </a: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av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~/Desktop/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mt_genomes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.</a:t>
            </a: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-al ~/Desktop</a:t>
            </a: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synchronize </a:t>
            </a:r>
            <a:r>
              <a:rPr lang="en-US" dirty="0" err="1">
                <a:latin typeface="Courier"/>
                <a:cs typeface="Courier"/>
              </a:rPr>
              <a:t>mt_genomes</a:t>
            </a:r>
            <a:r>
              <a:rPr lang="en-US" dirty="0">
                <a:latin typeface="Courier"/>
                <a:cs typeface="Courier"/>
              </a:rPr>
              <a:t> folder to your Desktop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cd ~/Desktop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av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~/Desktop/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mt_genomes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.</a:t>
            </a:r>
          </a:p>
          <a:p>
            <a:pPr marL="400050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ls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-al ~/Desktop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7403" y="5291248"/>
            <a:ext cx="3029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What's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28872538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: mind the '/'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1" indent="-114300"/>
            <a:r>
              <a:rPr lang="en-US" dirty="0">
                <a:latin typeface="Courier"/>
                <a:cs typeface="Courier"/>
              </a:rPr>
              <a:t># synchronize </a:t>
            </a:r>
            <a:r>
              <a:rPr lang="en-US" dirty="0" err="1">
                <a:latin typeface="Courier"/>
                <a:cs typeface="Courier"/>
              </a:rPr>
              <a:t>mt_genomes</a:t>
            </a:r>
            <a:r>
              <a:rPr lang="en-US" dirty="0">
                <a:latin typeface="Courier"/>
                <a:cs typeface="Courier"/>
              </a:rPr>
              <a:t> folder to your Desktop</a:t>
            </a:r>
          </a:p>
          <a:p>
            <a:pPr marL="285750" lvl="1" indent="-285750">
              <a:spcBef>
                <a:spcPts val="600"/>
              </a:spcBef>
            </a:pPr>
            <a:r>
              <a:rPr lang="en-US" dirty="0">
                <a:latin typeface="Courier"/>
                <a:cs typeface="Courier"/>
              </a:rPr>
              <a:t># no trailing '/' copies the entire directory itself, including subdirectories</a:t>
            </a:r>
          </a:p>
          <a:p>
            <a:pPr marL="912813" lvl="1" indent="-114300" defTabSz="914400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cd ~/Desktop</a:t>
            </a:r>
          </a:p>
          <a:p>
            <a:pPr marL="912813" lvl="1" indent="-114300" defTabSz="9144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av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~/Desktop/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mt_genomes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.</a:t>
            </a: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synchronize </a:t>
            </a:r>
            <a:r>
              <a:rPr lang="en-US" dirty="0" err="1">
                <a:latin typeface="Courier"/>
                <a:cs typeface="Courier"/>
              </a:rPr>
              <a:t>mt_genomes</a:t>
            </a:r>
            <a:r>
              <a:rPr lang="en-US" dirty="0">
                <a:latin typeface="Courier"/>
                <a:cs typeface="Courier"/>
              </a:rPr>
              <a:t> folder to your Desktop</a:t>
            </a:r>
          </a:p>
          <a:p>
            <a:pPr marL="284163" lvl="1" indent="-284163">
              <a:spcBef>
                <a:spcPts val="600"/>
              </a:spcBef>
            </a:pPr>
            <a:r>
              <a:rPr lang="en-US" dirty="0">
                <a:latin typeface="Courier"/>
                <a:cs typeface="Courier"/>
              </a:rPr>
              <a:t># trailing '/' means copy </a:t>
            </a:r>
            <a:r>
              <a:rPr lang="en-US" b="1" dirty="0">
                <a:latin typeface="Courier"/>
                <a:cs typeface="Courier"/>
              </a:rPr>
              <a:t>contents</a:t>
            </a:r>
            <a:r>
              <a:rPr lang="en-US" dirty="0">
                <a:latin typeface="Courier"/>
                <a:cs typeface="Courier"/>
              </a:rPr>
              <a:t> only – doesn't preserve directories</a:t>
            </a:r>
          </a:p>
          <a:p>
            <a:pPr marL="912813" lvl="1" indent="-114300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av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~/Desktop/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watermelon_files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mt_genomes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/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.</a:t>
            </a:r>
          </a:p>
          <a:p>
            <a:pPr marL="400050" lvl="1" indent="-114300">
              <a:spcAft>
                <a:spcPts val="600"/>
              </a:spcAft>
            </a:pPr>
            <a:endParaRPr lang="en-US" sz="14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59978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Synchronizing directories with </a:t>
            </a:r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1150" y="1664593"/>
            <a:ext cx="8553450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synchronize across machines</a:t>
            </a: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azv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aja@razor.uark.edu:~/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mysql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.</a:t>
            </a:r>
          </a:p>
          <a:p>
            <a:pPr marL="114300" lvl="1" indent="-114300"/>
            <a:endParaRPr lang="en-US" dirty="0">
              <a:latin typeface="Courier"/>
              <a:cs typeface="Courier"/>
            </a:endParaRP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synchronize across machines – new destination directory </a:t>
            </a:r>
          </a:p>
          <a:p>
            <a:pPr marL="452438" lvl="1" indent="-114300">
              <a:spcAft>
                <a:spcPts val="6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rsync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azv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my_data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aja@razor.uark.edu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:~/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my_data_new_name</a:t>
            </a:r>
            <a:endParaRPr lang="en-US" sz="14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77640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00692"/>
            <a:ext cx="8229600" cy="1143000"/>
          </a:xfrm>
        </p:spPr>
        <p:txBody>
          <a:bodyPr/>
          <a:lstStyle/>
          <a:p>
            <a:r>
              <a:rPr lang="en-US" dirty="0"/>
              <a:t>Getting data</a:t>
            </a:r>
          </a:p>
        </p:txBody>
      </p:sp>
    </p:spTree>
    <p:extLst>
      <p:ext uri="{BB962C8B-B14F-4D97-AF65-F5344CB8AC3E}">
        <p14:creationId xmlns:p14="http://schemas.microsoft.com/office/powerpoint/2010/main" val="2028062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Downloading data with </a:t>
            </a:r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3995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8888" lvl="1" indent="-1033463">
              <a:spcAft>
                <a:spcPts val="800"/>
              </a:spcAft>
            </a:pP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cs typeface="Calibri"/>
              </a:rPr>
              <a:t>for non-interactive file download from the web; </a:t>
            </a:r>
            <a:r>
              <a:rPr lang="en-US" sz="2800" i="1" dirty="0">
                <a:cs typeface="Calibri"/>
              </a:rPr>
              <a:t>ftp</a:t>
            </a:r>
            <a:r>
              <a:rPr lang="en-US" sz="2800" dirty="0">
                <a:cs typeface="Calibri"/>
              </a:rPr>
              <a:t> and </a:t>
            </a:r>
            <a:r>
              <a:rPr lang="en-US" sz="2800" i="1" dirty="0">
                <a:cs typeface="Calibri"/>
              </a:rPr>
              <a:t>http </a:t>
            </a:r>
            <a:r>
              <a:rPr lang="en-US" sz="2800" dirty="0">
                <a:cs typeface="Calibri"/>
              </a:rPr>
              <a:t>are supported</a:t>
            </a:r>
          </a:p>
          <a:p>
            <a:pPr marL="225425" lvl="1">
              <a:spcBef>
                <a:spcPts val="1800"/>
              </a:spcBef>
              <a:spcAft>
                <a:spcPts val="8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 [options]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url</a:t>
            </a:r>
            <a:endParaRPr lang="en-US" sz="28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-A, --accept </a:t>
            </a:r>
            <a:r>
              <a:rPr lang="en-US" dirty="0">
                <a:latin typeface="Calibri"/>
                <a:cs typeface="Calibri"/>
              </a:rPr>
              <a:t>accept files matching this criterion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-R, --reject </a:t>
            </a:r>
            <a:r>
              <a:rPr lang="en-US" dirty="0">
                <a:cs typeface="Calibri"/>
              </a:rPr>
              <a:t>reject files matching this criterion</a:t>
            </a: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-r, --recursive </a:t>
            </a:r>
            <a:r>
              <a:rPr lang="en-US" dirty="0">
                <a:latin typeface="Calibri"/>
                <a:cs typeface="Calibri"/>
              </a:rPr>
              <a:t>recursive downloading (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warning</a:t>
            </a:r>
            <a:r>
              <a:rPr lang="en-US" dirty="0">
                <a:latin typeface="Calibri"/>
                <a:cs typeface="Calibri"/>
              </a:rPr>
              <a:t>: very aggressive)</a:t>
            </a:r>
          </a:p>
          <a:p>
            <a:pPr marL="1427163" lvl="1" indent="-514350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--user=username </a:t>
            </a:r>
            <a:r>
              <a:rPr lang="en-US" dirty="0">
                <a:cs typeface="Calibri"/>
              </a:rPr>
              <a:t>username for password authentication</a:t>
            </a:r>
          </a:p>
          <a:p>
            <a:pPr marL="1427163" lvl="1" indent="-514350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--ask-password </a:t>
            </a:r>
            <a:r>
              <a:rPr lang="en-US" dirty="0">
                <a:cs typeface="Calibri"/>
              </a:rPr>
              <a:t>prompt for password </a:t>
            </a:r>
          </a:p>
          <a:p>
            <a:pPr marL="1427163" lvl="1" indent="-514350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--no-remove-listing </a:t>
            </a:r>
            <a:r>
              <a:rPr lang="en-US" dirty="0">
                <a:cs typeface="Calibri"/>
              </a:rPr>
              <a:t>lists directory contents without downloading</a:t>
            </a:r>
          </a:p>
        </p:txBody>
      </p:sp>
    </p:spTree>
    <p:extLst>
      <p:ext uri="{BB962C8B-B14F-4D97-AF65-F5344CB8AC3E}">
        <p14:creationId xmlns:p14="http://schemas.microsoft.com/office/powerpoint/2010/main" val="3538386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Downloading data with </a:t>
            </a:r>
            <a:r>
              <a:rPr lang="en-US" sz="36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endParaRPr lang="en-US" sz="36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Download human chromosome 22 from UCSC Genome Browser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http://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hgdownload.soe.ucsc.edu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goldenPath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/hg19/chromosomes/chr22.fa.gz</a:t>
            </a:r>
          </a:p>
          <a:p>
            <a:pPr marL="114300" lvl="1" indent="-114300">
              <a:spcBef>
                <a:spcPts val="1200"/>
              </a:spcBef>
            </a:pPr>
            <a:r>
              <a:rPr lang="en-US" dirty="0">
                <a:latin typeface="Courier"/>
                <a:cs typeface="Courier"/>
              </a:rPr>
              <a:t># Download all the GFF files from your colleague's server</a:t>
            </a:r>
          </a:p>
          <a:p>
            <a:pPr marL="114300" lvl="1" indent="-114300"/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–accept "*.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gff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" --level 2 –r --no-directories --no-parent \</a:t>
            </a:r>
          </a:p>
          <a:p>
            <a:pPr marL="342900" lvl="1" indent="-115888">
              <a:spcAft>
                <a:spcPts val="1400"/>
              </a:spcAft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ftp://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server.university.edu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labsite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/annotations/</a:t>
            </a:r>
          </a:p>
          <a:p>
            <a:pPr marL="114300" lvl="1" indent="-114300">
              <a:spcBef>
                <a:spcPts val="1200"/>
              </a:spcBef>
            </a:pPr>
            <a:r>
              <a:rPr lang="en-US" dirty="0">
                <a:latin typeface="Courier"/>
                <a:cs typeface="Courier"/>
              </a:rPr>
              <a:t># Download from a secure ftp site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sz="16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r>
              <a:rPr lang="en-US" sz="1600" dirty="0">
                <a:solidFill>
                  <a:srgbClr val="0000FF"/>
                </a:solidFill>
                <a:latin typeface="Courier"/>
                <a:cs typeface="Courier"/>
              </a:rPr>
              <a:t> ftp://&lt;username&gt;:&lt;password&gt;@192.169.8.66/folder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</a:endParaRPr>
          </a:p>
          <a:p>
            <a:pPr marL="114300" lvl="1" indent="-114300">
              <a:spcBef>
                <a:spcPts val="1200"/>
              </a:spcBef>
            </a:pPr>
            <a:r>
              <a:rPr lang="en-US" dirty="0">
                <a:latin typeface="Courier"/>
                <a:cs typeface="Courier"/>
              </a:rPr>
              <a:t># Download from a secure ftp site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dirty="0">
                <a:latin typeface="Courier"/>
                <a:cs typeface="Courier"/>
              </a:rPr>
              <a:t>$ </a:t>
            </a:r>
            <a:r>
              <a:rPr lang="en-US" sz="16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r>
              <a:rPr lang="en-US" sz="1600" dirty="0">
                <a:solidFill>
                  <a:srgbClr val="0000FF"/>
                </a:solidFill>
                <a:latin typeface="Courier"/>
                <a:cs typeface="Courier"/>
              </a:rPr>
              <a:t> --recursive ftp://andy:run-dmc@192.169.8.66/</a:t>
            </a:r>
            <a:r>
              <a:rPr lang="en-US" sz="1600" dirty="0" err="1">
                <a:solidFill>
                  <a:srgbClr val="0000FF"/>
                </a:solidFill>
                <a:latin typeface="Courier"/>
                <a:cs typeface="Courier"/>
              </a:rPr>
              <a:t>CleanData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3360413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Downloading data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curl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261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8888" lvl="1" indent="-1033463">
              <a:spcAft>
                <a:spcPts val="800"/>
              </a:spcAft>
            </a:pP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curl </a:t>
            </a:r>
            <a:r>
              <a:rPr lang="en-US" sz="2800" dirty="0">
                <a:cs typeface="Calibri"/>
              </a:rPr>
              <a:t>("see URL") for non-interactive file download</a:t>
            </a:r>
          </a:p>
          <a:p>
            <a:pPr marL="1316038" lvl="1" indent="-234950">
              <a:spcAft>
                <a:spcPts val="800"/>
              </a:spcAft>
              <a:buFont typeface="Lucida Grande"/>
              <a:buChar char="–"/>
            </a:pPr>
            <a:r>
              <a:rPr lang="en-US" sz="2400" dirty="0">
                <a:latin typeface="Calibri"/>
                <a:cs typeface="Calibri"/>
              </a:rPr>
              <a:t>more protocols than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wget</a:t>
            </a:r>
            <a:endParaRPr lang="en-US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1316038" lvl="1" indent="-234950">
              <a:spcAft>
                <a:spcPts val="800"/>
              </a:spcAft>
              <a:buFont typeface="Lucida Grande"/>
              <a:buChar char="–"/>
            </a:pPr>
            <a:r>
              <a:rPr lang="en-US" sz="2400" dirty="0">
                <a:cs typeface="Courier"/>
              </a:rPr>
              <a:t>writes to STDOUT by default</a:t>
            </a:r>
          </a:p>
          <a:p>
            <a:pPr marL="225425" lvl="1">
              <a:spcBef>
                <a:spcPts val="1800"/>
              </a:spcBef>
              <a:spcAft>
                <a:spcPts val="800"/>
              </a:spcAft>
            </a:pPr>
            <a:r>
              <a:rPr lang="en-US" sz="2800" dirty="0">
                <a:latin typeface="Courier"/>
                <a:cs typeface="Courier"/>
              </a:rPr>
              <a:t>$ </a:t>
            </a:r>
            <a:r>
              <a:rPr lang="en-US" sz="2800" dirty="0">
                <a:solidFill>
                  <a:srgbClr val="0000FF"/>
                </a:solidFill>
                <a:latin typeface="Courier"/>
                <a:cs typeface="Courier"/>
              </a:rPr>
              <a:t>curl [options] </a:t>
            </a:r>
            <a:r>
              <a:rPr lang="en-US" sz="2800" dirty="0" err="1">
                <a:solidFill>
                  <a:srgbClr val="0000FF"/>
                </a:solidFill>
                <a:latin typeface="Courier"/>
                <a:cs typeface="Courier"/>
              </a:rPr>
              <a:t>url</a:t>
            </a:r>
            <a:endParaRPr lang="en-US" sz="28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225425" lvl="1"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		-o </a:t>
            </a:r>
            <a:r>
              <a:rPr lang="en-US" dirty="0">
                <a:latin typeface="Calibri"/>
                <a:cs typeface="Calibri"/>
              </a:rPr>
              <a:t>specifies output file</a:t>
            </a:r>
          </a:p>
        </p:txBody>
      </p:sp>
    </p:spTree>
    <p:extLst>
      <p:ext uri="{BB962C8B-B14F-4D97-AF65-F5344CB8AC3E}">
        <p14:creationId xmlns:p14="http://schemas.microsoft.com/office/powerpoint/2010/main" val="18946551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Downloading data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curl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150" y="1355844"/>
            <a:ext cx="8553450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1" indent="-1657350">
              <a:spcAft>
                <a:spcPts val="1200"/>
              </a:spcAft>
            </a:pPr>
            <a:r>
              <a:rPr lang="en-US" sz="3200" dirty="0">
                <a:cs typeface="Calibri"/>
              </a:rPr>
              <a:t>Examples:</a:t>
            </a:r>
          </a:p>
          <a:p>
            <a:pPr marL="114300" lvl="1" indent="-114300"/>
            <a:r>
              <a:rPr lang="en-US" dirty="0">
                <a:latin typeface="Courier"/>
                <a:cs typeface="Courier"/>
              </a:rPr>
              <a:t># Download a protein structure from RCSB's protein databank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curl "http://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www.rcsb.org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pdb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/files/1ema.pdb"</a:t>
            </a:r>
          </a:p>
          <a:p>
            <a:pPr marL="114300" lvl="1" indent="-114300">
              <a:spcBef>
                <a:spcPts val="1200"/>
              </a:spcBef>
            </a:pPr>
            <a:r>
              <a:rPr lang="en-US" dirty="0">
                <a:latin typeface="Courier"/>
                <a:cs typeface="Courier"/>
              </a:rPr>
              <a:t># Write it to a file using -o option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curl "http://www.rcsb.org/pdb/files/1ema.pdb" -o 1ema.pdb</a:t>
            </a:r>
          </a:p>
          <a:p>
            <a:pPr marL="114300" lvl="1" indent="-114300">
              <a:spcBef>
                <a:spcPts val="1200"/>
              </a:spcBef>
            </a:pPr>
            <a:r>
              <a:rPr lang="en-US" dirty="0">
                <a:latin typeface="Courier"/>
                <a:cs typeface="Courier"/>
              </a:rPr>
              <a:t># Download a set of files</a:t>
            </a:r>
          </a:p>
          <a:p>
            <a:pPr marL="114300" lvl="1" indent="-114300">
              <a:spcAft>
                <a:spcPts val="1400"/>
              </a:spcAft>
            </a:pPr>
            <a:r>
              <a:rPr lang="en-US" sz="1400" dirty="0">
                <a:latin typeface="Courier"/>
                <a:cs typeface="Courier"/>
              </a:rPr>
              <a:t>$ 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curl "http://www.rcsb.org/pdb/files/{1ema,1gf1,1g7k}.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pdb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"</a:t>
            </a:r>
          </a:p>
          <a:p>
            <a:pPr marL="114300" lvl="1" indent="-114300">
              <a:spcBef>
                <a:spcPts val="1200"/>
              </a:spcBef>
            </a:pPr>
            <a:endParaRPr lang="en-US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8659820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144" y="25907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Moving files with a GUI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17" y="1565394"/>
            <a:ext cx="779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2000"/>
              </a:spcAft>
              <a:buFont typeface="Arial"/>
              <a:buChar char="•"/>
            </a:pPr>
            <a:r>
              <a:rPr lang="en-US" sz="3000" dirty="0">
                <a:cs typeface="Calibri"/>
              </a:rPr>
              <a:t>Shareware programs like </a:t>
            </a:r>
            <a:r>
              <a:rPr lang="en-US" sz="3000" dirty="0">
                <a:cs typeface="Calibri"/>
                <a:hlinkClick r:id="rId3"/>
              </a:rPr>
              <a:t>Fugu</a:t>
            </a:r>
            <a:r>
              <a:rPr lang="en-US" sz="3000" dirty="0">
                <a:cs typeface="Calibri"/>
              </a:rPr>
              <a:t> and </a:t>
            </a:r>
            <a:r>
              <a:rPr lang="en-US" sz="3000" dirty="0">
                <a:cs typeface="Calibri"/>
                <a:hlinkClick r:id="rId4"/>
              </a:rPr>
              <a:t>FileZilla</a:t>
            </a:r>
            <a:r>
              <a:rPr lang="en-US" sz="3000" dirty="0">
                <a:cs typeface="Calibri"/>
              </a:rPr>
              <a:t> provide a graphical front end for </a:t>
            </a:r>
            <a:r>
              <a:rPr lang="en-US" sz="30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3000" dirty="0">
                <a:cs typeface="Calibri"/>
              </a:rPr>
              <a:t> and  </a:t>
            </a:r>
            <a:r>
              <a:rPr lang="en-US" sz="3000" dirty="0" err="1">
                <a:solidFill>
                  <a:srgbClr val="0000FF"/>
                </a:solidFill>
                <a:latin typeface="Courier"/>
                <a:cs typeface="Courier"/>
              </a:rPr>
              <a:t>scp</a:t>
            </a:r>
            <a:endParaRPr lang="en-US" sz="3000" dirty="0">
              <a:cs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1475" y="208898"/>
            <a:ext cx="8446084" cy="914400"/>
            <a:chOff x="355600" y="126348"/>
            <a:chExt cx="8446084" cy="914400"/>
          </a:xfrm>
        </p:grpSpPr>
        <p:pic>
          <p:nvPicPr>
            <p:cNvPr id="4" name="Picture 3" descr="fugu.tif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3001" y="126348"/>
              <a:ext cx="1308683" cy="914400"/>
            </a:xfrm>
            <a:prstGeom prst="rect">
              <a:avLst/>
            </a:prstGeom>
          </p:spPr>
        </p:pic>
        <p:pic>
          <p:nvPicPr>
            <p:cNvPr id="5" name="Picture 4" descr="fugu.tif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600" y="126348"/>
              <a:ext cx="1308683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80544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CDCC6-D0EE-C74A-B109-F05F6B464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&lt;BEGIN&gt; Do this on your own &lt;/BEGIN&gt;</a:t>
            </a:r>
          </a:p>
        </p:txBody>
      </p:sp>
    </p:spTree>
    <p:extLst>
      <p:ext uri="{BB962C8B-B14F-4D97-AF65-F5344CB8AC3E}">
        <p14:creationId xmlns:p14="http://schemas.microsoft.com/office/powerpoint/2010/main" val="7092529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465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Authentication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3600" dirty="0"/>
              <a:t>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892804"/>
            <a:ext cx="88232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spcAft>
                <a:spcPts val="800"/>
              </a:spcAft>
              <a:buFont typeface="Arial"/>
              <a:buChar char="•"/>
            </a:pPr>
            <a:r>
              <a:rPr lang="en-US" sz="2200" dirty="0">
                <a:latin typeface="Calibri"/>
                <a:cs typeface="Calibri"/>
              </a:rPr>
              <a:t>Repeatedly typing your password is a pain, and it takes time</a:t>
            </a:r>
          </a:p>
          <a:p>
            <a:pPr marL="342900" lvl="1" indent="-342900">
              <a:spcAft>
                <a:spcPts val="800"/>
              </a:spcAft>
              <a:buFont typeface="Arial"/>
              <a:buChar char="•"/>
            </a:pPr>
            <a:r>
              <a:rPr lang="en-US" sz="2200" dirty="0">
                <a:latin typeface="Calibri"/>
                <a:cs typeface="Calibri"/>
              </a:rPr>
              <a:t>Not always safe – keyboard input can be monitored</a:t>
            </a:r>
          </a:p>
          <a:p>
            <a:pPr marL="342900" lvl="1" indent="-342900">
              <a:spcAft>
                <a:spcPts val="800"/>
              </a:spcAft>
              <a:buFont typeface="Arial"/>
              <a:buChar char="•"/>
            </a:pPr>
            <a:r>
              <a:rPr lang="en-US" sz="2200" dirty="0">
                <a:latin typeface="Calibri"/>
                <a:cs typeface="Calibri"/>
              </a:rPr>
              <a:t>SSH keys are a safe and easy alternative</a:t>
            </a:r>
          </a:p>
          <a:p>
            <a:pPr marL="342900" lvl="1" indent="-342900">
              <a:spcAft>
                <a:spcPts val="800"/>
              </a:spcAft>
              <a:buFont typeface="Arial"/>
              <a:buChar char="•"/>
            </a:pPr>
            <a:r>
              <a:rPr lang="en-US" sz="2200" dirty="0">
                <a:latin typeface="Calibri"/>
                <a:cs typeface="Calibri"/>
              </a:rPr>
              <a:t>Setting this up is pretty straightforward</a:t>
            </a:r>
            <a:endParaRPr lang="en-US" sz="2400" dirty="0"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982" y="5056590"/>
            <a:ext cx="8064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NOTE</a:t>
            </a:r>
            <a:r>
              <a:rPr lang="en-US" sz="2000" dirty="0"/>
              <a:t>: This can be necessary for authenticating GitHub login/push requests.</a:t>
            </a:r>
          </a:p>
        </p:txBody>
      </p:sp>
    </p:spTree>
    <p:extLst>
      <p:ext uri="{BB962C8B-B14F-4D97-AF65-F5344CB8AC3E}">
        <p14:creationId xmlns:p14="http://schemas.microsoft.com/office/powerpoint/2010/main" val="1495571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465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Authentication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3600" dirty="0"/>
              <a:t>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225147"/>
            <a:ext cx="8823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800"/>
              </a:spcAft>
              <a:buFont typeface="+mj-lt"/>
              <a:buAutoNum type="arabicPeriod"/>
            </a:pP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On your *</a:t>
            </a:r>
            <a:r>
              <a:rPr lang="en-US" sz="2200" b="1" dirty="0">
                <a:solidFill>
                  <a:srgbClr val="FF0000"/>
                </a:solidFill>
                <a:latin typeface="Calibri"/>
                <a:cs typeface="Calibri"/>
              </a:rPr>
              <a:t>local* </a:t>
            </a: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machine, check $HOME/.</a:t>
            </a:r>
            <a:r>
              <a:rPr lang="en-US" sz="2200" dirty="0" err="1">
                <a:solidFill>
                  <a:srgbClr val="FF0000"/>
                </a:solidFill>
                <a:latin typeface="Calibri"/>
                <a:cs typeface="Calibri"/>
              </a:rPr>
              <a:t>ssh</a:t>
            </a: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85" y="2858000"/>
            <a:ext cx="88232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800"/>
              </a:spcAft>
              <a:buFont typeface="+mj-lt"/>
              <a:buAutoNum type="arabicPeriod" startAt="2"/>
            </a:pP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If these files are missing, generate them with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-keygen:</a:t>
            </a:r>
          </a:p>
          <a:p>
            <a:pPr marL="0" lvl="1">
              <a:spcAft>
                <a:spcPts val="8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ssh-keygen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-b 2048 -t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rsa</a:t>
            </a:r>
            <a:endParaRPr lang="en-US" sz="22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457200" lvl="2">
              <a:spcAft>
                <a:spcPts val="8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-b: </a:t>
            </a:r>
            <a:r>
              <a:rPr lang="en-US" sz="2200" dirty="0">
                <a:solidFill>
                  <a:srgbClr val="0000FF"/>
                </a:solidFill>
                <a:cs typeface="Courier"/>
              </a:rPr>
              <a:t>number of bits in the key</a:t>
            </a:r>
          </a:p>
          <a:p>
            <a:pPr marL="457200" lvl="2">
              <a:spcAft>
                <a:spcPts val="8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-t: </a:t>
            </a:r>
            <a:r>
              <a:rPr lang="en-US" sz="2200" dirty="0">
                <a:solidFill>
                  <a:srgbClr val="0000FF"/>
                </a:solidFill>
                <a:cs typeface="Courier"/>
              </a:rPr>
              <a:t>type of key to create</a:t>
            </a:r>
            <a:endParaRPr lang="en-US" sz="2200" dirty="0">
              <a:solidFill>
                <a:srgbClr val="0000FF"/>
              </a:solidFill>
              <a:cs typeface="Calibri"/>
            </a:endParaRPr>
          </a:p>
        </p:txBody>
      </p:sp>
      <p:pic>
        <p:nvPicPr>
          <p:cNvPr id="3" name="Picture 2" descr="ssh_directory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57" y="1761672"/>
            <a:ext cx="3657600" cy="801044"/>
          </a:xfrm>
          <a:prstGeom prst="rect">
            <a:avLst/>
          </a:prstGeom>
          <a:ln w="38100" cmpd="sng">
            <a:solidFill>
              <a:srgbClr val="FF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54185" y="4919026"/>
            <a:ext cx="8823220" cy="1210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800"/>
              </a:spcAft>
              <a:buFont typeface="+mj-lt"/>
              <a:buAutoNum type="arabicPeriod" startAt="3"/>
            </a:pP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When prompted, store the keys in the default file and directory by hitting </a:t>
            </a:r>
            <a:r>
              <a:rPr lang="en-US" sz="2200" dirty="0">
                <a:solidFill>
                  <a:srgbClr val="0000FF"/>
                </a:solidFill>
                <a:latin typeface="Calibri"/>
                <a:cs typeface="Calibri"/>
              </a:rPr>
              <a:t>&lt;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ENTER&gt;</a:t>
            </a:r>
          </a:p>
          <a:p>
            <a:pPr lvl="1" indent="-457200">
              <a:spcAft>
                <a:spcPts val="800"/>
              </a:spcAft>
              <a:buFont typeface="+mj-lt"/>
              <a:buAutoNum type="arabicPeriod" startAt="3"/>
            </a:pPr>
            <a:r>
              <a:rPr lang="en-US" sz="2200" dirty="0">
                <a:solidFill>
                  <a:srgbClr val="FF0000"/>
                </a:solidFill>
                <a:cs typeface="Courier"/>
              </a:rPr>
              <a:t>Create and enter a password (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&lt;ENTER&gt;</a:t>
            </a:r>
            <a:r>
              <a:rPr lang="en-US" sz="2200" dirty="0">
                <a:solidFill>
                  <a:srgbClr val="FF0000"/>
                </a:solidFill>
                <a:cs typeface="Courier"/>
              </a:rPr>
              <a:t> for no password – this is okay)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7829" y="1935840"/>
            <a:ext cx="268514" cy="2685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667829" y="2383444"/>
            <a:ext cx="268514" cy="2685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936343" y="1825560"/>
            <a:ext cx="19043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local computer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6343" y="2265973"/>
            <a:ext cx="15980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3">
                    <a:lumMod val="50000"/>
                  </a:schemeClr>
                </a:solidFill>
              </a:rPr>
              <a:t>remote host</a:t>
            </a:r>
          </a:p>
        </p:txBody>
      </p:sp>
    </p:spTree>
    <p:extLst>
      <p:ext uri="{BB962C8B-B14F-4D97-AF65-F5344CB8AC3E}">
        <p14:creationId xmlns:p14="http://schemas.microsoft.com/office/powerpoint/2010/main" val="12157001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465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Authentication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3600" dirty="0"/>
              <a:t>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225147"/>
            <a:ext cx="8823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800"/>
              </a:spcAft>
              <a:buFont typeface="+mj-lt"/>
              <a:buAutoNum type="arabicPeriod" startAt="5"/>
            </a:pP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These files should now exist on your local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85" y="2858000"/>
            <a:ext cx="8823220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800"/>
              </a:spcAft>
              <a:buFont typeface="+mj-lt"/>
              <a:buAutoNum type="arabicPeriod" startAt="6"/>
            </a:pP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View and copy the **</a:t>
            </a:r>
            <a:r>
              <a:rPr lang="en-US" sz="2200" b="1" dirty="0">
                <a:solidFill>
                  <a:srgbClr val="FF0000"/>
                </a:solidFill>
                <a:latin typeface="Calibri"/>
                <a:cs typeface="Calibri"/>
              </a:rPr>
              <a:t>public**</a:t>
            </a: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 key</a:t>
            </a:r>
            <a:endParaRPr lang="en-US" sz="22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0" lvl="1">
              <a:spcAft>
                <a:spcPts val="800"/>
              </a:spcAft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$ cat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id_rsa.pub</a:t>
            </a:r>
            <a:r>
              <a:rPr lang="en-US" sz="2200" dirty="0">
                <a:cs typeface="Courier"/>
              </a:rPr>
              <a:t> (then copy that line!)</a:t>
            </a:r>
          </a:p>
          <a:p>
            <a:pPr lvl="1" indent="-457200">
              <a:spcBef>
                <a:spcPts val="1800"/>
              </a:spcBef>
              <a:spcAft>
                <a:spcPts val="800"/>
              </a:spcAft>
              <a:buFont typeface="+mj-lt"/>
              <a:buAutoNum type="arabicPeriod" startAt="7"/>
            </a:pPr>
            <a:r>
              <a:rPr lang="en-US" sz="2200" dirty="0">
                <a:solidFill>
                  <a:srgbClr val="FF0000"/>
                </a:solidFill>
                <a:cs typeface="Calibri"/>
              </a:rPr>
              <a:t>SSH onto the remote machine</a:t>
            </a:r>
            <a:endParaRPr lang="en-US" sz="22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0" lvl="1">
              <a:spcAft>
                <a:spcPts val="800"/>
              </a:spcAft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username@hpc-portal2.hpc.uark.edu</a:t>
            </a:r>
          </a:p>
          <a:p>
            <a:pPr lvl="1" indent="-457200">
              <a:spcBef>
                <a:spcPts val="1800"/>
              </a:spcBef>
              <a:spcAft>
                <a:spcPts val="800"/>
              </a:spcAft>
              <a:buFont typeface="+mj-lt"/>
              <a:buAutoNum type="arabicPeriod" startAt="8"/>
            </a:pPr>
            <a:r>
              <a:rPr lang="en-US" sz="2200" dirty="0">
                <a:solidFill>
                  <a:srgbClr val="4F6228"/>
                </a:solidFill>
                <a:cs typeface="Calibri"/>
              </a:rPr>
              <a:t>Move into </a:t>
            </a:r>
            <a:r>
              <a:rPr lang="en-US" sz="2200" dirty="0">
                <a:solidFill>
                  <a:srgbClr val="4F6228"/>
                </a:solidFill>
                <a:latin typeface="Courier"/>
                <a:cs typeface="Courier"/>
              </a:rPr>
              <a:t>$HOME/.</a:t>
            </a:r>
            <a:r>
              <a:rPr lang="en-US" sz="2200" dirty="0" err="1">
                <a:solidFill>
                  <a:srgbClr val="4F6228"/>
                </a:solidFill>
                <a:latin typeface="Courier"/>
                <a:cs typeface="Courier"/>
              </a:rPr>
              <a:t>ssh</a:t>
            </a:r>
            <a:endParaRPr lang="en-US" sz="2200" dirty="0">
              <a:solidFill>
                <a:srgbClr val="4F6228"/>
              </a:solidFill>
              <a:cs typeface="Calibri"/>
            </a:endParaRPr>
          </a:p>
          <a:p>
            <a:pPr marL="0" lvl="1">
              <a:spcAft>
                <a:spcPts val="8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	$ cd .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endParaRPr lang="en-US" sz="22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pic>
        <p:nvPicPr>
          <p:cNvPr id="3" name="Picture 2" descr="ssh_directory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57" y="1761672"/>
            <a:ext cx="3657600" cy="801044"/>
          </a:xfrm>
          <a:prstGeom prst="rect">
            <a:avLst/>
          </a:prstGeom>
          <a:ln w="38100" cmpd="sng">
            <a:solidFill>
              <a:srgbClr val="FF0000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5667829" y="1935840"/>
            <a:ext cx="268514" cy="2685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67829" y="2383444"/>
            <a:ext cx="268514" cy="2685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936343" y="1825560"/>
            <a:ext cx="19043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local computer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6343" y="2265973"/>
            <a:ext cx="15980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3">
                    <a:lumMod val="50000"/>
                  </a:schemeClr>
                </a:solidFill>
              </a:rPr>
              <a:t>remote host</a:t>
            </a:r>
          </a:p>
        </p:txBody>
      </p:sp>
    </p:spTree>
    <p:extLst>
      <p:ext uri="{BB962C8B-B14F-4D97-AF65-F5344CB8AC3E}">
        <p14:creationId xmlns:p14="http://schemas.microsoft.com/office/powerpoint/2010/main" val="8228745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465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Authentication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3600" dirty="0"/>
              <a:t>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223518"/>
            <a:ext cx="88232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800"/>
              </a:spcAft>
              <a:buFont typeface="+mj-lt"/>
              <a:buAutoNum type="arabicPeriod" startAt="9"/>
            </a:pP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Append the *public key* that you just copied from </a:t>
            </a:r>
            <a:r>
              <a:rPr lang="en-US" sz="2200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id_rsa.pub</a:t>
            </a: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to the </a:t>
            </a: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ourier"/>
                <a:cs typeface="Courier"/>
              </a:rPr>
              <a:t>`</a:t>
            </a:r>
            <a:r>
              <a:rPr lang="en-US" sz="2200" dirty="0" err="1">
                <a:solidFill>
                  <a:schemeClr val="accent3">
                    <a:lumMod val="50000"/>
                  </a:schemeClr>
                </a:solidFill>
                <a:latin typeface="Courier"/>
                <a:cs typeface="Courier"/>
              </a:rPr>
              <a:t>authorized_keys</a:t>
            </a: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ourier"/>
                <a:cs typeface="Courier"/>
              </a:rPr>
              <a:t>`</a:t>
            </a: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+mj-lt"/>
                <a:cs typeface="Courier"/>
              </a:rPr>
              <a:t>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85" y="2119628"/>
            <a:ext cx="88232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Aft>
                <a:spcPts val="800"/>
              </a:spcAft>
              <a:buFont typeface="+mj-lt"/>
              <a:buAutoNum type="arabicPeriod" startAt="10"/>
            </a:pP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Make </a:t>
            </a:r>
            <a:r>
              <a:rPr lang="en-US" sz="2200" dirty="0" err="1">
                <a:solidFill>
                  <a:schemeClr val="accent3">
                    <a:lumMod val="50000"/>
                  </a:schemeClr>
                </a:solidFill>
                <a:latin typeface="Courier"/>
                <a:cs typeface="Courier"/>
              </a:rPr>
              <a:t>authorized_keys</a:t>
            </a: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ourier"/>
                <a:cs typeface="Courier"/>
              </a:rPr>
              <a:t> </a:t>
            </a: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executable</a:t>
            </a:r>
          </a:p>
          <a:p>
            <a:pPr marL="0" lvl="1">
              <a:spcAft>
                <a:spcPts val="14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	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chmod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ugo+rx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authorized_keys</a:t>
            </a:r>
            <a:endParaRPr lang="en-US" sz="22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  <a:p>
            <a:pPr lvl="1" indent="-457200">
              <a:spcBef>
                <a:spcPts val="600"/>
              </a:spcBef>
              <a:spcAft>
                <a:spcPts val="800"/>
              </a:spcAft>
              <a:buFont typeface="+mj-lt"/>
              <a:buAutoNum type="arabicPeriod" startAt="11"/>
            </a:pP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Exit the remote host</a:t>
            </a:r>
          </a:p>
          <a:p>
            <a:pPr marL="0" lvl="1">
              <a:spcAft>
                <a:spcPts val="1400"/>
              </a:spcAft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	$ exit</a:t>
            </a:r>
            <a:endParaRPr lang="en-US" sz="22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  <a:p>
            <a:pPr lvl="1" indent="-457200">
              <a:spcBef>
                <a:spcPts val="600"/>
              </a:spcBef>
              <a:spcAft>
                <a:spcPts val="800"/>
              </a:spcAft>
              <a:buFont typeface="+mj-lt"/>
              <a:buAutoNum type="arabicPeriod" startAt="12"/>
            </a:pPr>
            <a:r>
              <a:rPr lang="en-US" sz="2200" dirty="0">
                <a:solidFill>
                  <a:srgbClr val="FF0000"/>
                </a:solidFill>
                <a:latin typeface="Calibri"/>
                <a:cs typeface="Calibri"/>
              </a:rPr>
              <a:t>Log onto the remote host again</a:t>
            </a:r>
            <a:endParaRPr lang="en-US" sz="22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0" lvl="1">
              <a:spcAft>
                <a:spcPts val="1400"/>
              </a:spcAft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$ </a:t>
            </a: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username@hpc-portal2.hpc.uark.edu</a:t>
            </a:r>
          </a:p>
          <a:p>
            <a:pPr lvl="1" indent="-457200">
              <a:spcBef>
                <a:spcPts val="600"/>
              </a:spcBef>
              <a:spcAft>
                <a:spcPts val="800"/>
              </a:spcAft>
              <a:buFont typeface="+mj-lt"/>
              <a:buAutoNum type="arabicPeriod" startAt="13"/>
            </a:pPr>
            <a:r>
              <a:rPr lang="en-US" sz="2200" dirty="0">
                <a:solidFill>
                  <a:srgbClr val="FF0000"/>
                </a:solidFill>
                <a:cs typeface="Calibri"/>
              </a:rPr>
              <a:t>If you created an SSH key password, enter it here if prompted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1D333F-DA21-9302-0687-7D831B2473B9}"/>
              </a:ext>
            </a:extLst>
          </p:cNvPr>
          <p:cNvGrpSpPr/>
          <p:nvPr/>
        </p:nvGrpSpPr>
        <p:grpSpPr>
          <a:xfrm>
            <a:off x="6753680" y="1825560"/>
            <a:ext cx="2172814" cy="871300"/>
            <a:chOff x="6753680" y="1825560"/>
            <a:chExt cx="2172814" cy="871300"/>
          </a:xfrm>
        </p:grpSpPr>
        <p:sp>
          <p:nvSpPr>
            <p:cNvPr id="11" name="Rectangle 10"/>
            <p:cNvSpPr/>
            <p:nvPr/>
          </p:nvSpPr>
          <p:spPr>
            <a:xfrm>
              <a:off x="6753680" y="1935840"/>
              <a:ext cx="268514" cy="26851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753680" y="2383444"/>
              <a:ext cx="268514" cy="268514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22194" y="1825560"/>
              <a:ext cx="190430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FF0000"/>
                  </a:solidFill>
                </a:rPr>
                <a:t>local computer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22194" y="2265973"/>
              <a:ext cx="159806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accent3">
                      <a:lumMod val="50000"/>
                    </a:schemeClr>
                  </a:solidFill>
                </a:rPr>
                <a:t>remote host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74578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465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Authentication with </a:t>
            </a:r>
            <a:r>
              <a:rPr lang="en-US" sz="3600" dirty="0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sz="3600" dirty="0"/>
              <a:t>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506" y="1519471"/>
            <a:ext cx="8823220" cy="297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spcBef>
                <a:spcPts val="1800"/>
              </a:spcBef>
              <a:spcAft>
                <a:spcPts val="800"/>
              </a:spcAft>
              <a:buFont typeface="+mj-lt"/>
              <a:buAutoNum type="arabicPeriod" startAt="14"/>
            </a:pPr>
            <a:r>
              <a:rPr lang="en-US" sz="2200" dirty="0">
                <a:solidFill>
                  <a:schemeClr val="accent3">
                    <a:lumMod val="50000"/>
                  </a:schemeClr>
                </a:solidFill>
                <a:cs typeface="Calibri"/>
              </a:rPr>
              <a:t>If necessary, change file permissions in </a:t>
            </a: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ourier"/>
                <a:cs typeface="Calibri"/>
              </a:rPr>
              <a:t>.</a:t>
            </a:r>
            <a:r>
              <a:rPr lang="en-US" sz="2200" dirty="0" err="1">
                <a:solidFill>
                  <a:schemeClr val="accent3">
                    <a:lumMod val="50000"/>
                  </a:schemeClr>
                </a:solidFill>
                <a:latin typeface="Courier"/>
                <a:cs typeface="Calibri"/>
              </a:rPr>
              <a:t>ssh</a:t>
            </a: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Courier"/>
                <a:cs typeface="Calibri"/>
              </a:rPr>
              <a:t>/</a:t>
            </a:r>
          </a:p>
          <a:p>
            <a:pPr marL="0" lvl="1">
              <a:spcBef>
                <a:spcPts val="600"/>
              </a:spcBef>
              <a:spcAft>
                <a:spcPts val="800"/>
              </a:spcAft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ourier"/>
                <a:cs typeface="Calibri"/>
              </a:rPr>
              <a:t>	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chmod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go-w .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/</a:t>
            </a:r>
          </a:p>
          <a:p>
            <a:pPr lvl="1" indent="-457200">
              <a:spcBef>
                <a:spcPts val="1800"/>
              </a:spcBef>
              <a:spcAft>
                <a:spcPts val="800"/>
              </a:spcAft>
              <a:buFont typeface="+mj-lt"/>
              <a:buAutoNum type="arabicPeriod" startAt="15"/>
            </a:pPr>
            <a:r>
              <a:rPr lang="en-US" sz="2200" dirty="0">
                <a:solidFill>
                  <a:srgbClr val="FF0000"/>
                </a:solidFill>
                <a:cs typeface="Calibri"/>
              </a:rPr>
              <a:t>If you continue to be prompted for the SSH password:</a:t>
            </a:r>
          </a:p>
          <a:p>
            <a:pPr marL="0" lvl="1"/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	# turn on SSH manager</a:t>
            </a:r>
          </a:p>
          <a:p>
            <a:pPr marL="0" lvl="1">
              <a:spcAft>
                <a:spcPts val="1600"/>
              </a:spcAft>
            </a:pPr>
            <a:r>
              <a:rPr lang="en-US" dirty="0">
                <a:latin typeface="Courier"/>
                <a:cs typeface="Courier"/>
              </a:rPr>
              <a:t>	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eval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-agent</a:t>
            </a:r>
          </a:p>
          <a:p>
            <a:pPr marL="0" lvl="1"/>
            <a:r>
              <a:rPr lang="en-US" dirty="0">
                <a:latin typeface="Courier"/>
                <a:cs typeface="Courier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"/>
                <a:cs typeface="Courier"/>
              </a:rPr>
              <a:t># tell SSH manager about your key</a:t>
            </a:r>
          </a:p>
          <a:p>
            <a:pPr marL="0" lvl="1">
              <a:spcAft>
                <a:spcPts val="800"/>
              </a:spcAft>
            </a:pPr>
            <a:r>
              <a:rPr lang="en-US" dirty="0">
                <a:latin typeface="Courier"/>
                <a:cs typeface="Courier"/>
              </a:rPr>
              <a:t>	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$ </a:t>
            </a:r>
            <a:r>
              <a:rPr lang="en-US" dirty="0" err="1">
                <a:solidFill>
                  <a:srgbClr val="0000FF"/>
                </a:solidFill>
                <a:latin typeface="Courier"/>
                <a:cs typeface="Courier"/>
              </a:rPr>
              <a:t>ssh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-add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6F4FA2-D646-CDB5-EA37-86B49A3437C5}"/>
              </a:ext>
            </a:extLst>
          </p:cNvPr>
          <p:cNvGrpSpPr/>
          <p:nvPr/>
        </p:nvGrpSpPr>
        <p:grpSpPr>
          <a:xfrm>
            <a:off x="6394757" y="3512248"/>
            <a:ext cx="2172814" cy="871300"/>
            <a:chOff x="6753680" y="1825560"/>
            <a:chExt cx="2172814" cy="871300"/>
          </a:xfrm>
        </p:grpSpPr>
        <p:sp>
          <p:nvSpPr>
            <p:cNvPr id="11" name="Rectangle 10"/>
            <p:cNvSpPr/>
            <p:nvPr/>
          </p:nvSpPr>
          <p:spPr>
            <a:xfrm>
              <a:off x="6753680" y="1935840"/>
              <a:ext cx="268514" cy="26851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753680" y="2383444"/>
              <a:ext cx="268514" cy="268514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22194" y="1825560"/>
              <a:ext cx="190430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FF0000"/>
                  </a:solidFill>
                </a:rPr>
                <a:t>local computer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22194" y="2265973"/>
              <a:ext cx="159806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accent3">
                      <a:lumMod val="50000"/>
                    </a:schemeClr>
                  </a:solidFill>
                </a:rPr>
                <a:t>remote host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0011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CDCC6-D0EE-C74A-B109-F05F6B464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&lt;END&gt; Do this on your own &lt;/END&gt; </a:t>
            </a:r>
          </a:p>
        </p:txBody>
      </p:sp>
    </p:spTree>
    <p:extLst>
      <p:ext uri="{BB962C8B-B14F-4D97-AF65-F5344CB8AC3E}">
        <p14:creationId xmlns:p14="http://schemas.microsoft.com/office/powerpoint/2010/main" val="3024961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26694</TotalTime>
  <Words>3870</Words>
  <Application>Microsoft Macintosh PowerPoint</Application>
  <PresentationFormat>On-screen Show (4:3)</PresentationFormat>
  <Paragraphs>614</Paragraphs>
  <Slides>60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Arial</vt:lpstr>
      <vt:lpstr>Calibri</vt:lpstr>
      <vt:lpstr>Calibri Light</vt:lpstr>
      <vt:lpstr>Courier</vt:lpstr>
      <vt:lpstr>Courier New</vt:lpstr>
      <vt:lpstr>Lucida Grande</vt:lpstr>
      <vt:lpstr>Wingdings</vt:lpstr>
      <vt:lpstr>Zapf Dingbats</vt:lpstr>
      <vt:lpstr>Office Theme</vt:lpstr>
      <vt:lpstr>Working remotely</vt:lpstr>
      <vt:lpstr>Remote computing (and related issues)</vt:lpstr>
      <vt:lpstr>Logging onto a remote system</vt:lpstr>
      <vt:lpstr>Logging onto a remote system</vt:lpstr>
      <vt:lpstr>Adopt a single user name</vt:lpstr>
      <vt:lpstr>File system on AHPCC</vt:lpstr>
      <vt:lpstr>Submitting a job to a remote queue</vt:lpstr>
      <vt:lpstr>There are different queuing systems</vt:lpstr>
      <vt:lpstr>Submitting and checking the job</vt:lpstr>
      <vt:lpstr>Submitting and checking the job</vt:lpstr>
      <vt:lpstr>Anatomy of a SLURM script</vt:lpstr>
      <vt:lpstr>Anatomy of a SLURM script</vt:lpstr>
      <vt:lpstr>Anatomy of a SLURM script</vt:lpstr>
      <vt:lpstr>Anatomy of a SLURM script</vt:lpstr>
      <vt:lpstr>Anatomy of a SLURM script</vt:lpstr>
      <vt:lpstr>Anatomy of a SLURM script</vt:lpstr>
      <vt:lpstr>Anatomy of a SLURM script</vt:lpstr>
      <vt:lpstr>Anatomy of a SLURM script</vt:lpstr>
      <vt:lpstr>Anatomy of a SLURM script</vt:lpstr>
      <vt:lpstr>Anatomy of a SLURM script</vt:lpstr>
      <vt:lpstr>For jobs with lots of output, add this to the end of your SLURM script</vt:lpstr>
      <vt:lpstr>Copying files</vt:lpstr>
      <vt:lpstr>Copying files to a remote computer</vt:lpstr>
      <vt:lpstr>Copying files between computers</vt:lpstr>
      <vt:lpstr>Copying files between computers</vt:lpstr>
      <vt:lpstr>Copying files between computers</vt:lpstr>
      <vt:lpstr>Copying files between computers</vt:lpstr>
      <vt:lpstr>Copying files to a remote computer</vt:lpstr>
      <vt:lpstr>Copying directories to a remote computer</vt:lpstr>
      <vt:lpstr>Copying from a remote computer</vt:lpstr>
      <vt:lpstr>Compress big files before moving them</vt:lpstr>
      <vt:lpstr>Compressing files with gzip</vt:lpstr>
      <vt:lpstr>Compressing files with gzip</vt:lpstr>
      <vt:lpstr>Working with zipped files</vt:lpstr>
      <vt:lpstr>Creating archives with tar</vt:lpstr>
      <vt:lpstr>Creating archives with tar</vt:lpstr>
      <vt:lpstr>PowerPoint Presentation</vt:lpstr>
      <vt:lpstr>Verifying data integrity</vt:lpstr>
      <vt:lpstr>Verifying data integrity</vt:lpstr>
      <vt:lpstr>Verifying data integrity</vt:lpstr>
      <vt:lpstr>Verifying data integrity with md5sum</vt:lpstr>
      <vt:lpstr>Extras</vt:lpstr>
      <vt:lpstr>Bigger, more sophisticated copies</vt:lpstr>
      <vt:lpstr>Synchronizing directories with rsync</vt:lpstr>
      <vt:lpstr>Synchronizing directories with rsync</vt:lpstr>
      <vt:lpstr>rsync: mind the '/'</vt:lpstr>
      <vt:lpstr>Synchronizing directories with rsync</vt:lpstr>
      <vt:lpstr>Getting data</vt:lpstr>
      <vt:lpstr>Downloading data with wget</vt:lpstr>
      <vt:lpstr>Downloading data with wget</vt:lpstr>
      <vt:lpstr>Downloading data with curl</vt:lpstr>
      <vt:lpstr>Downloading data with curl</vt:lpstr>
      <vt:lpstr>Moving files with a GUI</vt:lpstr>
      <vt:lpstr>PowerPoint Presentation</vt:lpstr>
      <vt:lpstr>Authentication with SSH keys</vt:lpstr>
      <vt:lpstr>Authentication with SSH keys</vt:lpstr>
      <vt:lpstr>Authentication with SSH keys</vt:lpstr>
      <vt:lpstr>Authentication with SSH keys</vt:lpstr>
      <vt:lpstr>Authentication with SSH keys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Alverson</dc:creator>
  <cp:lastModifiedBy>Andrew Alverson</cp:lastModifiedBy>
  <cp:revision>1105</cp:revision>
  <cp:lastPrinted>2016-02-15T20:46:26Z</cp:lastPrinted>
  <dcterms:created xsi:type="dcterms:W3CDTF">2013-01-08T16:50:50Z</dcterms:created>
  <dcterms:modified xsi:type="dcterms:W3CDTF">2026-02-08T23:06:16Z</dcterms:modified>
</cp:coreProperties>
</file>