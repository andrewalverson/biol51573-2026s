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5"/>
  </p:notesMasterIdLst>
  <p:handoutMasterIdLst>
    <p:handoutMasterId r:id="rId36"/>
  </p:handoutMasterIdLst>
  <p:sldIdLst>
    <p:sldId id="329" r:id="rId2"/>
    <p:sldId id="328" r:id="rId3"/>
    <p:sldId id="326" r:id="rId4"/>
    <p:sldId id="327" r:id="rId5"/>
    <p:sldId id="330" r:id="rId6"/>
    <p:sldId id="331" r:id="rId7"/>
    <p:sldId id="332" r:id="rId8"/>
    <p:sldId id="333" r:id="rId9"/>
    <p:sldId id="334" r:id="rId10"/>
    <p:sldId id="343" r:id="rId11"/>
    <p:sldId id="344" r:id="rId12"/>
    <p:sldId id="346" r:id="rId13"/>
    <p:sldId id="347" r:id="rId14"/>
    <p:sldId id="349" r:id="rId15"/>
    <p:sldId id="348" r:id="rId16"/>
    <p:sldId id="352" r:id="rId17"/>
    <p:sldId id="284" r:id="rId18"/>
    <p:sldId id="267" r:id="rId19"/>
    <p:sldId id="268" r:id="rId20"/>
    <p:sldId id="288" r:id="rId21"/>
    <p:sldId id="290" r:id="rId22"/>
    <p:sldId id="289" r:id="rId23"/>
    <p:sldId id="286" r:id="rId24"/>
    <p:sldId id="269" r:id="rId25"/>
    <p:sldId id="270" r:id="rId26"/>
    <p:sldId id="271" r:id="rId27"/>
    <p:sldId id="272" r:id="rId28"/>
    <p:sldId id="273" r:id="rId29"/>
    <p:sldId id="274" r:id="rId30"/>
    <p:sldId id="275" r:id="rId31"/>
    <p:sldId id="291" r:id="rId32"/>
    <p:sldId id="345" r:id="rId33"/>
    <p:sldId id="341" r:id="rId3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prnWhat="handouts2" frameSlides="1"/>
  <p:clrMru>
    <a:srgbClr val="0432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 vertBarState="minimized">
    <p:restoredLeft sz="50000"/>
    <p:restoredTop sz="95600" autoAdjust="0"/>
  </p:normalViewPr>
  <p:slideViewPr>
    <p:cSldViewPr snapToGrid="0" snapToObjects="1">
      <p:cViewPr varScale="1">
        <p:scale>
          <a:sx n="153" d="100"/>
          <a:sy n="153" d="100"/>
        </p:scale>
        <p:origin x="1936" y="17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" d="1"/>
        <a:sy n="1" d="1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handoutMaster" Target="handoutMasters/handout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0836F12-EC0D-0343-8C1A-C7DE24416774}" type="datetimeFigureOut">
              <a:rPr lang="en-US" smtClean="0"/>
              <a:t>2/1/26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49F8EA-6E15-0D43-B8B8-D1E13E5BB6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206432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563B117-C548-C24D-B5EC-9EEE3D79DFC1}" type="datetimeFigureOut">
              <a:rPr lang="en-US" smtClean="0"/>
              <a:t>2/1/26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57CD0FA-6A7B-8444-A447-3B5AA0B242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66763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7CD0FA-6A7B-8444-A447-3B5AA0B24289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085636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7CD0FA-6A7B-8444-A447-3B5AA0B24289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674762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7CD0FA-6A7B-8444-A447-3B5AA0B24289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877656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7CD0FA-6A7B-8444-A447-3B5AA0B24289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878887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7CD0FA-6A7B-8444-A447-3B5AA0B24289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401861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7CD0FA-6A7B-8444-A447-3B5AA0B24289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58787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7CD0FA-6A7B-8444-A447-3B5AA0B24289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62942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7CD0FA-6A7B-8444-A447-3B5AA0B24289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562681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7CD0FA-6A7B-8444-A447-3B5AA0B24289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601068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7CD0FA-6A7B-8444-A447-3B5AA0B24289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888200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finished 06 Feb 2017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7CD0FA-6A7B-8444-A447-3B5AA0B24289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562681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1/29/2014 - finished class #5 at this slide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6493FC5-10B4-FD42-83FB-5200DAB4E0AD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762550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7CD0FA-6A7B-8444-A447-3B5AA0B24289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17145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7CD0FA-6A7B-8444-A447-3B5AA0B24289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58787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539F5D-AA60-3342-98DF-B6AF9FAAD332}" type="datetimeFigureOut">
              <a:rPr lang="en-US" smtClean="0"/>
              <a:t>2/1/26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492F12-F120-0D48-BEA4-7DA610DE9C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305934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539F5D-AA60-3342-98DF-B6AF9FAAD332}" type="datetimeFigureOut">
              <a:rPr lang="en-US" smtClean="0"/>
              <a:t>2/1/26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492F12-F120-0D48-BEA4-7DA610DE9C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12164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539F5D-AA60-3342-98DF-B6AF9FAAD332}" type="datetimeFigureOut">
              <a:rPr lang="en-US" smtClean="0"/>
              <a:t>2/1/26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492F12-F120-0D48-BEA4-7DA610DE9C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162957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539F5D-AA60-3342-98DF-B6AF9FAAD332}" type="datetimeFigureOut">
              <a:rPr lang="en-US" smtClean="0"/>
              <a:t>2/1/26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492F12-F120-0D48-BEA4-7DA610DE9C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30287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539F5D-AA60-3342-98DF-B6AF9FAAD332}" type="datetimeFigureOut">
              <a:rPr lang="en-US" smtClean="0"/>
              <a:t>2/1/26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492F12-F120-0D48-BEA4-7DA610DE9C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99704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539F5D-AA60-3342-98DF-B6AF9FAAD332}" type="datetimeFigureOut">
              <a:rPr lang="en-US" smtClean="0"/>
              <a:t>2/1/26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492F12-F120-0D48-BEA4-7DA610DE9C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96174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539F5D-AA60-3342-98DF-B6AF9FAAD332}" type="datetimeFigureOut">
              <a:rPr lang="en-US" smtClean="0"/>
              <a:t>2/1/26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492F12-F120-0D48-BEA4-7DA610DE9C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91715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539F5D-AA60-3342-98DF-B6AF9FAAD332}" type="datetimeFigureOut">
              <a:rPr lang="en-US" smtClean="0"/>
              <a:t>2/1/26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492F12-F120-0D48-BEA4-7DA610DE9C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50018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539F5D-AA60-3342-98DF-B6AF9FAAD332}" type="datetimeFigureOut">
              <a:rPr lang="en-US" smtClean="0"/>
              <a:t>2/1/26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492F12-F120-0D48-BEA4-7DA610DE9C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203074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539F5D-AA60-3342-98DF-B6AF9FAAD332}" type="datetimeFigureOut">
              <a:rPr lang="en-US" smtClean="0"/>
              <a:t>2/1/26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492F12-F120-0D48-BEA4-7DA610DE9C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55962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539F5D-AA60-3342-98DF-B6AF9FAAD332}" type="datetimeFigureOut">
              <a:rPr lang="en-US" smtClean="0"/>
              <a:t>2/1/26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492F12-F120-0D48-BEA4-7DA610DE9C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487147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0539F5D-AA60-3342-98DF-B6AF9FAAD332}" type="datetimeFigureOut">
              <a:rPr lang="en-US" smtClean="0"/>
              <a:t>2/1/26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8492F12-F120-0D48-BEA4-7DA610DE9C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23389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tiff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libreoffice.org/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8CE6940C-CEFF-DB46-BDBB-A5267565C7D9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3615" r="13615"/>
          <a:stretch/>
        </p:blipFill>
        <p:spPr>
          <a:xfrm>
            <a:off x="7793048" y="2304876"/>
            <a:ext cx="990889" cy="9144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93677" y="252069"/>
            <a:ext cx="8436747" cy="862385"/>
          </a:xfrm>
        </p:spPr>
        <p:txBody>
          <a:bodyPr>
            <a:normAutofit/>
          </a:bodyPr>
          <a:lstStyle/>
          <a:p>
            <a:r>
              <a:rPr lang="en-US" sz="3600" dirty="0"/>
              <a:t>Text editors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64903" y="1155522"/>
            <a:ext cx="8663865" cy="49471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682625" lvl="1" indent="-457200">
              <a:lnSpc>
                <a:spcPct val="110000"/>
              </a:lnSpc>
              <a:buFont typeface="+mj-lt"/>
              <a:buAutoNum type="arabicPeriod"/>
            </a:pPr>
            <a:r>
              <a:rPr lang="en-US" sz="2400" dirty="0" err="1"/>
              <a:t>nano</a:t>
            </a:r>
            <a:r>
              <a:rPr lang="en-US" sz="2400" dirty="0"/>
              <a:t> (</a:t>
            </a:r>
            <a:r>
              <a:rPr lang="en-US" sz="2400" u="sng" dirty="0" err="1"/>
              <a:t>n</a:t>
            </a:r>
            <a:r>
              <a:rPr lang="en-US" sz="2400" dirty="0" err="1"/>
              <a:t>ano's</a:t>
            </a:r>
            <a:r>
              <a:rPr lang="en-US" sz="2400" dirty="0"/>
              <a:t> </a:t>
            </a:r>
            <a:r>
              <a:rPr lang="en-US" sz="2400" u="sng" dirty="0"/>
              <a:t>ano</a:t>
            </a:r>
            <a:r>
              <a:rPr lang="en-US" sz="2400" dirty="0"/>
              <a:t>ther editor)</a:t>
            </a:r>
          </a:p>
          <a:p>
            <a:pPr marL="1314450" lvl="2" indent="-342900">
              <a:lnSpc>
                <a:spcPct val="110000"/>
              </a:lnSpc>
              <a:buFont typeface="Lucida Grande"/>
              <a:buChar char="–"/>
            </a:pPr>
            <a:r>
              <a:rPr lang="en-US" sz="2400" dirty="0"/>
              <a:t>quick and dirty text editing from the command line</a:t>
            </a:r>
          </a:p>
          <a:p>
            <a:pPr marL="682625" lvl="1" indent="-457200">
              <a:lnSpc>
                <a:spcPct val="110000"/>
              </a:lnSpc>
              <a:buFont typeface="+mj-lt"/>
              <a:buAutoNum type="arabicPeriod"/>
            </a:pPr>
            <a:r>
              <a:rPr lang="en-US" sz="2400" dirty="0"/>
              <a:t>BBEdit</a:t>
            </a:r>
          </a:p>
          <a:p>
            <a:pPr marL="1314450" lvl="2" indent="-342900">
              <a:lnSpc>
                <a:spcPct val="110000"/>
              </a:lnSpc>
              <a:buFont typeface="Lucida Grande"/>
              <a:buChar char="–"/>
            </a:pPr>
            <a:r>
              <a:rPr lang="en-US" sz="2400" dirty="0"/>
              <a:t>all-around workhorse for GUI-based text editing</a:t>
            </a:r>
          </a:p>
          <a:p>
            <a:pPr marL="1314450" lvl="2" indent="-342900">
              <a:lnSpc>
                <a:spcPct val="110000"/>
              </a:lnSpc>
              <a:buFont typeface="Lucida Grande"/>
              <a:buChar char="–"/>
            </a:pPr>
            <a:r>
              <a:rPr lang="en-US" sz="2400" dirty="0"/>
              <a:t>some good features for programming</a:t>
            </a:r>
          </a:p>
          <a:p>
            <a:pPr marL="1314450" lvl="2" indent="-342900">
              <a:lnSpc>
                <a:spcPct val="110000"/>
              </a:lnSpc>
              <a:buFont typeface="Lucida Grande"/>
              <a:buChar char="–"/>
            </a:pPr>
            <a:r>
              <a:rPr lang="en-US" sz="2400" dirty="0"/>
              <a:t>call it with </a:t>
            </a:r>
            <a:r>
              <a:rPr lang="en-US" sz="2400" dirty="0" err="1">
                <a:solidFill>
                  <a:srgbClr val="0000FF"/>
                </a:solidFill>
                <a:latin typeface="Courier"/>
                <a:cs typeface="Courier"/>
              </a:rPr>
              <a:t>bbedit</a:t>
            </a:r>
            <a:r>
              <a:rPr lang="en-US" sz="2400" dirty="0">
                <a:latin typeface="Courier"/>
                <a:cs typeface="Courier"/>
              </a:rPr>
              <a:t> </a:t>
            </a:r>
            <a:r>
              <a:rPr lang="en-US" sz="2400" dirty="0">
                <a:cs typeface="Courier"/>
              </a:rPr>
              <a:t>or</a:t>
            </a:r>
            <a:r>
              <a:rPr lang="en-US" sz="2400" dirty="0">
                <a:latin typeface="Courier"/>
                <a:cs typeface="Courier"/>
              </a:rPr>
              <a:t> </a:t>
            </a:r>
            <a:r>
              <a:rPr lang="en-US" sz="2400" dirty="0" err="1">
                <a:solidFill>
                  <a:srgbClr val="0000FF"/>
                </a:solidFill>
                <a:latin typeface="Courier"/>
                <a:cs typeface="Courier"/>
              </a:rPr>
              <a:t>bbedit</a:t>
            </a:r>
            <a:r>
              <a:rPr lang="en-US" sz="2400" dirty="0">
                <a:solidFill>
                  <a:srgbClr val="0000FF"/>
                </a:solidFill>
                <a:latin typeface="Courier"/>
                <a:cs typeface="Courier"/>
              </a:rPr>
              <a:t> </a:t>
            </a:r>
            <a:r>
              <a:rPr lang="en-US" sz="2400" u="sng" dirty="0">
                <a:solidFill>
                  <a:srgbClr val="0000FF"/>
                </a:solidFill>
                <a:latin typeface="Courier"/>
                <a:cs typeface="Courier"/>
              </a:rPr>
              <a:t>filename</a:t>
            </a:r>
          </a:p>
          <a:p>
            <a:pPr marL="682625" lvl="1" indent="-457200">
              <a:lnSpc>
                <a:spcPct val="110000"/>
              </a:lnSpc>
              <a:buFont typeface="+mj-lt"/>
              <a:buAutoNum type="arabicPeriod"/>
            </a:pPr>
            <a:r>
              <a:rPr lang="en-US" sz="2400" dirty="0"/>
              <a:t>Microsoft Visual Studio </a:t>
            </a:r>
          </a:p>
          <a:p>
            <a:pPr marL="1314450" lvl="2" indent="-342900">
              <a:lnSpc>
                <a:spcPct val="110000"/>
              </a:lnSpc>
              <a:buFont typeface="Lucida Grande"/>
              <a:buChar char="–"/>
            </a:pPr>
            <a:r>
              <a:rPr lang="en-US" sz="2400" dirty="0"/>
              <a:t>free</a:t>
            </a:r>
          </a:p>
          <a:p>
            <a:pPr marL="1314450" lvl="2" indent="-342900">
              <a:lnSpc>
                <a:spcPct val="110000"/>
              </a:lnSpc>
              <a:buFont typeface="Lucida Grande"/>
              <a:buChar char="–"/>
            </a:pPr>
            <a:r>
              <a:rPr lang="en-US" sz="2400" dirty="0"/>
              <a:t>great for programming</a:t>
            </a:r>
          </a:p>
          <a:p>
            <a:pPr marL="682625" lvl="1" indent="-457200">
              <a:lnSpc>
                <a:spcPct val="110000"/>
              </a:lnSpc>
              <a:buFont typeface="+mj-lt"/>
              <a:buAutoNum type="arabicPeriod"/>
            </a:pPr>
            <a:r>
              <a:rPr lang="en-US" sz="2400" dirty="0" err="1"/>
              <a:t>Aquamacs</a:t>
            </a:r>
            <a:endParaRPr lang="en-US" sz="2400" dirty="0"/>
          </a:p>
          <a:p>
            <a:pPr marL="1314450" lvl="2" indent="-342900">
              <a:lnSpc>
                <a:spcPct val="110000"/>
              </a:lnSpc>
              <a:buFont typeface="Lucida Grande"/>
              <a:buChar char="–"/>
            </a:pPr>
            <a:r>
              <a:rPr lang="en-US" sz="2400" i="1" dirty="0" err="1"/>
              <a:t>emacs</a:t>
            </a:r>
            <a:r>
              <a:rPr lang="en-US" sz="2400" i="1" dirty="0"/>
              <a:t> </a:t>
            </a:r>
            <a:r>
              <a:rPr lang="en-US" sz="2400" dirty="0"/>
              <a:t>under the hood</a:t>
            </a:r>
            <a:endParaRPr lang="en-US" sz="2400" i="1" dirty="0"/>
          </a:p>
          <a:p>
            <a:pPr marL="1314450" lvl="2" indent="-342900">
              <a:lnSpc>
                <a:spcPct val="110000"/>
              </a:lnSpc>
              <a:buFont typeface="Lucida Grande"/>
              <a:buChar char="–"/>
            </a:pPr>
            <a:r>
              <a:rPr lang="en-US" sz="2400" dirty="0"/>
              <a:t>good Mac-based editor for programming</a:t>
            </a:r>
          </a:p>
        </p:txBody>
      </p:sp>
      <p:pic>
        <p:nvPicPr>
          <p:cNvPr id="5" name="Picture 4" descr="aquamacs.tiff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93048" y="5126235"/>
            <a:ext cx="990889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3196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63753" y="308094"/>
            <a:ext cx="8436747" cy="862385"/>
          </a:xfrm>
        </p:spPr>
        <p:txBody>
          <a:bodyPr>
            <a:normAutofit/>
          </a:bodyPr>
          <a:lstStyle/>
          <a:p>
            <a:r>
              <a:rPr lang="en-US" sz="3600" dirty="0"/>
              <a:t>Quick aside about fonts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6557" y="1500906"/>
            <a:ext cx="7991139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4025" lvl="2" indent="-223838">
              <a:spcAft>
                <a:spcPts val="600"/>
              </a:spcAft>
              <a:buFont typeface="Arial"/>
              <a:buChar char="•"/>
            </a:pPr>
            <a:r>
              <a:rPr lang="en-US" sz="2400" dirty="0">
                <a:latin typeface="Calibri"/>
                <a:cs typeface="Calibri"/>
              </a:rPr>
              <a:t>Proportional vs. fixed-width (</a:t>
            </a:r>
            <a:r>
              <a:rPr lang="en-US" sz="2400" dirty="0" err="1">
                <a:latin typeface="Calibri"/>
                <a:cs typeface="Calibri"/>
              </a:rPr>
              <a:t>monospace</a:t>
            </a:r>
            <a:r>
              <a:rPr lang="en-US" sz="2400" dirty="0">
                <a:latin typeface="Calibri"/>
                <a:cs typeface="Calibri"/>
              </a:rPr>
              <a:t>) fonts</a:t>
            </a:r>
          </a:p>
          <a:p>
            <a:pPr marL="454025" lvl="2" indent="-223838">
              <a:spcAft>
                <a:spcPts val="600"/>
              </a:spcAft>
              <a:buFont typeface="Arial"/>
              <a:buChar char="•"/>
            </a:pPr>
            <a:r>
              <a:rPr lang="en-US" sz="2400" dirty="0">
                <a:latin typeface="Calibri"/>
                <a:cs typeface="Calibri"/>
              </a:rPr>
              <a:t>Get used to using and programming with </a:t>
            </a:r>
            <a:r>
              <a:rPr lang="en-US" sz="2400" dirty="0" err="1">
                <a:latin typeface="Calibri"/>
                <a:cs typeface="Calibri"/>
              </a:rPr>
              <a:t>monospace</a:t>
            </a:r>
            <a:r>
              <a:rPr lang="en-US" sz="2400" dirty="0">
                <a:latin typeface="Calibri"/>
                <a:cs typeface="Calibri"/>
              </a:rPr>
              <a:t> fonts</a:t>
            </a:r>
          </a:p>
          <a:p>
            <a:pPr marL="1370013" lvl="3" indent="-342900">
              <a:spcAft>
                <a:spcPts val="600"/>
              </a:spcAft>
              <a:buFont typeface="Lucida Grande"/>
              <a:buChar char="–"/>
            </a:pPr>
            <a:r>
              <a:rPr lang="en-US" sz="2200" dirty="0">
                <a:latin typeface="Courier"/>
                <a:cs typeface="Courier"/>
              </a:rPr>
              <a:t>e.g., Courier</a:t>
            </a:r>
            <a:r>
              <a:rPr lang="en-US" sz="2200" dirty="0">
                <a:latin typeface="Calibri"/>
                <a:cs typeface="Calibri"/>
              </a:rPr>
              <a:t>,  </a:t>
            </a:r>
            <a:r>
              <a:rPr lang="en-US" sz="2200" dirty="0">
                <a:latin typeface="Liberation Mono"/>
                <a:cs typeface="Liberation Mono"/>
              </a:rPr>
              <a:t>Liberation Mono</a:t>
            </a:r>
            <a:r>
              <a:rPr lang="en-US" sz="2200" dirty="0">
                <a:latin typeface="Calibri"/>
                <a:cs typeface="Calibri"/>
              </a:rPr>
              <a:t>,  </a:t>
            </a:r>
            <a:r>
              <a:rPr lang="en-US" sz="2200" dirty="0">
                <a:latin typeface="Monaco"/>
                <a:cs typeface="Monaco"/>
              </a:rPr>
              <a:t>Monaco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49593284"/>
              </p:ext>
            </p:extLst>
          </p:nvPr>
        </p:nvGraphicFramePr>
        <p:xfrm>
          <a:off x="2301098" y="3200835"/>
          <a:ext cx="4562056" cy="2202768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18607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7598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50692">
                <a:tc>
                  <a:txBody>
                    <a:bodyPr/>
                    <a:lstStyle/>
                    <a:p>
                      <a:pPr algn="ctr"/>
                      <a:r>
                        <a:rPr lang="en-US" sz="2600" dirty="0"/>
                        <a:t>Proportion</a:t>
                      </a:r>
                      <a:r>
                        <a:rPr lang="en-US" sz="2600" dirty="0">
                          <a:latin typeface="Calibri"/>
                          <a:cs typeface="Calibri"/>
                        </a:rPr>
                        <a:t>al</a:t>
                      </a:r>
                    </a:p>
                  </a:txBody>
                  <a:tcPr marL="135787" marR="135787" marT="67893" marB="67893"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600" dirty="0" err="1">
                          <a:latin typeface="Courier"/>
                          <a:cs typeface="Courier"/>
                        </a:rPr>
                        <a:t>Monospace</a:t>
                      </a:r>
                      <a:endParaRPr lang="en-US" sz="2600" dirty="0">
                        <a:latin typeface="Courier"/>
                        <a:cs typeface="Courier"/>
                      </a:endParaRPr>
                    </a:p>
                  </a:txBody>
                  <a:tcPr marL="135787" marR="135787" marT="67893" marB="67893"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0692">
                <a:tc>
                  <a:txBody>
                    <a:bodyPr/>
                    <a:lstStyle/>
                    <a:p>
                      <a:pPr algn="ctr"/>
                      <a:r>
                        <a:rPr lang="en-US" sz="2600" dirty="0" err="1"/>
                        <a:t>AAAccgGTT</a:t>
                      </a:r>
                      <a:endParaRPr lang="en-US" sz="2600" dirty="0"/>
                    </a:p>
                  </a:txBody>
                  <a:tcPr marL="135787" marR="135787" marT="67893" marB="67893"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600" dirty="0" err="1">
                          <a:latin typeface="Courier"/>
                          <a:cs typeface="Courier"/>
                        </a:rPr>
                        <a:t>AAAccgGTT</a:t>
                      </a:r>
                      <a:endParaRPr lang="en-US" sz="2600" dirty="0">
                        <a:latin typeface="Courier"/>
                        <a:cs typeface="Courier"/>
                      </a:endParaRPr>
                    </a:p>
                  </a:txBody>
                  <a:tcPr marL="135787" marR="135787" marT="67893" marB="67893"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50692">
                <a:tc>
                  <a:txBody>
                    <a:bodyPr/>
                    <a:lstStyle/>
                    <a:p>
                      <a:pPr marL="0" marR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600" dirty="0">
                          <a:latin typeface="Calibri"/>
                          <a:cs typeface="Calibri"/>
                        </a:rPr>
                        <a:t>|||||||||</a:t>
                      </a:r>
                    </a:p>
                  </a:txBody>
                  <a:tcPr marL="135787" marR="135787" marT="67893" marB="67893"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600" dirty="0">
                          <a:latin typeface="Courier"/>
                          <a:cs typeface="Courier"/>
                        </a:rPr>
                        <a:t>|||||||||</a:t>
                      </a:r>
                    </a:p>
                  </a:txBody>
                  <a:tcPr marL="135787" marR="135787" marT="67893" marB="67893"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50692">
                <a:tc>
                  <a:txBody>
                    <a:bodyPr/>
                    <a:lstStyle/>
                    <a:p>
                      <a:pPr algn="ctr"/>
                      <a:r>
                        <a:rPr lang="en-US" sz="2600" dirty="0"/>
                        <a:t>AAG--TAAC</a:t>
                      </a:r>
                    </a:p>
                  </a:txBody>
                  <a:tcPr marL="135787" marR="135787" marT="67893" marB="67893"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600" dirty="0">
                          <a:latin typeface="Courier"/>
                          <a:cs typeface="Courier"/>
                        </a:rPr>
                        <a:t>AAG--TAAC</a:t>
                      </a:r>
                    </a:p>
                  </a:txBody>
                  <a:tcPr marL="135787" marR="135787" marT="67893" marB="67893"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588293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75882" y="308094"/>
            <a:ext cx="8436747" cy="862385"/>
          </a:xfrm>
        </p:spPr>
        <p:txBody>
          <a:bodyPr>
            <a:normAutofit/>
          </a:bodyPr>
          <a:lstStyle/>
          <a:p>
            <a:pPr algn="l"/>
            <a:r>
              <a:rPr lang="en-US" sz="3600" dirty="0"/>
              <a:t>Text files and line breaks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5882" y="1295484"/>
            <a:ext cx="8503423" cy="5083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lvl="1" indent="-285750">
              <a:lnSpc>
                <a:spcPct val="110000"/>
              </a:lnSpc>
              <a:buFont typeface="Arial"/>
              <a:buChar char="•"/>
            </a:pPr>
            <a:r>
              <a:rPr lang="en-US" sz="2600" dirty="0"/>
              <a:t>Use PLAIN TEXT format</a:t>
            </a:r>
          </a:p>
          <a:p>
            <a:pPr marL="858838" lvl="2" indent="-285750">
              <a:lnSpc>
                <a:spcPct val="110000"/>
              </a:lnSpc>
              <a:buFont typeface="Arial"/>
              <a:buChar char="•"/>
            </a:pPr>
            <a:r>
              <a:rPr lang="en-US" sz="2200" dirty="0"/>
              <a:t>NO Microsoft Office documents</a:t>
            </a:r>
          </a:p>
          <a:p>
            <a:pPr lvl="2">
              <a:lnSpc>
                <a:spcPct val="110000"/>
              </a:lnSpc>
            </a:pPr>
            <a:r>
              <a:rPr lang="en-US" sz="2200" dirty="0">
                <a:latin typeface="Courier"/>
                <a:cs typeface="Courier"/>
              </a:rPr>
              <a:t>$ </a:t>
            </a:r>
            <a:r>
              <a:rPr lang="en-US" sz="2200" dirty="0">
                <a:solidFill>
                  <a:srgbClr val="0000FF"/>
                </a:solidFill>
                <a:latin typeface="Courier"/>
                <a:cs typeface="Courier"/>
              </a:rPr>
              <a:t>less -S </a:t>
            </a:r>
            <a:r>
              <a:rPr lang="en-US" sz="2200" dirty="0" err="1"/>
              <a:t>watermelon_genes.gff</a:t>
            </a:r>
            <a:endParaRPr lang="en-US" sz="2200" dirty="0"/>
          </a:p>
          <a:p>
            <a:pPr lvl="2">
              <a:lnSpc>
                <a:spcPct val="110000"/>
              </a:lnSpc>
              <a:spcAft>
                <a:spcPts val="1000"/>
              </a:spcAft>
            </a:pPr>
            <a:r>
              <a:rPr lang="en-US" sz="2200" dirty="0">
                <a:latin typeface="Courier"/>
                <a:cs typeface="Courier"/>
              </a:rPr>
              <a:t>$ </a:t>
            </a:r>
            <a:r>
              <a:rPr lang="en-US" sz="2200" dirty="0">
                <a:solidFill>
                  <a:srgbClr val="0000FF"/>
                </a:solidFill>
                <a:latin typeface="Courier"/>
                <a:cs typeface="Courier"/>
              </a:rPr>
              <a:t>less -S </a:t>
            </a:r>
            <a:r>
              <a:rPr lang="en-US" sz="2200" dirty="0" err="1"/>
              <a:t>watermelon_genes.docx</a:t>
            </a:r>
            <a:endParaRPr lang="en-US" sz="2200" dirty="0"/>
          </a:p>
          <a:p>
            <a:pPr marL="858838" lvl="2" indent="-285750">
              <a:lnSpc>
                <a:spcPct val="110000"/>
              </a:lnSpc>
              <a:buFont typeface="Arial"/>
              <a:buChar char="•"/>
            </a:pPr>
            <a:r>
              <a:rPr lang="en-US" sz="2200" dirty="0"/>
              <a:t>Line breaks matter!</a:t>
            </a:r>
          </a:p>
          <a:p>
            <a:pPr marL="682625" lvl="2">
              <a:lnSpc>
                <a:spcPct val="110000"/>
              </a:lnSpc>
            </a:pPr>
            <a:r>
              <a:rPr lang="en-US" sz="2200" dirty="0">
                <a:solidFill>
                  <a:srgbClr val="0000FF"/>
                </a:solidFill>
                <a:latin typeface="Courier"/>
                <a:cs typeface="Courier"/>
              </a:rPr>
              <a:t>		/n</a:t>
            </a:r>
            <a:r>
              <a:rPr lang="en-US" sz="2200" dirty="0"/>
              <a:t> – newline</a:t>
            </a:r>
          </a:p>
          <a:p>
            <a:pPr marL="682625" lvl="2">
              <a:lnSpc>
                <a:spcPct val="110000"/>
              </a:lnSpc>
            </a:pPr>
            <a:r>
              <a:rPr lang="en-US" sz="2200" dirty="0">
                <a:solidFill>
                  <a:srgbClr val="0000FF"/>
                </a:solidFill>
                <a:latin typeface="Courier"/>
                <a:cs typeface="Courier"/>
              </a:rPr>
              <a:t>		/r</a:t>
            </a:r>
            <a:r>
              <a:rPr lang="en-US" sz="2200" dirty="0"/>
              <a:t> – DOS- and Mac-type carriage return</a:t>
            </a:r>
          </a:p>
          <a:p>
            <a:pPr marL="682625" lvl="2">
              <a:lnSpc>
                <a:spcPct val="110000"/>
              </a:lnSpc>
            </a:pPr>
            <a:r>
              <a:rPr lang="en-US" sz="2200" dirty="0">
                <a:solidFill>
                  <a:srgbClr val="0000FF"/>
                </a:solidFill>
                <a:latin typeface="Courier"/>
                <a:cs typeface="Courier"/>
              </a:rPr>
              <a:t>		^M</a:t>
            </a:r>
            <a:r>
              <a:rPr lang="en-US" sz="2200" dirty="0"/>
              <a:t> – How Macs display </a:t>
            </a:r>
            <a:r>
              <a:rPr lang="en-US" sz="2200" dirty="0">
                <a:solidFill>
                  <a:srgbClr val="0000FF"/>
                </a:solidFill>
                <a:latin typeface="Courier"/>
                <a:cs typeface="Courier"/>
              </a:rPr>
              <a:t>/r</a:t>
            </a:r>
          </a:p>
          <a:p>
            <a:pPr lvl="2"/>
            <a:r>
              <a:rPr lang="en-US" sz="2200" dirty="0">
                <a:latin typeface="Courier"/>
                <a:cs typeface="Courier"/>
              </a:rPr>
              <a:t>$ </a:t>
            </a:r>
            <a:r>
              <a:rPr lang="en-US" sz="2200" dirty="0">
                <a:solidFill>
                  <a:srgbClr val="0000FF"/>
                </a:solidFill>
                <a:latin typeface="Courier"/>
                <a:cs typeface="Courier"/>
              </a:rPr>
              <a:t>less </a:t>
            </a:r>
            <a:r>
              <a:rPr lang="en-US" sz="2200" dirty="0" err="1"/>
              <a:t>watermelon_genes.unix.txt</a:t>
            </a:r>
            <a:endParaRPr lang="en-US" sz="2200" dirty="0"/>
          </a:p>
          <a:p>
            <a:pPr lvl="2"/>
            <a:r>
              <a:rPr lang="en-US" sz="2200" dirty="0">
                <a:latin typeface="Courier"/>
                <a:cs typeface="Courier"/>
              </a:rPr>
              <a:t>$ </a:t>
            </a:r>
            <a:r>
              <a:rPr lang="en-US" sz="2200" dirty="0">
                <a:solidFill>
                  <a:srgbClr val="0000FF"/>
                </a:solidFill>
                <a:latin typeface="Courier"/>
                <a:cs typeface="Courier"/>
              </a:rPr>
              <a:t>less </a:t>
            </a:r>
            <a:r>
              <a:rPr lang="en-US" sz="2200" dirty="0" err="1"/>
              <a:t>watermelon_genes.mac.txt</a:t>
            </a:r>
            <a:endParaRPr lang="en-US" sz="2200" dirty="0"/>
          </a:p>
          <a:p>
            <a:pPr lvl="2"/>
            <a:endParaRPr lang="en-US" sz="2200" dirty="0"/>
          </a:p>
          <a:p>
            <a:pPr marL="287338" lvl="1" indent="-282575">
              <a:buFont typeface="Arial" panose="020B0604020202020204" pitchFamily="34" charset="0"/>
              <a:buChar char="•"/>
            </a:pPr>
            <a:r>
              <a:rPr lang="en-US" sz="2600" dirty="0">
                <a:hlinkClick r:id="rId3"/>
              </a:rPr>
              <a:t>Free Microsoft alternatives</a:t>
            </a:r>
            <a:r>
              <a:rPr lang="en-US" sz="2600" dirty="0"/>
              <a:t> tend not to introduce weirdness into files the way Microsoft does</a:t>
            </a:r>
          </a:p>
        </p:txBody>
      </p:sp>
    </p:spTree>
    <p:extLst>
      <p:ext uri="{BB962C8B-B14F-4D97-AF65-F5344CB8AC3E}">
        <p14:creationId xmlns:p14="http://schemas.microsoft.com/office/powerpoint/2010/main" val="310413090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94244" y="308094"/>
            <a:ext cx="8436747" cy="862385"/>
          </a:xfrm>
        </p:spPr>
        <p:txBody>
          <a:bodyPr>
            <a:normAutofit/>
          </a:bodyPr>
          <a:lstStyle/>
          <a:p>
            <a:pPr algn="l"/>
            <a:r>
              <a:rPr lang="en-US" sz="3600" dirty="0"/>
              <a:t>Text files and line breaks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4244" y="1592772"/>
            <a:ext cx="8576051" cy="1708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4025" lvl="2" indent="-223838">
              <a:spcAft>
                <a:spcPts val="1200"/>
              </a:spcAft>
              <a:buFont typeface="Arial"/>
              <a:buChar char="•"/>
            </a:pPr>
            <a:r>
              <a:rPr lang="en-US" sz="2000" dirty="0">
                <a:latin typeface="Calibri"/>
                <a:cs typeface="Calibri"/>
              </a:rPr>
              <a:t>If a program can't read a file, or dies without running, check the line breaks.</a:t>
            </a:r>
          </a:p>
          <a:p>
            <a:pPr marL="454025" lvl="2" indent="-223838">
              <a:spcAft>
                <a:spcPts val="600"/>
              </a:spcAft>
              <a:buFont typeface="Arial"/>
              <a:buChar char="•"/>
            </a:pPr>
            <a:r>
              <a:rPr lang="en-US" sz="2000" dirty="0">
                <a:latin typeface="Calibri"/>
                <a:cs typeface="Calibri"/>
              </a:rPr>
              <a:t>There are lots of line-break converter utilities</a:t>
            </a:r>
          </a:p>
          <a:p>
            <a:pPr marL="454025" lvl="2" indent="-223838">
              <a:spcAft>
                <a:spcPts val="1200"/>
              </a:spcAft>
              <a:buFont typeface="Arial"/>
              <a:buChar char="•"/>
            </a:pPr>
            <a:r>
              <a:rPr lang="en-US" sz="2000" dirty="0">
                <a:latin typeface="Calibri"/>
                <a:cs typeface="Calibri"/>
              </a:rPr>
              <a:t>Can also use 'Save As' in BBEdit to change line breaks.</a:t>
            </a:r>
          </a:p>
          <a:p>
            <a:pPr marL="454025" lvl="2" indent="-223838">
              <a:spcAft>
                <a:spcPts val="1200"/>
              </a:spcAft>
              <a:buFont typeface="Arial"/>
              <a:buChar char="•"/>
            </a:pPr>
            <a:r>
              <a:rPr lang="en-US" sz="2000" dirty="0">
                <a:latin typeface="Calibri"/>
                <a:cs typeface="Calibri"/>
              </a:rPr>
              <a:t>We'll write an easy script to change line breaks later on.</a:t>
            </a:r>
          </a:p>
        </p:txBody>
      </p:sp>
    </p:spTree>
    <p:extLst>
      <p:ext uri="{BB962C8B-B14F-4D97-AF65-F5344CB8AC3E}">
        <p14:creationId xmlns:p14="http://schemas.microsoft.com/office/powerpoint/2010/main" val="400328112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64627" y="176523"/>
            <a:ext cx="8436747" cy="862385"/>
          </a:xfrm>
        </p:spPr>
        <p:txBody>
          <a:bodyPr>
            <a:normAutofit/>
          </a:bodyPr>
          <a:lstStyle/>
          <a:p>
            <a:r>
              <a:rPr lang="en-US" sz="3000" dirty="0"/>
              <a:t>Common Unix commands: Copying and moving files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9623" y="1240194"/>
            <a:ext cx="8723875" cy="49141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5425" lvl="1">
              <a:spcAft>
                <a:spcPts val="400"/>
              </a:spcAft>
            </a:pPr>
            <a:r>
              <a:rPr lang="en-US" sz="2400" dirty="0">
                <a:cs typeface="Courier"/>
              </a:rPr>
              <a:t>Moving and Copying Files</a:t>
            </a:r>
          </a:p>
          <a:p>
            <a:pPr marL="225425" lvl="1">
              <a:spcAft>
                <a:spcPts val="400"/>
              </a:spcAft>
            </a:pPr>
            <a:endParaRPr lang="en-US" sz="800" dirty="0">
              <a:latin typeface="Courier"/>
              <a:cs typeface="Courier"/>
            </a:endParaRPr>
          </a:p>
          <a:p>
            <a:pPr marL="225425" lvl="1">
              <a:spcAft>
                <a:spcPts val="400"/>
              </a:spcAft>
            </a:pPr>
            <a:r>
              <a:rPr lang="en-US" sz="2400" dirty="0">
                <a:latin typeface="Courier"/>
                <a:cs typeface="Courier"/>
              </a:rPr>
              <a:t>$ </a:t>
            </a:r>
            <a:r>
              <a:rPr lang="en-US" sz="2400" dirty="0" err="1">
                <a:solidFill>
                  <a:srgbClr val="0000FF"/>
                </a:solidFill>
                <a:latin typeface="Courier"/>
                <a:cs typeface="Courier"/>
              </a:rPr>
              <a:t>cp</a:t>
            </a:r>
            <a:r>
              <a:rPr lang="en-US" sz="2400" dirty="0">
                <a:solidFill>
                  <a:srgbClr val="0000FF"/>
                </a:solidFill>
                <a:latin typeface="Courier"/>
                <a:cs typeface="Courier"/>
              </a:rPr>
              <a:t> </a:t>
            </a:r>
            <a:r>
              <a:rPr lang="en-US" sz="2400" u="sng" dirty="0">
                <a:solidFill>
                  <a:srgbClr val="008000"/>
                </a:solidFill>
                <a:latin typeface="Courier"/>
                <a:cs typeface="Courier"/>
              </a:rPr>
              <a:t>source file</a:t>
            </a:r>
            <a:r>
              <a:rPr lang="en-US" sz="2400" dirty="0">
                <a:solidFill>
                  <a:srgbClr val="3366FF"/>
                </a:solidFill>
                <a:latin typeface="Courier"/>
                <a:cs typeface="Courier"/>
              </a:rPr>
              <a:t> </a:t>
            </a:r>
            <a:r>
              <a:rPr lang="en-US" sz="2400" u="sng" dirty="0">
                <a:solidFill>
                  <a:srgbClr val="FF0000"/>
                </a:solidFill>
                <a:latin typeface="Courier"/>
                <a:cs typeface="Courier"/>
              </a:rPr>
              <a:t>target file</a:t>
            </a:r>
            <a:r>
              <a:rPr lang="en-US" sz="2100" dirty="0">
                <a:solidFill>
                  <a:srgbClr val="3366FF"/>
                </a:solidFill>
                <a:latin typeface="Courier"/>
                <a:cs typeface="Courier"/>
              </a:rPr>
              <a:t> </a:t>
            </a:r>
            <a:r>
              <a:rPr lang="en-US" sz="2100" dirty="0">
                <a:latin typeface="Calibri"/>
                <a:cs typeface="Calibri"/>
              </a:rPr>
              <a:t>–   </a:t>
            </a:r>
            <a:r>
              <a:rPr lang="en-US" sz="2100" u="sng" dirty="0">
                <a:cs typeface="Calibri"/>
              </a:rPr>
              <a:t>c</a:t>
            </a:r>
            <a:r>
              <a:rPr lang="en-US" sz="2100" dirty="0">
                <a:cs typeface="Calibri"/>
              </a:rPr>
              <a:t>o</a:t>
            </a:r>
            <a:r>
              <a:rPr lang="en-US" sz="2100" u="sng" dirty="0">
                <a:cs typeface="Calibri"/>
              </a:rPr>
              <a:t>p</a:t>
            </a:r>
            <a:r>
              <a:rPr lang="en-US" sz="2100" dirty="0">
                <a:cs typeface="Calibri"/>
              </a:rPr>
              <a:t>y files</a:t>
            </a:r>
            <a:endParaRPr lang="en-US" sz="2100" dirty="0">
              <a:latin typeface="Calibri"/>
              <a:cs typeface="Calibri"/>
            </a:endParaRPr>
          </a:p>
          <a:p>
            <a:pPr marL="225425" lvl="1" indent="346075">
              <a:spcAft>
                <a:spcPts val="400"/>
              </a:spcAft>
            </a:pPr>
            <a:r>
              <a:rPr lang="en-US" sz="2000" dirty="0">
                <a:latin typeface="Courier"/>
                <a:cs typeface="Courier"/>
              </a:rPr>
              <a:t>$ </a:t>
            </a:r>
            <a:r>
              <a:rPr lang="en-US" sz="2000" dirty="0" err="1">
                <a:solidFill>
                  <a:srgbClr val="0000FF"/>
                </a:solidFill>
                <a:latin typeface="Courier"/>
                <a:cs typeface="Courier"/>
              </a:rPr>
              <a:t>cp</a:t>
            </a:r>
            <a:r>
              <a:rPr lang="en-US" sz="2000" dirty="0">
                <a:solidFill>
                  <a:srgbClr val="3366FF"/>
                </a:solidFill>
                <a:latin typeface="Courier"/>
                <a:cs typeface="Courier"/>
              </a:rPr>
              <a:t> </a:t>
            </a:r>
            <a:r>
              <a:rPr lang="en-US" sz="2000" dirty="0" err="1">
                <a:solidFill>
                  <a:srgbClr val="008000"/>
                </a:solidFill>
                <a:latin typeface="Courier"/>
                <a:cs typeface="Courier"/>
              </a:rPr>
              <a:t>watermelon.fsa</a:t>
            </a:r>
            <a:r>
              <a:rPr lang="en-US" sz="2000" dirty="0">
                <a:solidFill>
                  <a:srgbClr val="3366FF"/>
                </a:solidFill>
                <a:latin typeface="Courier"/>
                <a:cs typeface="Courier"/>
              </a:rPr>
              <a:t> </a:t>
            </a:r>
            <a:r>
              <a:rPr lang="en-US" sz="2000" dirty="0" err="1">
                <a:solidFill>
                  <a:srgbClr val="FF0000"/>
                </a:solidFill>
                <a:latin typeface="Courier"/>
                <a:cs typeface="Courier"/>
              </a:rPr>
              <a:t>copy.fasta</a:t>
            </a:r>
            <a:endParaRPr lang="en-US" sz="2000" dirty="0">
              <a:solidFill>
                <a:srgbClr val="FF0000"/>
              </a:solidFill>
              <a:latin typeface="Courier"/>
              <a:cs typeface="Courier"/>
            </a:endParaRPr>
          </a:p>
          <a:p>
            <a:pPr marL="225425" lvl="1" indent="346075">
              <a:spcAft>
                <a:spcPts val="400"/>
              </a:spcAft>
            </a:pPr>
            <a:r>
              <a:rPr lang="en-US" sz="2000" dirty="0">
                <a:latin typeface="Courier"/>
                <a:cs typeface="Courier"/>
              </a:rPr>
              <a:t>$ </a:t>
            </a:r>
            <a:r>
              <a:rPr lang="en-US" sz="2000" dirty="0" err="1">
                <a:solidFill>
                  <a:srgbClr val="0000FF"/>
                </a:solidFill>
                <a:latin typeface="Courier"/>
                <a:cs typeface="Courier"/>
              </a:rPr>
              <a:t>cp</a:t>
            </a:r>
            <a:r>
              <a:rPr lang="en-US" sz="2000" dirty="0">
                <a:solidFill>
                  <a:srgbClr val="3366FF"/>
                </a:solidFill>
                <a:latin typeface="Courier"/>
                <a:cs typeface="Courier"/>
              </a:rPr>
              <a:t> </a:t>
            </a:r>
            <a:r>
              <a:rPr lang="en-US" sz="2000" dirty="0" err="1">
                <a:solidFill>
                  <a:srgbClr val="008000"/>
                </a:solidFill>
                <a:latin typeface="Courier"/>
                <a:cs typeface="Courier"/>
              </a:rPr>
              <a:t>watermelon.fsa</a:t>
            </a:r>
            <a:r>
              <a:rPr lang="en-US" sz="2000" dirty="0">
                <a:solidFill>
                  <a:srgbClr val="3366FF"/>
                </a:solidFill>
                <a:latin typeface="Courier"/>
                <a:cs typeface="Courier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Courier"/>
                <a:cs typeface="Courier"/>
              </a:rPr>
              <a:t>~/Documents/</a:t>
            </a:r>
            <a:r>
              <a:rPr lang="en-US" sz="2000" dirty="0" err="1">
                <a:solidFill>
                  <a:srgbClr val="FF0000"/>
                </a:solidFill>
                <a:latin typeface="Courier"/>
                <a:cs typeface="Courier"/>
              </a:rPr>
              <a:t>copy.fasta</a:t>
            </a:r>
            <a:endParaRPr lang="en-US" sz="2000" dirty="0">
              <a:solidFill>
                <a:srgbClr val="FF0000"/>
              </a:solidFill>
              <a:latin typeface="Courier"/>
              <a:cs typeface="Courier"/>
            </a:endParaRPr>
          </a:p>
          <a:p>
            <a:pPr marL="225425" lvl="1" indent="346075">
              <a:spcAft>
                <a:spcPts val="400"/>
              </a:spcAft>
            </a:pPr>
            <a:r>
              <a:rPr lang="en-US" sz="2000" dirty="0">
                <a:latin typeface="Courier"/>
                <a:cs typeface="Courier"/>
              </a:rPr>
              <a:t>$ </a:t>
            </a:r>
            <a:r>
              <a:rPr lang="en-US" sz="2000" dirty="0">
                <a:solidFill>
                  <a:srgbClr val="0000FF"/>
                </a:solidFill>
                <a:latin typeface="Courier"/>
                <a:cs typeface="Courier"/>
              </a:rPr>
              <a:t>cd</a:t>
            </a:r>
          </a:p>
          <a:p>
            <a:pPr marL="225425" lvl="1" indent="346075">
              <a:spcAft>
                <a:spcPts val="400"/>
              </a:spcAft>
            </a:pPr>
            <a:r>
              <a:rPr lang="en-US" sz="1400" dirty="0">
                <a:latin typeface="Courier"/>
                <a:cs typeface="Courier"/>
              </a:rPr>
              <a:t>$ </a:t>
            </a:r>
            <a:r>
              <a:rPr lang="en-US" sz="1400" dirty="0" err="1">
                <a:solidFill>
                  <a:srgbClr val="0000FF"/>
                </a:solidFill>
                <a:latin typeface="Courier"/>
                <a:cs typeface="Courier"/>
              </a:rPr>
              <a:t>cp</a:t>
            </a:r>
            <a:r>
              <a:rPr lang="en-US" sz="1400" dirty="0">
                <a:solidFill>
                  <a:srgbClr val="0000FF"/>
                </a:solidFill>
                <a:latin typeface="Courier"/>
                <a:cs typeface="Courier"/>
              </a:rPr>
              <a:t> </a:t>
            </a:r>
            <a:r>
              <a:rPr lang="en-US" sz="1400" dirty="0">
                <a:solidFill>
                  <a:srgbClr val="008000"/>
                </a:solidFill>
                <a:latin typeface="Courier"/>
                <a:cs typeface="Courier"/>
              </a:rPr>
              <a:t>~/Desktop/</a:t>
            </a:r>
            <a:r>
              <a:rPr lang="en-US" sz="1400" dirty="0" err="1">
                <a:solidFill>
                  <a:srgbClr val="008000"/>
                </a:solidFill>
                <a:latin typeface="Courier"/>
                <a:cs typeface="Courier"/>
              </a:rPr>
              <a:t>watermelon_files</a:t>
            </a:r>
            <a:r>
              <a:rPr lang="en-US" sz="1400" dirty="0">
                <a:solidFill>
                  <a:srgbClr val="008000"/>
                </a:solidFill>
                <a:latin typeface="Courier"/>
                <a:cs typeface="Courier"/>
              </a:rPr>
              <a:t>/</a:t>
            </a:r>
            <a:r>
              <a:rPr lang="en-US" sz="1400" dirty="0" err="1">
                <a:solidFill>
                  <a:srgbClr val="008000"/>
                </a:solidFill>
                <a:latin typeface="Courier"/>
                <a:cs typeface="Courier"/>
              </a:rPr>
              <a:t>copy.fasta</a:t>
            </a:r>
            <a:r>
              <a:rPr lang="en-US" sz="1400" dirty="0">
                <a:solidFill>
                  <a:srgbClr val="3366FF"/>
                </a:solidFill>
                <a:latin typeface="Courier"/>
                <a:cs typeface="Courier"/>
              </a:rPr>
              <a:t> </a:t>
            </a:r>
            <a:r>
              <a:rPr lang="en-US" sz="1400" dirty="0">
                <a:solidFill>
                  <a:srgbClr val="FF0000"/>
                </a:solidFill>
                <a:latin typeface="Courier"/>
                <a:cs typeface="Courier"/>
              </a:rPr>
              <a:t>~/Documents/</a:t>
            </a:r>
            <a:r>
              <a:rPr lang="en-US" sz="1400" dirty="0" err="1">
                <a:solidFill>
                  <a:srgbClr val="FF0000"/>
                </a:solidFill>
                <a:latin typeface="Courier"/>
                <a:cs typeface="Courier"/>
              </a:rPr>
              <a:t>second_copy.fasta</a:t>
            </a:r>
            <a:endParaRPr lang="en-US" sz="1400" dirty="0">
              <a:solidFill>
                <a:srgbClr val="FF0000"/>
              </a:solidFill>
              <a:latin typeface="Courier"/>
              <a:cs typeface="Courier"/>
            </a:endParaRPr>
          </a:p>
          <a:p>
            <a:pPr marL="225425" lvl="1" indent="346075">
              <a:spcAft>
                <a:spcPts val="400"/>
              </a:spcAft>
            </a:pPr>
            <a:r>
              <a:rPr lang="en-US" sz="1400" dirty="0">
                <a:latin typeface="Courier"/>
                <a:cs typeface="Courier"/>
              </a:rPr>
              <a:t>$ </a:t>
            </a:r>
            <a:r>
              <a:rPr lang="en-US" sz="1400" dirty="0" err="1">
                <a:solidFill>
                  <a:srgbClr val="0000FF"/>
                </a:solidFill>
                <a:latin typeface="Courier"/>
                <a:cs typeface="Courier"/>
              </a:rPr>
              <a:t>cp</a:t>
            </a:r>
            <a:r>
              <a:rPr lang="en-US" sz="1400" dirty="0">
                <a:solidFill>
                  <a:srgbClr val="0000FF"/>
                </a:solidFill>
                <a:latin typeface="Courier"/>
                <a:cs typeface="Courier"/>
              </a:rPr>
              <a:t> </a:t>
            </a:r>
            <a:r>
              <a:rPr lang="en-US" sz="1400" dirty="0">
                <a:solidFill>
                  <a:srgbClr val="008000"/>
                </a:solidFill>
                <a:latin typeface="Courier"/>
                <a:cs typeface="Courier"/>
              </a:rPr>
              <a:t>~/Desktop/</a:t>
            </a:r>
            <a:r>
              <a:rPr lang="en-US" sz="1400" dirty="0" err="1">
                <a:solidFill>
                  <a:srgbClr val="008000"/>
                </a:solidFill>
                <a:latin typeface="Courier"/>
                <a:cs typeface="Courier"/>
              </a:rPr>
              <a:t>watermelon_files</a:t>
            </a:r>
            <a:r>
              <a:rPr lang="en-US" sz="1400" dirty="0">
                <a:solidFill>
                  <a:srgbClr val="008000"/>
                </a:solidFill>
                <a:latin typeface="Courier"/>
                <a:cs typeface="Courier"/>
              </a:rPr>
              <a:t>/</a:t>
            </a:r>
            <a:r>
              <a:rPr lang="en-US" sz="1400" dirty="0" err="1">
                <a:solidFill>
                  <a:srgbClr val="008000"/>
                </a:solidFill>
                <a:latin typeface="Courier"/>
                <a:cs typeface="Courier"/>
              </a:rPr>
              <a:t>copy.fasta</a:t>
            </a:r>
            <a:r>
              <a:rPr lang="en-US" sz="1400" dirty="0">
                <a:solidFill>
                  <a:srgbClr val="3366FF"/>
                </a:solidFill>
                <a:latin typeface="Courier"/>
                <a:cs typeface="Courier"/>
              </a:rPr>
              <a:t> </a:t>
            </a:r>
            <a:r>
              <a:rPr lang="en-US" sz="1400" dirty="0">
                <a:solidFill>
                  <a:srgbClr val="FF0000"/>
                </a:solidFill>
                <a:latin typeface="Courier"/>
                <a:cs typeface="Courier"/>
              </a:rPr>
              <a:t>~/Documents</a:t>
            </a:r>
          </a:p>
          <a:p>
            <a:pPr marL="225425" lvl="1" indent="346075">
              <a:spcAft>
                <a:spcPts val="400"/>
              </a:spcAft>
            </a:pPr>
            <a:endParaRPr lang="en-US" sz="2200" dirty="0">
              <a:solidFill>
                <a:srgbClr val="3366FF"/>
              </a:solidFill>
              <a:latin typeface="Courier"/>
              <a:cs typeface="Courier"/>
            </a:endParaRPr>
          </a:p>
          <a:p>
            <a:pPr marL="225425" lvl="1">
              <a:spcAft>
                <a:spcPts val="400"/>
              </a:spcAft>
            </a:pPr>
            <a:r>
              <a:rPr lang="en-US" sz="2400" dirty="0">
                <a:latin typeface="Courier"/>
                <a:cs typeface="Courier"/>
              </a:rPr>
              <a:t>$ </a:t>
            </a:r>
            <a:r>
              <a:rPr lang="en-US" sz="2400" dirty="0">
                <a:solidFill>
                  <a:srgbClr val="0000FF"/>
                </a:solidFill>
                <a:latin typeface="Courier"/>
                <a:cs typeface="Courier"/>
              </a:rPr>
              <a:t>mv </a:t>
            </a:r>
            <a:r>
              <a:rPr lang="en-US" sz="2400" u="sng" dirty="0">
                <a:solidFill>
                  <a:srgbClr val="008000"/>
                </a:solidFill>
                <a:latin typeface="Courier"/>
                <a:cs typeface="Courier"/>
              </a:rPr>
              <a:t>source file</a:t>
            </a:r>
            <a:r>
              <a:rPr lang="en-US" sz="2400" dirty="0">
                <a:solidFill>
                  <a:srgbClr val="3366FF"/>
                </a:solidFill>
                <a:latin typeface="Courier"/>
                <a:cs typeface="Courier"/>
              </a:rPr>
              <a:t> </a:t>
            </a:r>
            <a:r>
              <a:rPr lang="en-US" sz="2400" u="sng" dirty="0">
                <a:solidFill>
                  <a:srgbClr val="FF0000"/>
                </a:solidFill>
                <a:latin typeface="Courier"/>
                <a:cs typeface="Courier"/>
              </a:rPr>
              <a:t>target file</a:t>
            </a:r>
            <a:r>
              <a:rPr lang="en-US" sz="2100" dirty="0">
                <a:solidFill>
                  <a:srgbClr val="3366FF"/>
                </a:solidFill>
                <a:latin typeface="Courier"/>
                <a:cs typeface="Courier"/>
              </a:rPr>
              <a:t> </a:t>
            </a:r>
            <a:r>
              <a:rPr lang="en-US" sz="2100" dirty="0">
                <a:cs typeface="Calibri"/>
              </a:rPr>
              <a:t>–  </a:t>
            </a:r>
            <a:r>
              <a:rPr lang="en-US" sz="2100" u="sng" dirty="0">
                <a:latin typeface="Calibri"/>
                <a:cs typeface="Calibri"/>
              </a:rPr>
              <a:t>m</a:t>
            </a:r>
            <a:r>
              <a:rPr lang="en-US" sz="2100" dirty="0">
                <a:latin typeface="Calibri"/>
                <a:cs typeface="Calibri"/>
              </a:rPr>
              <a:t>o</a:t>
            </a:r>
            <a:r>
              <a:rPr lang="en-US" sz="2100" u="sng" dirty="0">
                <a:latin typeface="Calibri"/>
                <a:cs typeface="Calibri"/>
              </a:rPr>
              <a:t>v</a:t>
            </a:r>
            <a:r>
              <a:rPr lang="en-US" sz="2100" dirty="0">
                <a:latin typeface="Calibri"/>
                <a:cs typeface="Calibri"/>
              </a:rPr>
              <a:t>e/rename files</a:t>
            </a:r>
          </a:p>
          <a:p>
            <a:pPr marL="225425" lvl="1" indent="346075">
              <a:spcAft>
                <a:spcPts val="400"/>
              </a:spcAft>
            </a:pPr>
            <a:r>
              <a:rPr lang="en-US" sz="2000" dirty="0">
                <a:latin typeface="Courier"/>
                <a:cs typeface="Courier"/>
              </a:rPr>
              <a:t>$ </a:t>
            </a:r>
            <a:r>
              <a:rPr lang="en-US" sz="2000" dirty="0">
                <a:solidFill>
                  <a:srgbClr val="0000FF"/>
                </a:solidFill>
                <a:latin typeface="Courier"/>
                <a:cs typeface="Courier"/>
              </a:rPr>
              <a:t>mv</a:t>
            </a:r>
            <a:r>
              <a:rPr lang="en-US" sz="2000" dirty="0">
                <a:solidFill>
                  <a:srgbClr val="3366FF"/>
                </a:solidFill>
                <a:latin typeface="Courier"/>
                <a:cs typeface="Courier"/>
              </a:rPr>
              <a:t> </a:t>
            </a:r>
            <a:r>
              <a:rPr lang="en-US" sz="2000" dirty="0" err="1">
                <a:solidFill>
                  <a:srgbClr val="008000"/>
                </a:solidFill>
                <a:latin typeface="Courier"/>
                <a:cs typeface="Courier"/>
              </a:rPr>
              <a:t>watermelon.fsa</a:t>
            </a:r>
            <a:r>
              <a:rPr lang="en-US" sz="2000" dirty="0">
                <a:solidFill>
                  <a:srgbClr val="3366FF"/>
                </a:solidFill>
                <a:latin typeface="Courier"/>
                <a:cs typeface="Courier"/>
              </a:rPr>
              <a:t> </a:t>
            </a:r>
            <a:r>
              <a:rPr lang="en-US" sz="2000" dirty="0" err="1">
                <a:solidFill>
                  <a:srgbClr val="FF0000"/>
                </a:solidFill>
                <a:latin typeface="Courier"/>
                <a:cs typeface="Courier"/>
              </a:rPr>
              <a:t>junk.dat</a:t>
            </a:r>
            <a:endParaRPr lang="en-US" sz="2000" dirty="0">
              <a:solidFill>
                <a:srgbClr val="FF0000"/>
              </a:solidFill>
              <a:latin typeface="Courier"/>
              <a:cs typeface="Courier"/>
            </a:endParaRPr>
          </a:p>
          <a:p>
            <a:pPr marL="225425" lvl="1" indent="346075">
              <a:spcAft>
                <a:spcPts val="400"/>
              </a:spcAft>
            </a:pPr>
            <a:r>
              <a:rPr lang="en-US" sz="2000" dirty="0">
                <a:latin typeface="Courier"/>
                <a:cs typeface="Courier"/>
              </a:rPr>
              <a:t>$ </a:t>
            </a:r>
            <a:r>
              <a:rPr lang="en-US" sz="2000" dirty="0">
                <a:solidFill>
                  <a:srgbClr val="0000FF"/>
                </a:solidFill>
                <a:latin typeface="Courier"/>
                <a:cs typeface="Courier"/>
              </a:rPr>
              <a:t>mv</a:t>
            </a:r>
            <a:r>
              <a:rPr lang="en-US" sz="2000" dirty="0">
                <a:solidFill>
                  <a:srgbClr val="3366FF"/>
                </a:solidFill>
                <a:latin typeface="Courier"/>
                <a:cs typeface="Courier"/>
              </a:rPr>
              <a:t> </a:t>
            </a:r>
            <a:r>
              <a:rPr lang="en-US" sz="2000" dirty="0" err="1">
                <a:solidFill>
                  <a:srgbClr val="008000"/>
                </a:solidFill>
                <a:latin typeface="Courier"/>
                <a:cs typeface="Courier"/>
              </a:rPr>
              <a:t>watermelon.fsa</a:t>
            </a:r>
            <a:r>
              <a:rPr lang="en-US" sz="2000" dirty="0">
                <a:solidFill>
                  <a:srgbClr val="3366FF"/>
                </a:solidFill>
                <a:latin typeface="Courier"/>
                <a:cs typeface="Courier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Courier"/>
                <a:cs typeface="Courier"/>
              </a:rPr>
              <a:t>/</a:t>
            </a:r>
            <a:r>
              <a:rPr lang="en-US" sz="2000" dirty="0" err="1">
                <a:solidFill>
                  <a:srgbClr val="FF0000"/>
                </a:solidFill>
                <a:latin typeface="Courier"/>
                <a:cs typeface="Courier"/>
              </a:rPr>
              <a:t>tmp</a:t>
            </a:r>
            <a:r>
              <a:rPr lang="en-US" sz="2000" dirty="0">
                <a:solidFill>
                  <a:srgbClr val="FF0000"/>
                </a:solidFill>
                <a:latin typeface="Courier"/>
                <a:cs typeface="Courier"/>
              </a:rPr>
              <a:t>/</a:t>
            </a:r>
            <a:r>
              <a:rPr lang="en-US" sz="2000" dirty="0" err="1">
                <a:solidFill>
                  <a:srgbClr val="FF0000"/>
                </a:solidFill>
                <a:latin typeface="Courier"/>
                <a:cs typeface="Courier"/>
              </a:rPr>
              <a:t>tmp.fas</a:t>
            </a:r>
            <a:endParaRPr lang="en-US" sz="2000" dirty="0">
              <a:solidFill>
                <a:srgbClr val="FF0000"/>
              </a:solidFill>
              <a:latin typeface="Courier"/>
              <a:cs typeface="Courier"/>
            </a:endParaRPr>
          </a:p>
          <a:p>
            <a:pPr marL="225425" lvl="1" indent="346075">
              <a:spcAft>
                <a:spcPts val="400"/>
              </a:spcAft>
            </a:pPr>
            <a:r>
              <a:rPr lang="en-US" sz="2000" dirty="0">
                <a:latin typeface="Courier"/>
                <a:cs typeface="Courier"/>
              </a:rPr>
              <a:t>$ </a:t>
            </a:r>
            <a:r>
              <a:rPr lang="en-US" sz="2000" dirty="0">
                <a:solidFill>
                  <a:srgbClr val="0000FF"/>
                </a:solidFill>
                <a:latin typeface="Courier"/>
                <a:cs typeface="Courier"/>
              </a:rPr>
              <a:t>mv</a:t>
            </a:r>
            <a:r>
              <a:rPr lang="en-US" sz="2000" dirty="0">
                <a:solidFill>
                  <a:srgbClr val="3366FF"/>
                </a:solidFill>
                <a:latin typeface="Courier"/>
                <a:cs typeface="Courier"/>
              </a:rPr>
              <a:t> </a:t>
            </a:r>
            <a:r>
              <a:rPr lang="en-US" sz="2000" dirty="0" err="1">
                <a:solidFill>
                  <a:srgbClr val="008000"/>
                </a:solidFill>
                <a:latin typeface="Courier"/>
                <a:cs typeface="Courier"/>
              </a:rPr>
              <a:t>watermelon_files</a:t>
            </a:r>
            <a:r>
              <a:rPr lang="en-US" sz="2000" dirty="0">
                <a:solidFill>
                  <a:srgbClr val="3366FF"/>
                </a:solidFill>
                <a:latin typeface="Courier"/>
                <a:cs typeface="Courier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Courier"/>
                <a:cs typeface="Courier"/>
              </a:rPr>
              <a:t>/</a:t>
            </a:r>
            <a:r>
              <a:rPr lang="en-US" sz="2000" dirty="0" err="1">
                <a:solidFill>
                  <a:srgbClr val="FF0000"/>
                </a:solidFill>
                <a:latin typeface="Courier"/>
                <a:cs typeface="Courier"/>
              </a:rPr>
              <a:t>tmp</a:t>
            </a:r>
            <a:endParaRPr lang="en-US" sz="2000" dirty="0">
              <a:solidFill>
                <a:srgbClr val="FF0000"/>
              </a:solidFill>
              <a:latin typeface="Courier"/>
              <a:cs typeface="Courier"/>
            </a:endParaRPr>
          </a:p>
          <a:p>
            <a:pPr marL="225425" lvl="1" indent="346075">
              <a:spcAft>
                <a:spcPts val="400"/>
              </a:spcAft>
            </a:pPr>
            <a:r>
              <a:rPr lang="en-US" sz="2000" dirty="0">
                <a:latin typeface="Courier"/>
                <a:cs typeface="Courier"/>
              </a:rPr>
              <a:t>$ </a:t>
            </a:r>
            <a:r>
              <a:rPr lang="en-US" sz="2000" dirty="0">
                <a:solidFill>
                  <a:srgbClr val="0000FF"/>
                </a:solidFill>
                <a:latin typeface="Courier"/>
                <a:cs typeface="Courier"/>
              </a:rPr>
              <a:t>mv</a:t>
            </a:r>
            <a:r>
              <a:rPr lang="en-US" sz="2000" dirty="0">
                <a:solidFill>
                  <a:srgbClr val="3366FF"/>
                </a:solidFill>
                <a:latin typeface="Courier"/>
                <a:cs typeface="Courier"/>
              </a:rPr>
              <a:t> </a:t>
            </a:r>
            <a:r>
              <a:rPr lang="en-US" sz="2000" dirty="0">
                <a:solidFill>
                  <a:srgbClr val="008000"/>
                </a:solidFill>
                <a:latin typeface="Courier"/>
                <a:cs typeface="Courier"/>
              </a:rPr>
              <a:t>/</a:t>
            </a:r>
            <a:r>
              <a:rPr lang="en-US" sz="2000" dirty="0" err="1">
                <a:solidFill>
                  <a:srgbClr val="008000"/>
                </a:solidFill>
                <a:latin typeface="Courier"/>
                <a:cs typeface="Courier"/>
              </a:rPr>
              <a:t>tmp</a:t>
            </a:r>
            <a:r>
              <a:rPr lang="en-US" sz="2000" dirty="0">
                <a:solidFill>
                  <a:srgbClr val="008000"/>
                </a:solidFill>
                <a:latin typeface="Courier"/>
                <a:cs typeface="Courier"/>
              </a:rPr>
              <a:t>/</a:t>
            </a:r>
            <a:r>
              <a:rPr lang="en-US" sz="2000" dirty="0" err="1">
                <a:solidFill>
                  <a:srgbClr val="008000"/>
                </a:solidFill>
                <a:latin typeface="Courier"/>
                <a:cs typeface="Courier"/>
              </a:rPr>
              <a:t>watermelon_files</a:t>
            </a:r>
            <a:r>
              <a:rPr lang="en-US" sz="2000" dirty="0">
                <a:solidFill>
                  <a:srgbClr val="008000"/>
                </a:solidFill>
                <a:latin typeface="Courier"/>
                <a:cs typeface="Courier"/>
              </a:rPr>
              <a:t>/</a:t>
            </a:r>
            <a:r>
              <a:rPr lang="en-US" sz="2000" dirty="0">
                <a:solidFill>
                  <a:srgbClr val="3366FF"/>
                </a:solidFill>
                <a:latin typeface="Courier"/>
                <a:cs typeface="Courier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Courier"/>
                <a:cs typeface="Courier"/>
              </a:rPr>
              <a:t>.</a:t>
            </a:r>
          </a:p>
        </p:txBody>
      </p:sp>
      <p:pic>
        <p:nvPicPr>
          <p:cNvPr id="5" name="Picture 4" descr="Danger-Sign.jp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42185" y="5444902"/>
            <a:ext cx="902099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15444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49963" y="324699"/>
            <a:ext cx="8436747" cy="862385"/>
          </a:xfrm>
        </p:spPr>
        <p:txBody>
          <a:bodyPr>
            <a:normAutofit/>
          </a:bodyPr>
          <a:lstStyle/>
          <a:p>
            <a:pPr algn="l"/>
            <a:r>
              <a:rPr lang="en-US" sz="3600" b="1" dirty="0">
                <a:solidFill>
                  <a:srgbClr val="FF0000"/>
                </a:solidFill>
              </a:rPr>
              <a:t>Really</a:t>
            </a:r>
            <a:r>
              <a:rPr lang="en-US" sz="3600" dirty="0">
                <a:solidFill>
                  <a:srgbClr val="FF0000"/>
                </a:solidFill>
              </a:rPr>
              <a:t> </a:t>
            </a:r>
            <a:r>
              <a:rPr lang="en-US" sz="3600" dirty="0"/>
              <a:t>important warnings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9963" y="1601892"/>
            <a:ext cx="6219163" cy="21441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68325" lvl="1" indent="-342900">
              <a:spcAft>
                <a:spcPts val="400"/>
              </a:spcAft>
              <a:buFont typeface="Arial"/>
              <a:buChar char="•"/>
            </a:pPr>
            <a:r>
              <a:rPr lang="en-US" sz="2400" dirty="0">
                <a:cs typeface="Courier"/>
              </a:rPr>
              <a:t>Unix commands are permanent.</a:t>
            </a:r>
          </a:p>
          <a:p>
            <a:pPr marL="568325" lvl="1" indent="-342900">
              <a:spcAft>
                <a:spcPts val="400"/>
              </a:spcAft>
              <a:buFont typeface="Arial"/>
              <a:buChar char="•"/>
            </a:pPr>
            <a:r>
              <a:rPr lang="en-US" sz="2400" dirty="0">
                <a:cs typeface="Courier"/>
              </a:rPr>
              <a:t>There is </a:t>
            </a:r>
            <a:r>
              <a:rPr lang="en-US" sz="2400" u="sng" dirty="0">
                <a:cs typeface="Courier"/>
              </a:rPr>
              <a:t>no</a:t>
            </a:r>
            <a:r>
              <a:rPr lang="en-US" sz="2400" dirty="0">
                <a:cs typeface="Courier"/>
              </a:rPr>
              <a:t> Recycle bin.</a:t>
            </a:r>
          </a:p>
          <a:p>
            <a:pPr marL="568325" lvl="1" indent="-342900">
              <a:spcAft>
                <a:spcPts val="400"/>
              </a:spcAft>
              <a:buFont typeface="Arial"/>
              <a:buChar char="•"/>
            </a:pPr>
            <a:r>
              <a:rPr lang="en-US" sz="2400" dirty="0">
                <a:cs typeface="Courier"/>
              </a:rPr>
              <a:t>There are usually no warnings*.</a:t>
            </a:r>
          </a:p>
          <a:p>
            <a:pPr marL="568325" lvl="1" indent="-342900">
              <a:spcAft>
                <a:spcPts val="400"/>
              </a:spcAft>
              <a:buFont typeface="Arial"/>
              <a:buChar char="•"/>
            </a:pPr>
            <a:r>
              <a:rPr lang="en-US" sz="2400" dirty="0">
                <a:cs typeface="Courier"/>
              </a:rPr>
              <a:t>If you </a:t>
            </a:r>
            <a:r>
              <a:rPr lang="en-US" sz="2400" b="1" dirty="0">
                <a:cs typeface="Courier"/>
              </a:rPr>
              <a:t>overwrite </a:t>
            </a:r>
            <a:r>
              <a:rPr lang="en-US" sz="2400" dirty="0">
                <a:cs typeface="Courier"/>
              </a:rPr>
              <a:t>a file, it's gone forever.</a:t>
            </a:r>
          </a:p>
          <a:p>
            <a:pPr marL="568325" lvl="1" indent="-342900">
              <a:spcAft>
                <a:spcPts val="400"/>
              </a:spcAft>
              <a:buFont typeface="Arial"/>
              <a:buChar char="•"/>
            </a:pPr>
            <a:r>
              <a:rPr lang="en-US" sz="2400" dirty="0">
                <a:cs typeface="Courier"/>
              </a:rPr>
              <a:t>If you </a:t>
            </a:r>
            <a:r>
              <a:rPr lang="en-US" sz="2400" b="1" dirty="0">
                <a:cs typeface="Courier"/>
              </a:rPr>
              <a:t>delete</a:t>
            </a:r>
            <a:r>
              <a:rPr lang="en-US" sz="2400" dirty="0">
                <a:cs typeface="Courier"/>
              </a:rPr>
              <a:t> a file, it's gone forever.</a:t>
            </a:r>
            <a:endParaRPr lang="en-US" sz="2000" dirty="0">
              <a:solidFill>
                <a:srgbClr val="FF0000"/>
              </a:solidFill>
              <a:latin typeface="Courier"/>
              <a:cs typeface="Courier"/>
            </a:endParaRPr>
          </a:p>
        </p:txBody>
      </p:sp>
      <p:pic>
        <p:nvPicPr>
          <p:cNvPr id="7" name="Picture 6" descr="DangerWillRobinson.jp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42463" y="541624"/>
            <a:ext cx="2750023" cy="348079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49963" y="5045380"/>
            <a:ext cx="5420908" cy="11798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33363" lvl="1" indent="-176213">
              <a:spcAft>
                <a:spcPts val="400"/>
              </a:spcAft>
              <a:buFont typeface="Arial"/>
              <a:buChar char="•"/>
            </a:pPr>
            <a:r>
              <a:rPr lang="en-US" sz="2400" dirty="0">
                <a:cs typeface="Courier"/>
              </a:rPr>
              <a:t>Use the </a:t>
            </a:r>
            <a:r>
              <a:rPr lang="en-US" sz="2400" dirty="0">
                <a:solidFill>
                  <a:srgbClr val="0000FF"/>
                </a:solidFill>
                <a:latin typeface="Courier"/>
                <a:cs typeface="Courier"/>
              </a:rPr>
              <a:t>-</a:t>
            </a:r>
            <a:r>
              <a:rPr lang="en-US" sz="2400" dirty="0" err="1">
                <a:solidFill>
                  <a:srgbClr val="0000FF"/>
                </a:solidFill>
                <a:latin typeface="Courier"/>
                <a:cs typeface="Courier"/>
              </a:rPr>
              <a:t>i</a:t>
            </a:r>
            <a:r>
              <a:rPr lang="en-US" sz="2400" dirty="0">
                <a:cs typeface="Courier"/>
              </a:rPr>
              <a:t> flag until you're comfortable</a:t>
            </a:r>
            <a:endParaRPr lang="en-US" sz="2400" dirty="0">
              <a:solidFill>
                <a:srgbClr val="000000"/>
              </a:solidFill>
              <a:cs typeface="Calibri"/>
            </a:endParaRPr>
          </a:p>
          <a:p>
            <a:pPr marL="1201738" lvl="1" indent="-230188">
              <a:spcAft>
                <a:spcPts val="400"/>
              </a:spcAft>
              <a:buFont typeface="Arial"/>
              <a:buChar char="•"/>
            </a:pPr>
            <a:r>
              <a:rPr lang="en-US" sz="2000" dirty="0">
                <a:solidFill>
                  <a:srgbClr val="000000"/>
                </a:solidFill>
                <a:cs typeface="Calibri"/>
              </a:rPr>
              <a:t>require confirmation before removing</a:t>
            </a:r>
          </a:p>
          <a:p>
            <a:pPr marL="1201738" lvl="1" indent="-230188">
              <a:spcAft>
                <a:spcPts val="400"/>
              </a:spcAft>
              <a:buFont typeface="Arial"/>
              <a:buChar char="•"/>
            </a:pPr>
            <a:r>
              <a:rPr lang="en-US" sz="2000" dirty="0">
                <a:solidFill>
                  <a:srgbClr val="000000"/>
                </a:solidFill>
                <a:cs typeface="Calibri"/>
              </a:rPr>
              <a:t>also available with </a:t>
            </a:r>
            <a:r>
              <a:rPr lang="en-US" sz="2000" dirty="0">
                <a:solidFill>
                  <a:srgbClr val="0000FF"/>
                </a:solidFill>
                <a:latin typeface="Courier"/>
                <a:cs typeface="Courier"/>
              </a:rPr>
              <a:t>mv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5741863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64627" y="324699"/>
            <a:ext cx="8436747" cy="862385"/>
          </a:xfrm>
        </p:spPr>
        <p:txBody>
          <a:bodyPr>
            <a:normAutofit/>
          </a:bodyPr>
          <a:lstStyle/>
          <a:p>
            <a:pPr algn="l"/>
            <a:r>
              <a:rPr lang="en-US" sz="3600" b="1" dirty="0">
                <a:solidFill>
                  <a:srgbClr val="FF0000"/>
                </a:solidFill>
              </a:rPr>
              <a:t>Really</a:t>
            </a:r>
            <a:r>
              <a:rPr lang="en-US" sz="3600" dirty="0">
                <a:solidFill>
                  <a:srgbClr val="FF0000"/>
                </a:solidFill>
              </a:rPr>
              <a:t> </a:t>
            </a:r>
            <a:r>
              <a:rPr lang="en-US" sz="3600" dirty="0"/>
              <a:t>important warnings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895" y="1420982"/>
            <a:ext cx="8592649" cy="38010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68325" lvl="1" indent="-342900">
              <a:spcAft>
                <a:spcPts val="600"/>
              </a:spcAft>
              <a:buFont typeface="Arial"/>
              <a:buChar char="•"/>
            </a:pPr>
            <a:r>
              <a:rPr lang="en-US" sz="2400" dirty="0">
                <a:cs typeface="Courier"/>
              </a:rPr>
              <a:t>If you don't back up your data, it's your own fault.</a:t>
            </a:r>
          </a:p>
          <a:p>
            <a:pPr marL="568325" lvl="1" indent="-342900">
              <a:spcAft>
                <a:spcPts val="600"/>
              </a:spcAft>
              <a:buFont typeface="Arial"/>
              <a:buChar char="•"/>
            </a:pPr>
            <a:r>
              <a:rPr lang="en-US" sz="2400" dirty="0">
                <a:cs typeface="Courier"/>
              </a:rPr>
              <a:t>STILL NEED TO BACK UP YOUR DATA with Box, Google Drive, and Dropbox</a:t>
            </a:r>
          </a:p>
          <a:p>
            <a:pPr marL="568325" lvl="1" indent="-342900">
              <a:spcAft>
                <a:spcPts val="600"/>
              </a:spcAft>
              <a:buFont typeface="Arial"/>
              <a:buChar char="•"/>
            </a:pPr>
            <a:r>
              <a:rPr lang="en-US" sz="2400" dirty="0">
                <a:cs typeface="Courier"/>
              </a:rPr>
              <a:t>Mac users: Use Time Machine.</a:t>
            </a:r>
          </a:p>
          <a:p>
            <a:pPr marL="568325" lvl="1" indent="-342900">
              <a:spcAft>
                <a:spcPts val="600"/>
              </a:spcAft>
              <a:buFont typeface="Arial"/>
              <a:buChar char="•"/>
            </a:pPr>
            <a:r>
              <a:rPr lang="en-US" sz="2400" dirty="0">
                <a:cs typeface="Courier"/>
              </a:rPr>
              <a:t>Make copies of your files before doing something drastic.</a:t>
            </a:r>
          </a:p>
          <a:p>
            <a:pPr marL="568325" lvl="1" indent="-342900">
              <a:spcAft>
                <a:spcPts val="600"/>
              </a:spcAft>
              <a:buFont typeface="Arial"/>
              <a:buChar char="•"/>
            </a:pPr>
            <a:r>
              <a:rPr lang="en-US" sz="2400" dirty="0">
                <a:cs typeface="Courier"/>
              </a:rPr>
              <a:t>Make dummy files and folders and test your command on those first. (Use </a:t>
            </a:r>
            <a:r>
              <a:rPr lang="en-US" sz="2400" dirty="0">
                <a:solidFill>
                  <a:srgbClr val="FF0000"/>
                </a:solidFill>
                <a:latin typeface="Courier"/>
                <a:cs typeface="Courier"/>
              </a:rPr>
              <a:t>/</a:t>
            </a:r>
            <a:r>
              <a:rPr lang="en-US" sz="2400" dirty="0" err="1">
                <a:solidFill>
                  <a:srgbClr val="FF0000"/>
                </a:solidFill>
                <a:latin typeface="Courier"/>
                <a:cs typeface="Courier"/>
              </a:rPr>
              <a:t>tmp</a:t>
            </a:r>
            <a:r>
              <a:rPr lang="en-US" sz="2400" dirty="0">
                <a:cs typeface="Courier"/>
              </a:rPr>
              <a:t>)</a:t>
            </a:r>
          </a:p>
          <a:p>
            <a:pPr marL="568325" lvl="1" indent="-342900">
              <a:spcAft>
                <a:spcPts val="600"/>
              </a:spcAft>
              <a:buFont typeface="Arial"/>
              <a:buChar char="•"/>
            </a:pPr>
            <a:r>
              <a:rPr lang="en-US" sz="2400" dirty="0">
                <a:cs typeface="Courier"/>
              </a:rPr>
              <a:t>You can do real and permanent damage with the commands you learn in this course.</a:t>
            </a:r>
          </a:p>
        </p:txBody>
      </p:sp>
    </p:spTree>
    <p:extLst>
      <p:ext uri="{BB962C8B-B14F-4D97-AF65-F5344CB8AC3E}">
        <p14:creationId xmlns:p14="http://schemas.microsoft.com/office/powerpoint/2010/main" val="123720802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64627" y="176523"/>
            <a:ext cx="8436747" cy="862385"/>
          </a:xfrm>
        </p:spPr>
        <p:txBody>
          <a:bodyPr>
            <a:normAutofit/>
          </a:bodyPr>
          <a:lstStyle/>
          <a:p>
            <a:r>
              <a:rPr lang="en-US" sz="3600" dirty="0"/>
              <a:t>Common Unix commands: Directories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9623" y="1240194"/>
            <a:ext cx="8723875" cy="24006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39725" lvl="1" indent="-227013">
              <a:spcAft>
                <a:spcPts val="400"/>
              </a:spcAft>
              <a:buFont typeface="Arial"/>
              <a:buChar char="•"/>
            </a:pPr>
            <a:r>
              <a:rPr lang="en-US" sz="2400" dirty="0">
                <a:cs typeface="Courier"/>
              </a:rPr>
              <a:t>Making directories</a:t>
            </a:r>
          </a:p>
          <a:p>
            <a:pPr marL="225425" lvl="1">
              <a:spcAft>
                <a:spcPts val="400"/>
              </a:spcAft>
            </a:pPr>
            <a:endParaRPr lang="en-US" sz="200" dirty="0">
              <a:latin typeface="Courier"/>
              <a:cs typeface="Courier"/>
            </a:endParaRPr>
          </a:p>
          <a:p>
            <a:pPr marL="225425" lvl="1">
              <a:spcAft>
                <a:spcPts val="400"/>
              </a:spcAft>
            </a:pPr>
            <a:r>
              <a:rPr lang="en-US" sz="2400" dirty="0">
                <a:latin typeface="Courier"/>
                <a:cs typeface="Courier"/>
              </a:rPr>
              <a:t>$ </a:t>
            </a:r>
            <a:r>
              <a:rPr lang="en-US" sz="2400" dirty="0" err="1">
                <a:solidFill>
                  <a:srgbClr val="0000FF"/>
                </a:solidFill>
                <a:latin typeface="Courier"/>
                <a:cs typeface="Courier"/>
              </a:rPr>
              <a:t>mkdir</a:t>
            </a:r>
            <a:r>
              <a:rPr lang="en-US" sz="2400" dirty="0">
                <a:solidFill>
                  <a:srgbClr val="0000FF"/>
                </a:solidFill>
                <a:latin typeface="Courier"/>
                <a:cs typeface="Courier"/>
              </a:rPr>
              <a:t> </a:t>
            </a:r>
            <a:r>
              <a:rPr lang="en-US" sz="2400" u="sng" dirty="0">
                <a:latin typeface="Courier"/>
                <a:cs typeface="Courier"/>
              </a:rPr>
              <a:t>directory-name</a:t>
            </a:r>
            <a:r>
              <a:rPr lang="en-US" sz="2100" dirty="0">
                <a:latin typeface="Courier"/>
                <a:cs typeface="Courier"/>
              </a:rPr>
              <a:t> </a:t>
            </a:r>
            <a:r>
              <a:rPr lang="en-US" sz="2100" u="sng" dirty="0">
                <a:latin typeface="Courier"/>
                <a:cs typeface="Courier"/>
              </a:rPr>
              <a:t>...</a:t>
            </a:r>
            <a:r>
              <a:rPr lang="en-US" sz="2100" dirty="0">
                <a:latin typeface="Courier"/>
                <a:cs typeface="Courier"/>
              </a:rPr>
              <a:t> </a:t>
            </a:r>
            <a:r>
              <a:rPr lang="en-US" sz="2100" dirty="0">
                <a:latin typeface="Calibri"/>
                <a:cs typeface="Calibri"/>
              </a:rPr>
              <a:t>–   </a:t>
            </a:r>
            <a:r>
              <a:rPr lang="en-US" sz="2100" u="sng" dirty="0">
                <a:cs typeface="Calibri"/>
              </a:rPr>
              <a:t>m</a:t>
            </a:r>
            <a:r>
              <a:rPr lang="en-US" sz="2100" dirty="0">
                <a:cs typeface="Calibri"/>
              </a:rPr>
              <a:t>a</a:t>
            </a:r>
            <a:r>
              <a:rPr lang="en-US" sz="2100" u="sng" dirty="0">
                <a:cs typeface="Calibri"/>
              </a:rPr>
              <a:t>k</a:t>
            </a:r>
            <a:r>
              <a:rPr lang="en-US" sz="2100" dirty="0">
                <a:cs typeface="Calibri"/>
              </a:rPr>
              <a:t>e </a:t>
            </a:r>
            <a:r>
              <a:rPr lang="en-US" sz="2100" u="sng" dirty="0">
                <a:cs typeface="Calibri"/>
              </a:rPr>
              <a:t>dir</a:t>
            </a:r>
            <a:r>
              <a:rPr lang="en-US" sz="2100" dirty="0">
                <a:cs typeface="Calibri"/>
              </a:rPr>
              <a:t>ectories</a:t>
            </a:r>
            <a:endParaRPr lang="en-US" sz="2100" dirty="0">
              <a:latin typeface="Calibri"/>
              <a:cs typeface="Calibri"/>
            </a:endParaRPr>
          </a:p>
          <a:p>
            <a:pPr marL="225425" lvl="1" indent="346075">
              <a:spcAft>
                <a:spcPts val="400"/>
              </a:spcAft>
            </a:pPr>
            <a:r>
              <a:rPr lang="en-US" sz="2000" dirty="0">
                <a:latin typeface="Courier"/>
                <a:cs typeface="Courier"/>
              </a:rPr>
              <a:t>$ </a:t>
            </a:r>
            <a:r>
              <a:rPr lang="en-US" sz="2000" dirty="0" err="1">
                <a:solidFill>
                  <a:srgbClr val="0000FF"/>
                </a:solidFill>
                <a:latin typeface="Courier"/>
                <a:cs typeface="Courier"/>
              </a:rPr>
              <a:t>mkdir</a:t>
            </a:r>
            <a:r>
              <a:rPr lang="en-US" sz="2000" dirty="0">
                <a:solidFill>
                  <a:srgbClr val="000000"/>
                </a:solidFill>
                <a:latin typeface="Courier"/>
                <a:cs typeface="Courier"/>
              </a:rPr>
              <a:t> cowgirl</a:t>
            </a:r>
          </a:p>
          <a:p>
            <a:pPr marL="225425" lvl="1" indent="346075">
              <a:spcAft>
                <a:spcPts val="400"/>
              </a:spcAft>
            </a:pPr>
            <a:r>
              <a:rPr lang="en-US" sz="2000" dirty="0">
                <a:latin typeface="Courier"/>
                <a:cs typeface="Courier"/>
              </a:rPr>
              <a:t>$ </a:t>
            </a:r>
            <a:r>
              <a:rPr lang="en-US" sz="2000" dirty="0" err="1">
                <a:solidFill>
                  <a:srgbClr val="0000FF"/>
                </a:solidFill>
                <a:latin typeface="Courier"/>
                <a:cs typeface="Courier"/>
              </a:rPr>
              <a:t>mkdir</a:t>
            </a:r>
            <a:r>
              <a:rPr lang="en-US" sz="2000" dirty="0">
                <a:solidFill>
                  <a:srgbClr val="000000"/>
                </a:solidFill>
                <a:latin typeface="Courier"/>
                <a:cs typeface="Courier"/>
              </a:rPr>
              <a:t> </a:t>
            </a:r>
            <a:r>
              <a:rPr lang="en-US" sz="2000" u="sng" dirty="0">
                <a:solidFill>
                  <a:srgbClr val="000000"/>
                </a:solidFill>
                <a:latin typeface="Courier"/>
                <a:cs typeface="Courier"/>
              </a:rPr>
              <a:t>cowgirl in the sand</a:t>
            </a:r>
          </a:p>
          <a:p>
            <a:pPr marL="225425" lvl="1" indent="346075">
              <a:spcAft>
                <a:spcPts val="400"/>
              </a:spcAft>
            </a:pPr>
            <a:r>
              <a:rPr lang="en-US" sz="2000" dirty="0">
                <a:latin typeface="Courier"/>
                <a:cs typeface="Courier"/>
              </a:rPr>
              <a:t>$ </a:t>
            </a:r>
            <a:r>
              <a:rPr lang="en-US" sz="2000" dirty="0" err="1">
                <a:solidFill>
                  <a:srgbClr val="0000FF"/>
                </a:solidFill>
                <a:latin typeface="Courier"/>
                <a:cs typeface="Courier"/>
              </a:rPr>
              <a:t>ls</a:t>
            </a:r>
            <a:r>
              <a:rPr lang="en-US" sz="2000" dirty="0">
                <a:solidFill>
                  <a:srgbClr val="0000FF"/>
                </a:solidFill>
                <a:latin typeface="Courier"/>
                <a:cs typeface="Courier"/>
              </a:rPr>
              <a:t> -al</a:t>
            </a:r>
          </a:p>
          <a:p>
            <a:pPr marL="225425" lvl="1">
              <a:spcAft>
                <a:spcPts val="400"/>
              </a:spcAft>
            </a:pPr>
            <a:endParaRPr lang="en-US" sz="2000" dirty="0">
              <a:cs typeface="Courier"/>
            </a:endParaRPr>
          </a:p>
        </p:txBody>
      </p:sp>
    </p:spTree>
    <p:extLst>
      <p:ext uri="{BB962C8B-B14F-4D97-AF65-F5344CB8AC3E}">
        <p14:creationId xmlns:p14="http://schemas.microsoft.com/office/powerpoint/2010/main" val="138721630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64627" y="176523"/>
            <a:ext cx="8436747" cy="862385"/>
          </a:xfrm>
        </p:spPr>
        <p:txBody>
          <a:bodyPr>
            <a:normAutofit/>
          </a:bodyPr>
          <a:lstStyle/>
          <a:p>
            <a:r>
              <a:rPr lang="en-US" sz="3600" dirty="0"/>
              <a:t>Common Unix commands: Deleting stuff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9623" y="1159986"/>
            <a:ext cx="8455231" cy="54579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7013" lvl="1" indent="-163513">
              <a:spcAft>
                <a:spcPts val="400"/>
              </a:spcAft>
              <a:buFont typeface="Arial"/>
              <a:buChar char="•"/>
            </a:pPr>
            <a:r>
              <a:rPr lang="en-US" sz="2400" dirty="0">
                <a:cs typeface="Courier"/>
              </a:rPr>
              <a:t>Removing files</a:t>
            </a:r>
          </a:p>
          <a:p>
            <a:pPr marL="225425" lvl="1">
              <a:spcAft>
                <a:spcPts val="400"/>
              </a:spcAft>
            </a:pPr>
            <a:endParaRPr lang="en-US" sz="600" dirty="0">
              <a:latin typeface="Courier"/>
              <a:cs typeface="Courier"/>
            </a:endParaRPr>
          </a:p>
          <a:p>
            <a:pPr marL="225425" lvl="1">
              <a:spcAft>
                <a:spcPts val="400"/>
              </a:spcAft>
            </a:pPr>
            <a:r>
              <a:rPr lang="en-US" sz="2400" dirty="0">
                <a:latin typeface="Courier"/>
                <a:cs typeface="Courier"/>
              </a:rPr>
              <a:t>$ </a:t>
            </a:r>
            <a:r>
              <a:rPr lang="en-US" sz="2400" dirty="0" err="1">
                <a:solidFill>
                  <a:srgbClr val="0000FF"/>
                </a:solidFill>
                <a:latin typeface="Courier"/>
                <a:cs typeface="Courier"/>
              </a:rPr>
              <a:t>rm</a:t>
            </a:r>
            <a:r>
              <a:rPr lang="en-US" sz="2400" dirty="0">
                <a:solidFill>
                  <a:srgbClr val="0000FF"/>
                </a:solidFill>
                <a:latin typeface="Courier"/>
                <a:cs typeface="Courier"/>
              </a:rPr>
              <a:t> </a:t>
            </a:r>
            <a:r>
              <a:rPr lang="en-US" sz="2400" u="sng" dirty="0">
                <a:latin typeface="Courier"/>
                <a:cs typeface="Courier"/>
              </a:rPr>
              <a:t>filename</a:t>
            </a:r>
            <a:r>
              <a:rPr lang="en-US" sz="2400" dirty="0">
                <a:latin typeface="Courier"/>
                <a:cs typeface="Courier"/>
              </a:rPr>
              <a:t> </a:t>
            </a:r>
            <a:r>
              <a:rPr lang="en-US" sz="2400" u="sng" dirty="0">
                <a:latin typeface="Courier"/>
                <a:cs typeface="Courier"/>
              </a:rPr>
              <a:t>...</a:t>
            </a:r>
            <a:r>
              <a:rPr lang="en-US" sz="2400" dirty="0">
                <a:latin typeface="Courier"/>
                <a:cs typeface="Courier"/>
              </a:rPr>
              <a:t> </a:t>
            </a:r>
            <a:r>
              <a:rPr lang="en-US" sz="2400" dirty="0">
                <a:cs typeface="Calibri"/>
              </a:rPr>
              <a:t>–   </a:t>
            </a:r>
            <a:r>
              <a:rPr lang="en-US" sz="2400" u="sng" dirty="0">
                <a:cs typeface="Calibri"/>
              </a:rPr>
              <a:t>r</a:t>
            </a:r>
            <a:r>
              <a:rPr lang="en-US" sz="2400" dirty="0">
                <a:cs typeface="Calibri"/>
              </a:rPr>
              <a:t>e</a:t>
            </a:r>
            <a:r>
              <a:rPr lang="en-US" sz="2400" u="sng" dirty="0">
                <a:cs typeface="Calibri"/>
              </a:rPr>
              <a:t>m</a:t>
            </a:r>
            <a:r>
              <a:rPr lang="en-US" sz="2400" dirty="0">
                <a:cs typeface="Calibri"/>
              </a:rPr>
              <a:t>ove files</a:t>
            </a:r>
            <a:endParaRPr lang="en-US" sz="2000" dirty="0">
              <a:solidFill>
                <a:srgbClr val="3366FF"/>
              </a:solidFill>
              <a:latin typeface="Courier"/>
              <a:cs typeface="Courier"/>
            </a:endParaRPr>
          </a:p>
          <a:p>
            <a:pPr marL="225425" lvl="1" indent="346075">
              <a:spcAft>
                <a:spcPts val="400"/>
              </a:spcAft>
            </a:pPr>
            <a:r>
              <a:rPr lang="en-US" sz="2000" dirty="0">
                <a:latin typeface="Courier"/>
                <a:cs typeface="Courier"/>
              </a:rPr>
              <a:t>$ </a:t>
            </a:r>
            <a:r>
              <a:rPr lang="en-US" sz="2000" dirty="0" err="1">
                <a:solidFill>
                  <a:srgbClr val="0000FF"/>
                </a:solidFill>
                <a:latin typeface="Courier"/>
                <a:cs typeface="Courier"/>
              </a:rPr>
              <a:t>rm</a:t>
            </a:r>
            <a:r>
              <a:rPr lang="en-US" sz="2000" dirty="0">
                <a:solidFill>
                  <a:srgbClr val="000000"/>
                </a:solidFill>
                <a:latin typeface="Courier"/>
                <a:cs typeface="Courier"/>
              </a:rPr>
              <a:t> ~/Documents/</a:t>
            </a:r>
            <a:r>
              <a:rPr lang="en-US" sz="2000" dirty="0" err="1">
                <a:solidFill>
                  <a:srgbClr val="000000"/>
                </a:solidFill>
                <a:latin typeface="Courier"/>
                <a:cs typeface="Courier"/>
              </a:rPr>
              <a:t>second_copy.fasta</a:t>
            </a:r>
            <a:endParaRPr lang="en-US" sz="2000" dirty="0">
              <a:solidFill>
                <a:srgbClr val="000000"/>
              </a:solidFill>
              <a:latin typeface="Courier"/>
              <a:cs typeface="Courier"/>
            </a:endParaRPr>
          </a:p>
          <a:p>
            <a:pPr marL="225425" lvl="1" indent="346075">
              <a:spcAft>
                <a:spcPts val="400"/>
              </a:spcAft>
            </a:pPr>
            <a:r>
              <a:rPr lang="en-US" sz="2000" dirty="0">
                <a:latin typeface="Courier"/>
                <a:cs typeface="Courier"/>
              </a:rPr>
              <a:t>$ </a:t>
            </a:r>
            <a:r>
              <a:rPr lang="en-US" sz="2000" dirty="0" err="1">
                <a:solidFill>
                  <a:srgbClr val="0000FF"/>
                </a:solidFill>
                <a:latin typeface="Courier"/>
                <a:cs typeface="Courier"/>
              </a:rPr>
              <a:t>rm</a:t>
            </a:r>
            <a:r>
              <a:rPr lang="en-US" sz="2000" dirty="0">
                <a:solidFill>
                  <a:srgbClr val="000000"/>
                </a:solidFill>
                <a:latin typeface="Courier"/>
                <a:cs typeface="Courier"/>
              </a:rPr>
              <a:t> ~/Documents/</a:t>
            </a:r>
            <a:r>
              <a:rPr lang="en-US" sz="2000" dirty="0" err="1">
                <a:solidFill>
                  <a:srgbClr val="000000"/>
                </a:solidFill>
                <a:latin typeface="Courier"/>
                <a:cs typeface="Courier"/>
              </a:rPr>
              <a:t>copy.fasta</a:t>
            </a:r>
            <a:endParaRPr lang="en-US" sz="2000" dirty="0">
              <a:solidFill>
                <a:srgbClr val="000000"/>
              </a:solidFill>
              <a:latin typeface="Courier"/>
              <a:cs typeface="Courier"/>
            </a:endParaRPr>
          </a:p>
          <a:p>
            <a:pPr marL="225425" lvl="1" indent="346075">
              <a:spcAft>
                <a:spcPts val="400"/>
              </a:spcAft>
            </a:pPr>
            <a:r>
              <a:rPr lang="en-US" sz="2000" dirty="0">
                <a:latin typeface="Courier"/>
                <a:cs typeface="Courier"/>
              </a:rPr>
              <a:t>$ </a:t>
            </a:r>
            <a:r>
              <a:rPr lang="en-US" sz="2000" dirty="0" err="1">
                <a:solidFill>
                  <a:srgbClr val="0000FF"/>
                </a:solidFill>
                <a:latin typeface="Courier"/>
                <a:cs typeface="Courier"/>
              </a:rPr>
              <a:t>rm</a:t>
            </a:r>
            <a:r>
              <a:rPr lang="en-US" sz="2000" dirty="0">
                <a:solidFill>
                  <a:srgbClr val="000000"/>
                </a:solidFill>
                <a:latin typeface="Courier"/>
                <a:cs typeface="Courier"/>
              </a:rPr>
              <a:t> </a:t>
            </a:r>
            <a:r>
              <a:rPr lang="en-US" sz="2000" dirty="0" err="1">
                <a:solidFill>
                  <a:srgbClr val="000000"/>
                </a:solidFill>
                <a:latin typeface="Courier"/>
                <a:cs typeface="Courier"/>
              </a:rPr>
              <a:t>junk.dat</a:t>
            </a:r>
            <a:endParaRPr lang="en-US" sz="2000" dirty="0">
              <a:solidFill>
                <a:srgbClr val="000000"/>
              </a:solidFill>
              <a:latin typeface="Courier"/>
              <a:cs typeface="Courier"/>
            </a:endParaRPr>
          </a:p>
          <a:p>
            <a:pPr marL="225425" lvl="1" indent="346075">
              <a:spcAft>
                <a:spcPts val="400"/>
              </a:spcAft>
            </a:pPr>
            <a:endParaRPr lang="en-US" sz="2000" dirty="0">
              <a:solidFill>
                <a:srgbClr val="3366FF"/>
              </a:solidFill>
              <a:latin typeface="Courier"/>
              <a:cs typeface="Courier"/>
            </a:endParaRPr>
          </a:p>
          <a:p>
            <a:pPr marL="227013" lvl="1" indent="-163513">
              <a:spcAft>
                <a:spcPts val="400"/>
              </a:spcAft>
              <a:buFont typeface="Arial"/>
              <a:buChar char="•"/>
            </a:pPr>
            <a:r>
              <a:rPr lang="en-US" sz="2400" dirty="0">
                <a:cs typeface="Courier"/>
              </a:rPr>
              <a:t>Removing files and directories recursively</a:t>
            </a:r>
          </a:p>
          <a:p>
            <a:pPr marL="225425" lvl="1" indent="346075">
              <a:spcAft>
                <a:spcPts val="400"/>
              </a:spcAft>
            </a:pPr>
            <a:r>
              <a:rPr lang="en-US" sz="2000" dirty="0">
                <a:latin typeface="Courier"/>
                <a:cs typeface="Courier"/>
              </a:rPr>
              <a:t>$ </a:t>
            </a:r>
            <a:r>
              <a:rPr lang="en-US" sz="2000" dirty="0" err="1">
                <a:solidFill>
                  <a:srgbClr val="0000FF"/>
                </a:solidFill>
                <a:latin typeface="Courier"/>
                <a:cs typeface="Courier"/>
              </a:rPr>
              <a:t>rm</a:t>
            </a:r>
            <a:r>
              <a:rPr lang="en-US" sz="2000" dirty="0">
                <a:solidFill>
                  <a:srgbClr val="0000FF"/>
                </a:solidFill>
                <a:latin typeface="Courier"/>
                <a:cs typeface="Courier"/>
              </a:rPr>
              <a:t> -r</a:t>
            </a:r>
            <a:r>
              <a:rPr lang="en-US" sz="2000" dirty="0">
                <a:solidFill>
                  <a:srgbClr val="000000"/>
                </a:solidFill>
                <a:latin typeface="Courier"/>
                <a:cs typeface="Courier"/>
              </a:rPr>
              <a:t> cowgirl</a:t>
            </a:r>
          </a:p>
          <a:p>
            <a:pPr marL="1201738" lvl="1" indent="-230188">
              <a:spcAft>
                <a:spcPts val="400"/>
              </a:spcAft>
              <a:buFont typeface="Arial"/>
              <a:buChar char="•"/>
            </a:pPr>
            <a:r>
              <a:rPr lang="en-US" sz="2000" dirty="0">
                <a:solidFill>
                  <a:srgbClr val="000000"/>
                </a:solidFill>
                <a:latin typeface="Calibri"/>
                <a:cs typeface="Calibri"/>
              </a:rPr>
              <a:t>removes all the files in </a:t>
            </a:r>
            <a:r>
              <a:rPr lang="en-US" sz="2000" dirty="0">
                <a:solidFill>
                  <a:srgbClr val="0000FF"/>
                </a:solidFill>
                <a:latin typeface="Courier"/>
                <a:cs typeface="Courier"/>
              </a:rPr>
              <a:t>cowgirl</a:t>
            </a:r>
            <a:r>
              <a:rPr lang="en-US" sz="2000" dirty="0">
                <a:solidFill>
                  <a:srgbClr val="000000"/>
                </a:solidFill>
                <a:latin typeface="Calibri"/>
                <a:cs typeface="Calibri"/>
              </a:rPr>
              <a:t>, then removes</a:t>
            </a:r>
            <a:r>
              <a:rPr lang="en-US" sz="2000" dirty="0">
                <a:solidFill>
                  <a:srgbClr val="0000FF"/>
                </a:solidFill>
                <a:latin typeface="Courier"/>
                <a:cs typeface="Courier"/>
              </a:rPr>
              <a:t> cowgirl </a:t>
            </a:r>
            <a:r>
              <a:rPr lang="en-US" sz="2000" dirty="0">
                <a:solidFill>
                  <a:srgbClr val="000000"/>
                </a:solidFill>
                <a:latin typeface="Calibri"/>
                <a:cs typeface="Calibri"/>
              </a:rPr>
              <a:t>itself</a:t>
            </a:r>
          </a:p>
          <a:p>
            <a:pPr marL="1201738" lvl="1" indent="-230188">
              <a:spcAft>
                <a:spcPts val="400"/>
              </a:spcAft>
              <a:buFont typeface="Arial"/>
              <a:buChar char="•"/>
            </a:pPr>
            <a:r>
              <a:rPr lang="en-US" sz="2000" dirty="0">
                <a:solidFill>
                  <a:srgbClr val="000000"/>
                </a:solidFill>
                <a:latin typeface="Calibri"/>
                <a:cs typeface="Calibri"/>
              </a:rPr>
              <a:t>Very dangerous command (that you will use all the time)</a:t>
            </a:r>
          </a:p>
          <a:p>
            <a:pPr marL="57150" lvl="1">
              <a:spcAft>
                <a:spcPts val="400"/>
              </a:spcAft>
            </a:pPr>
            <a:endParaRPr lang="en-US" sz="2000" dirty="0">
              <a:cs typeface="Courier"/>
            </a:endParaRPr>
          </a:p>
          <a:p>
            <a:pPr marL="233363" lvl="1" indent="-176213">
              <a:spcAft>
                <a:spcPts val="400"/>
              </a:spcAft>
              <a:buFont typeface="Arial"/>
              <a:buChar char="•"/>
            </a:pPr>
            <a:r>
              <a:rPr lang="en-US" sz="2400" dirty="0">
                <a:cs typeface="Courier"/>
              </a:rPr>
              <a:t>Use the </a:t>
            </a:r>
            <a:r>
              <a:rPr lang="en-US" sz="2400" dirty="0">
                <a:solidFill>
                  <a:srgbClr val="0000FF"/>
                </a:solidFill>
                <a:latin typeface="Courier"/>
                <a:cs typeface="Courier"/>
              </a:rPr>
              <a:t>-</a:t>
            </a:r>
            <a:r>
              <a:rPr lang="en-US" sz="2400" dirty="0" err="1">
                <a:solidFill>
                  <a:srgbClr val="0000FF"/>
                </a:solidFill>
                <a:latin typeface="Courier"/>
                <a:cs typeface="Courier"/>
              </a:rPr>
              <a:t>i</a:t>
            </a:r>
            <a:r>
              <a:rPr lang="en-US" sz="2400" dirty="0">
                <a:cs typeface="Courier"/>
              </a:rPr>
              <a:t> flag until you're comfortable</a:t>
            </a:r>
            <a:endParaRPr lang="en-US" sz="2400" dirty="0">
              <a:solidFill>
                <a:srgbClr val="000000"/>
              </a:solidFill>
              <a:latin typeface="Calibri"/>
              <a:cs typeface="Calibri"/>
            </a:endParaRPr>
          </a:p>
          <a:p>
            <a:pPr marL="1201738" lvl="1" indent="-230188">
              <a:spcAft>
                <a:spcPts val="400"/>
              </a:spcAft>
              <a:buFont typeface="Arial"/>
              <a:buChar char="•"/>
            </a:pPr>
            <a:r>
              <a:rPr lang="en-US" sz="2000" dirty="0">
                <a:solidFill>
                  <a:srgbClr val="000000"/>
                </a:solidFill>
                <a:cs typeface="Calibri"/>
              </a:rPr>
              <a:t>require confirmation before removing</a:t>
            </a:r>
          </a:p>
          <a:p>
            <a:pPr marL="1201738" lvl="1" indent="-230188">
              <a:spcAft>
                <a:spcPts val="400"/>
              </a:spcAft>
              <a:buFont typeface="Arial"/>
              <a:buChar char="•"/>
            </a:pPr>
            <a:r>
              <a:rPr lang="en-US" sz="2000" dirty="0">
                <a:solidFill>
                  <a:srgbClr val="000000"/>
                </a:solidFill>
                <a:cs typeface="Calibri"/>
              </a:rPr>
              <a:t>also available with </a:t>
            </a:r>
            <a:r>
              <a:rPr lang="en-US" sz="2000" dirty="0">
                <a:solidFill>
                  <a:srgbClr val="0000FF"/>
                </a:solidFill>
                <a:latin typeface="Courier"/>
                <a:cs typeface="Courier"/>
              </a:rPr>
              <a:t>mv</a:t>
            </a:r>
          </a:p>
        </p:txBody>
      </p:sp>
      <p:pic>
        <p:nvPicPr>
          <p:cNvPr id="5" name="Picture 4" descr="Danger-Sign.jp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65528" y="2556729"/>
            <a:ext cx="1683655" cy="17066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668161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229623" y="1619919"/>
            <a:ext cx="8723875" cy="17851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5425" lvl="1">
              <a:spcAft>
                <a:spcPts val="400"/>
              </a:spcAft>
            </a:pPr>
            <a:r>
              <a:rPr lang="en-US" sz="2800" dirty="0">
                <a:latin typeface="Courier"/>
                <a:cs typeface="Courier"/>
              </a:rPr>
              <a:t>$ </a:t>
            </a:r>
            <a:r>
              <a:rPr lang="en-US" sz="2800" dirty="0" err="1">
                <a:solidFill>
                  <a:srgbClr val="0000FF"/>
                </a:solidFill>
                <a:latin typeface="Courier"/>
                <a:cs typeface="Courier"/>
              </a:rPr>
              <a:t>wc</a:t>
            </a:r>
            <a:r>
              <a:rPr lang="en-US" sz="2800" dirty="0">
                <a:solidFill>
                  <a:srgbClr val="0000FF"/>
                </a:solidFill>
                <a:latin typeface="Courier"/>
                <a:cs typeface="Courier"/>
              </a:rPr>
              <a:t> </a:t>
            </a:r>
            <a:r>
              <a:rPr lang="en-US" sz="2800" dirty="0">
                <a:cs typeface="Calibri"/>
              </a:rPr>
              <a:t>–   </a:t>
            </a:r>
            <a:r>
              <a:rPr lang="en-US" sz="2400" dirty="0">
                <a:cs typeface="Calibri"/>
              </a:rPr>
              <a:t>get the </a:t>
            </a:r>
            <a:r>
              <a:rPr lang="en-US" sz="2400" u="sng" dirty="0">
                <a:cs typeface="Calibri"/>
              </a:rPr>
              <a:t>w</a:t>
            </a:r>
            <a:r>
              <a:rPr lang="en-US" sz="2400" dirty="0">
                <a:cs typeface="Calibri"/>
              </a:rPr>
              <a:t>ord, line, and </a:t>
            </a:r>
            <a:r>
              <a:rPr lang="en-US" sz="2400" u="sng" dirty="0">
                <a:cs typeface="Calibri"/>
              </a:rPr>
              <a:t>c</a:t>
            </a:r>
            <a:r>
              <a:rPr lang="en-US" sz="2400" dirty="0">
                <a:cs typeface="Calibri"/>
              </a:rPr>
              <a:t>haracter counts</a:t>
            </a:r>
          </a:p>
          <a:p>
            <a:pPr marL="225425" lvl="1" indent="346075">
              <a:spcAft>
                <a:spcPts val="400"/>
              </a:spcAft>
            </a:pPr>
            <a:r>
              <a:rPr lang="en-US" sz="2400" dirty="0">
                <a:latin typeface="Courier"/>
                <a:cs typeface="Courier"/>
              </a:rPr>
              <a:t>$ </a:t>
            </a:r>
            <a:r>
              <a:rPr lang="en-US" sz="2400" dirty="0" err="1">
                <a:solidFill>
                  <a:srgbClr val="0000FF"/>
                </a:solidFill>
                <a:latin typeface="Courier"/>
                <a:cs typeface="Courier"/>
              </a:rPr>
              <a:t>wc</a:t>
            </a:r>
            <a:r>
              <a:rPr lang="en-US" sz="2400" dirty="0">
                <a:solidFill>
                  <a:srgbClr val="0000FF"/>
                </a:solidFill>
                <a:latin typeface="Courier"/>
                <a:cs typeface="Courier"/>
              </a:rPr>
              <a:t> </a:t>
            </a:r>
            <a:r>
              <a:rPr lang="en-US" sz="2400" u="sng" dirty="0">
                <a:solidFill>
                  <a:srgbClr val="0000FF"/>
                </a:solidFill>
                <a:latin typeface="Courier"/>
                <a:cs typeface="Courier"/>
              </a:rPr>
              <a:t>filename</a:t>
            </a:r>
            <a:r>
              <a:rPr lang="en-US" sz="2400" dirty="0">
                <a:solidFill>
                  <a:srgbClr val="0000FF"/>
                </a:solidFill>
                <a:latin typeface="Courier"/>
                <a:cs typeface="Courier"/>
              </a:rPr>
              <a:t> </a:t>
            </a:r>
            <a:r>
              <a:rPr lang="en-US" sz="2400" dirty="0">
                <a:cs typeface="Calibri"/>
              </a:rPr>
              <a:t>[# of lines, words, and bytes] </a:t>
            </a:r>
            <a:endParaRPr lang="en-US" sz="2400" u="sng" dirty="0">
              <a:solidFill>
                <a:srgbClr val="0000FF"/>
              </a:solidFill>
              <a:latin typeface="Courier"/>
              <a:cs typeface="Courier"/>
            </a:endParaRPr>
          </a:p>
          <a:p>
            <a:pPr marL="225425" lvl="1" indent="346075">
              <a:spcAft>
                <a:spcPts val="400"/>
              </a:spcAft>
            </a:pPr>
            <a:r>
              <a:rPr lang="en-US" sz="2400" dirty="0">
                <a:latin typeface="Courier"/>
                <a:cs typeface="Courier"/>
              </a:rPr>
              <a:t>$ </a:t>
            </a:r>
            <a:r>
              <a:rPr lang="en-US" sz="2400" dirty="0" err="1">
                <a:solidFill>
                  <a:srgbClr val="0000FF"/>
                </a:solidFill>
                <a:latin typeface="Courier"/>
                <a:cs typeface="Courier"/>
              </a:rPr>
              <a:t>wc</a:t>
            </a:r>
            <a:r>
              <a:rPr lang="en-US" sz="2400" dirty="0">
                <a:solidFill>
                  <a:srgbClr val="0000FF"/>
                </a:solidFill>
                <a:latin typeface="Courier"/>
                <a:cs typeface="Courier"/>
              </a:rPr>
              <a:t> -l </a:t>
            </a:r>
            <a:r>
              <a:rPr lang="en-US" sz="2400" u="sng" dirty="0">
                <a:solidFill>
                  <a:srgbClr val="0000FF"/>
                </a:solidFill>
                <a:latin typeface="Courier"/>
                <a:cs typeface="Courier"/>
              </a:rPr>
              <a:t>filename</a:t>
            </a:r>
            <a:r>
              <a:rPr lang="en-US" sz="2400" dirty="0">
                <a:solidFill>
                  <a:srgbClr val="0000FF"/>
                </a:solidFill>
                <a:latin typeface="Courier"/>
                <a:cs typeface="Courier"/>
              </a:rPr>
              <a:t> </a:t>
            </a:r>
            <a:r>
              <a:rPr lang="en-US" sz="2400" dirty="0">
                <a:cs typeface="Calibri"/>
              </a:rPr>
              <a:t>[# of lines] </a:t>
            </a:r>
            <a:endParaRPr lang="en-US" sz="2400" u="sng" dirty="0">
              <a:solidFill>
                <a:srgbClr val="0000FF"/>
              </a:solidFill>
              <a:latin typeface="Courier"/>
              <a:cs typeface="Courier"/>
            </a:endParaRPr>
          </a:p>
          <a:p>
            <a:pPr marL="225425" lvl="1" indent="346075">
              <a:spcAft>
                <a:spcPts val="400"/>
              </a:spcAft>
            </a:pPr>
            <a:r>
              <a:rPr lang="en-US" sz="2400" dirty="0">
                <a:latin typeface="Courier"/>
                <a:cs typeface="Courier"/>
              </a:rPr>
              <a:t>$ </a:t>
            </a:r>
            <a:r>
              <a:rPr lang="en-US" sz="2400" dirty="0" err="1">
                <a:solidFill>
                  <a:srgbClr val="0000FF"/>
                </a:solidFill>
                <a:latin typeface="Courier"/>
                <a:cs typeface="Courier"/>
              </a:rPr>
              <a:t>wc</a:t>
            </a:r>
            <a:r>
              <a:rPr lang="en-US" sz="2400" dirty="0">
                <a:solidFill>
                  <a:srgbClr val="0000FF"/>
                </a:solidFill>
                <a:latin typeface="Courier"/>
                <a:cs typeface="Courier"/>
              </a:rPr>
              <a:t> -m </a:t>
            </a:r>
            <a:r>
              <a:rPr lang="en-US" sz="2400" u="sng" dirty="0">
                <a:solidFill>
                  <a:srgbClr val="0000FF"/>
                </a:solidFill>
                <a:latin typeface="Courier"/>
                <a:cs typeface="Courier"/>
              </a:rPr>
              <a:t>filename</a:t>
            </a:r>
            <a:r>
              <a:rPr lang="en-US" sz="2400" dirty="0">
                <a:solidFill>
                  <a:srgbClr val="0000FF"/>
                </a:solidFill>
                <a:latin typeface="Courier"/>
                <a:cs typeface="Courier"/>
              </a:rPr>
              <a:t> </a:t>
            </a:r>
            <a:r>
              <a:rPr lang="en-US" sz="2400" dirty="0">
                <a:cs typeface="Calibri"/>
              </a:rPr>
              <a:t>[# of characters] </a:t>
            </a:r>
            <a:endParaRPr lang="en-US" sz="2400" u="sng" dirty="0">
              <a:solidFill>
                <a:srgbClr val="0000FF"/>
              </a:solidFill>
              <a:latin typeface="Courier"/>
              <a:cs typeface="Courier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079431" y="3927576"/>
            <a:ext cx="7007138" cy="8822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68325" lvl="1" indent="-342900">
              <a:spcAft>
                <a:spcPts val="400"/>
              </a:spcAft>
              <a:buFont typeface="Arial"/>
              <a:buChar char="•"/>
            </a:pPr>
            <a:r>
              <a:rPr lang="en-US" sz="2400" dirty="0">
                <a:latin typeface="Calibri"/>
                <a:cs typeface="Calibri"/>
              </a:rPr>
              <a:t>How many genes in the watermelon </a:t>
            </a:r>
            <a:r>
              <a:rPr lang="en-US" sz="2400" dirty="0" err="1">
                <a:latin typeface="Calibri"/>
                <a:cs typeface="Calibri"/>
              </a:rPr>
              <a:t>mt</a:t>
            </a:r>
            <a:r>
              <a:rPr lang="en-US" sz="2400" dirty="0">
                <a:latin typeface="Calibri"/>
                <a:cs typeface="Calibri"/>
              </a:rPr>
              <a:t> genome?</a:t>
            </a:r>
          </a:p>
          <a:p>
            <a:pPr marL="568325" lvl="1" indent="-342900">
              <a:spcAft>
                <a:spcPts val="400"/>
              </a:spcAft>
              <a:buFont typeface="Arial"/>
              <a:buChar char="•"/>
            </a:pPr>
            <a:r>
              <a:rPr lang="en-US" sz="2400" dirty="0">
                <a:latin typeface="Calibri"/>
                <a:cs typeface="Calibri"/>
              </a:rPr>
              <a:t>How many ribosomal protein genes?</a:t>
            </a:r>
          </a:p>
        </p:txBody>
      </p:sp>
      <p:sp>
        <p:nvSpPr>
          <p:cNvPr id="6" name="Title 1"/>
          <p:cNvSpPr>
            <a:spLocks noGrp="1"/>
          </p:cNvSpPr>
          <p:nvPr>
            <p:ph type="ctrTitle"/>
          </p:nvPr>
        </p:nvSpPr>
        <p:spPr>
          <a:xfrm>
            <a:off x="364627" y="176523"/>
            <a:ext cx="8436747" cy="862385"/>
          </a:xfrm>
        </p:spPr>
        <p:txBody>
          <a:bodyPr>
            <a:normAutofit/>
          </a:bodyPr>
          <a:lstStyle/>
          <a:p>
            <a:r>
              <a:rPr lang="en-US" dirty="0" err="1">
                <a:solidFill>
                  <a:srgbClr val="0000FF"/>
                </a:solidFill>
                <a:latin typeface="Courier"/>
                <a:cs typeface="Courier"/>
              </a:rPr>
              <a:t>wc</a:t>
            </a:r>
            <a:endParaRPr lang="en-US" dirty="0">
              <a:solidFill>
                <a:srgbClr val="0000FF"/>
              </a:solidFill>
              <a:latin typeface="Courier"/>
              <a:cs typeface="Courier"/>
            </a:endParaRPr>
          </a:p>
        </p:txBody>
      </p:sp>
    </p:spTree>
    <p:extLst>
      <p:ext uri="{BB962C8B-B14F-4D97-AF65-F5344CB8AC3E}">
        <p14:creationId xmlns:p14="http://schemas.microsoft.com/office/powerpoint/2010/main" val="33774888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64627" y="176523"/>
            <a:ext cx="8436747" cy="862385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rgbClr val="0000FF"/>
                </a:solidFill>
                <a:latin typeface="Courier"/>
                <a:cs typeface="Courier"/>
              </a:rPr>
              <a:t>sort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89348" y="1519319"/>
            <a:ext cx="8203177" cy="44012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5425" lvl="1">
              <a:spcAft>
                <a:spcPts val="1200"/>
              </a:spcAft>
            </a:pPr>
            <a:r>
              <a:rPr lang="en-US" sz="2800" dirty="0">
                <a:latin typeface="Courier"/>
                <a:cs typeface="Courier"/>
              </a:rPr>
              <a:t>$ </a:t>
            </a:r>
            <a:r>
              <a:rPr lang="en-US" sz="2800" dirty="0">
                <a:solidFill>
                  <a:srgbClr val="0000FF"/>
                </a:solidFill>
                <a:latin typeface="Courier"/>
                <a:cs typeface="Courier"/>
              </a:rPr>
              <a:t>sort [sort lines of a text file]</a:t>
            </a:r>
            <a:endParaRPr lang="en-US" sz="2400" dirty="0">
              <a:cs typeface="Courier"/>
            </a:endParaRPr>
          </a:p>
          <a:p>
            <a:pPr marL="1092200" lvl="1">
              <a:spcAft>
                <a:spcPts val="1200"/>
              </a:spcAft>
            </a:pPr>
            <a:r>
              <a:rPr lang="en-US" sz="2400" dirty="0">
                <a:latin typeface="Courier"/>
                <a:cs typeface="Courier"/>
              </a:rPr>
              <a:t>-k </a:t>
            </a:r>
            <a:r>
              <a:rPr lang="en-US" sz="2400" dirty="0">
                <a:cs typeface="Courier"/>
              </a:rPr>
              <a:t>which column to sort by</a:t>
            </a:r>
          </a:p>
          <a:p>
            <a:pPr marL="1092200" lvl="1">
              <a:spcAft>
                <a:spcPts val="1200"/>
              </a:spcAft>
            </a:pPr>
            <a:r>
              <a:rPr lang="en-US" sz="2400" dirty="0">
                <a:latin typeface="Courier"/>
                <a:cs typeface="Courier"/>
              </a:rPr>
              <a:t>-g </a:t>
            </a:r>
            <a:r>
              <a:rPr lang="en-US" sz="2400" dirty="0">
                <a:cs typeface="Courier"/>
              </a:rPr>
              <a:t>general numeric sort</a:t>
            </a:r>
          </a:p>
          <a:p>
            <a:pPr marL="1092200" lvl="1">
              <a:spcAft>
                <a:spcPts val="1200"/>
              </a:spcAft>
            </a:pPr>
            <a:r>
              <a:rPr lang="en-US" sz="2400" dirty="0">
                <a:latin typeface="Courier"/>
                <a:cs typeface="Courier"/>
              </a:rPr>
              <a:t>-r </a:t>
            </a:r>
            <a:r>
              <a:rPr lang="en-US" sz="2400" dirty="0">
                <a:cs typeface="Courier"/>
              </a:rPr>
              <a:t>reverse the ordering (descending order)</a:t>
            </a:r>
          </a:p>
          <a:p>
            <a:pPr marL="1092200" lvl="1">
              <a:spcAft>
                <a:spcPts val="1200"/>
              </a:spcAft>
            </a:pPr>
            <a:endParaRPr lang="en-US" sz="2400" dirty="0">
              <a:cs typeface="Courier"/>
            </a:endParaRPr>
          </a:p>
          <a:p>
            <a:pPr marL="565150" lvl="1" indent="6350">
              <a:spcAft>
                <a:spcPts val="400"/>
              </a:spcAft>
            </a:pPr>
            <a:r>
              <a:rPr lang="en-US" sz="2400" dirty="0">
                <a:latin typeface="Courier"/>
                <a:cs typeface="Courier"/>
              </a:rPr>
              <a:t>$ </a:t>
            </a:r>
            <a:r>
              <a:rPr lang="en-US" sz="2400" dirty="0">
                <a:solidFill>
                  <a:srgbClr val="0000FF"/>
                </a:solidFill>
                <a:latin typeface="Courier"/>
                <a:cs typeface="Courier"/>
              </a:rPr>
              <a:t>sort -k2 </a:t>
            </a:r>
            <a:r>
              <a:rPr lang="en-US" sz="2400" dirty="0" err="1">
                <a:solidFill>
                  <a:srgbClr val="0000FF"/>
                </a:solidFill>
                <a:latin typeface="Courier"/>
                <a:cs typeface="Courier"/>
              </a:rPr>
              <a:t>fruit.txt</a:t>
            </a:r>
            <a:endParaRPr lang="en-US" sz="2400" dirty="0">
              <a:latin typeface="Courier"/>
              <a:cs typeface="Courier"/>
            </a:endParaRPr>
          </a:p>
          <a:p>
            <a:pPr marL="225425" lvl="1" indent="346075">
              <a:spcAft>
                <a:spcPts val="400"/>
              </a:spcAft>
            </a:pPr>
            <a:r>
              <a:rPr lang="en-US" sz="2400" dirty="0">
                <a:latin typeface="Courier"/>
                <a:cs typeface="Courier"/>
              </a:rPr>
              <a:t>$ </a:t>
            </a:r>
            <a:r>
              <a:rPr lang="en-US" sz="2400" dirty="0">
                <a:solidFill>
                  <a:srgbClr val="0000FF"/>
                </a:solidFill>
                <a:latin typeface="Courier"/>
                <a:cs typeface="Courier"/>
              </a:rPr>
              <a:t>sort -k1gr </a:t>
            </a:r>
            <a:r>
              <a:rPr lang="en-US" sz="2400" dirty="0" err="1">
                <a:solidFill>
                  <a:srgbClr val="0000FF"/>
                </a:solidFill>
                <a:latin typeface="Courier"/>
                <a:cs typeface="Courier"/>
              </a:rPr>
              <a:t>fruit.txt</a:t>
            </a:r>
            <a:endParaRPr lang="en-US" sz="2400" u="sng" dirty="0">
              <a:solidFill>
                <a:srgbClr val="0000FF"/>
              </a:solidFill>
              <a:latin typeface="Courier"/>
              <a:cs typeface="Courier"/>
            </a:endParaRPr>
          </a:p>
          <a:p>
            <a:pPr marL="225425" lvl="1" indent="346075">
              <a:spcAft>
                <a:spcPts val="400"/>
              </a:spcAft>
            </a:pPr>
            <a:r>
              <a:rPr lang="en-US" sz="2400" dirty="0">
                <a:latin typeface="Courier"/>
                <a:cs typeface="Courier"/>
              </a:rPr>
              <a:t>$ </a:t>
            </a:r>
            <a:r>
              <a:rPr lang="en-US" sz="2400" dirty="0">
                <a:solidFill>
                  <a:srgbClr val="0000FF"/>
                </a:solidFill>
                <a:latin typeface="Courier"/>
                <a:cs typeface="Courier"/>
              </a:rPr>
              <a:t>sort -k5gr </a:t>
            </a:r>
            <a:r>
              <a:rPr lang="en-US" sz="2400" dirty="0" err="1">
                <a:solidFill>
                  <a:srgbClr val="0000FF"/>
                </a:solidFill>
                <a:latin typeface="Courier"/>
                <a:cs typeface="Courier"/>
              </a:rPr>
              <a:t>watermelon.gff</a:t>
            </a:r>
            <a:endParaRPr lang="en-US" sz="2400" dirty="0">
              <a:solidFill>
                <a:srgbClr val="0000FF"/>
              </a:solidFill>
              <a:latin typeface="Courier"/>
              <a:cs typeface="Courier"/>
            </a:endParaRPr>
          </a:p>
          <a:p>
            <a:pPr marL="1092200" lvl="1">
              <a:spcAft>
                <a:spcPts val="1200"/>
              </a:spcAft>
            </a:pPr>
            <a:endParaRPr lang="en-US" sz="2400" dirty="0">
              <a:cs typeface="Courier"/>
            </a:endParaRPr>
          </a:p>
        </p:txBody>
      </p:sp>
    </p:spTree>
    <p:extLst>
      <p:ext uri="{BB962C8B-B14F-4D97-AF65-F5344CB8AC3E}">
        <p14:creationId xmlns:p14="http://schemas.microsoft.com/office/powerpoint/2010/main" val="232073971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64627" y="176523"/>
            <a:ext cx="8436747" cy="862385"/>
          </a:xfrm>
        </p:spPr>
        <p:txBody>
          <a:bodyPr>
            <a:normAutofit/>
          </a:bodyPr>
          <a:lstStyle/>
          <a:p>
            <a:r>
              <a:rPr lang="en-US" dirty="0" err="1">
                <a:solidFill>
                  <a:srgbClr val="0000FF"/>
                </a:solidFill>
                <a:latin typeface="Courier"/>
                <a:cs typeface="Courier"/>
              </a:rPr>
              <a:t>grep</a:t>
            </a:r>
            <a:endParaRPr lang="en-US" dirty="0">
              <a:solidFill>
                <a:srgbClr val="0000FF"/>
              </a:solidFill>
              <a:latin typeface="Courier"/>
              <a:cs typeface="Courier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229623" y="1619919"/>
            <a:ext cx="8723875" cy="43601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5425" lvl="1">
              <a:spcAft>
                <a:spcPts val="1200"/>
              </a:spcAft>
            </a:pPr>
            <a:r>
              <a:rPr lang="en-US" sz="2800" dirty="0">
                <a:latin typeface="Courier"/>
                <a:cs typeface="Courier"/>
              </a:rPr>
              <a:t>$ </a:t>
            </a:r>
            <a:r>
              <a:rPr lang="en-US" sz="2800" dirty="0" err="1">
                <a:solidFill>
                  <a:srgbClr val="0000FF"/>
                </a:solidFill>
                <a:latin typeface="Courier"/>
                <a:cs typeface="Courier"/>
              </a:rPr>
              <a:t>grep</a:t>
            </a:r>
            <a:r>
              <a:rPr lang="en-US" sz="2800" dirty="0">
                <a:solidFill>
                  <a:srgbClr val="0000FF"/>
                </a:solidFill>
                <a:latin typeface="Courier"/>
                <a:cs typeface="Courier"/>
              </a:rPr>
              <a:t> </a:t>
            </a:r>
            <a:r>
              <a:rPr lang="en-US" sz="2800" dirty="0">
                <a:cs typeface="Calibri"/>
              </a:rPr>
              <a:t>–   </a:t>
            </a:r>
            <a:r>
              <a:rPr lang="en-US" sz="2400" dirty="0">
                <a:cs typeface="Calibri"/>
              </a:rPr>
              <a:t>print lines matching a pattern</a:t>
            </a:r>
          </a:p>
          <a:p>
            <a:pPr marL="1146175" lvl="1" indent="-287338">
              <a:spcAft>
                <a:spcPts val="400"/>
              </a:spcAft>
              <a:buFont typeface="Arial"/>
              <a:buChar char="•"/>
            </a:pPr>
            <a:r>
              <a:rPr lang="en-US" sz="2400" dirty="0">
                <a:latin typeface="Courier"/>
                <a:cs typeface="Courier"/>
              </a:rPr>
              <a:t>g/re/p</a:t>
            </a:r>
            <a:r>
              <a:rPr lang="en-US" sz="2400" dirty="0">
                <a:cs typeface="Calibri"/>
              </a:rPr>
              <a:t> in the </a:t>
            </a:r>
            <a:r>
              <a:rPr lang="en-US" sz="2400" i="1" dirty="0" err="1">
                <a:cs typeface="Calibri"/>
              </a:rPr>
              <a:t>ed</a:t>
            </a:r>
            <a:r>
              <a:rPr lang="en-US" sz="2400" i="1" dirty="0">
                <a:cs typeface="Calibri"/>
              </a:rPr>
              <a:t> </a:t>
            </a:r>
            <a:r>
              <a:rPr lang="en-US" sz="2400" dirty="0">
                <a:cs typeface="Calibri"/>
              </a:rPr>
              <a:t>scripting language</a:t>
            </a:r>
          </a:p>
          <a:p>
            <a:pPr marL="2060575" lvl="5" indent="-287338">
              <a:spcAft>
                <a:spcPts val="400"/>
              </a:spcAft>
              <a:buFont typeface="Lucida Grande"/>
              <a:buChar char="–"/>
            </a:pPr>
            <a:r>
              <a:rPr lang="en-US" sz="2400" u="sng" dirty="0">
                <a:cs typeface="Calibri"/>
              </a:rPr>
              <a:t>g</a:t>
            </a:r>
            <a:r>
              <a:rPr lang="en-US" sz="2400" dirty="0">
                <a:cs typeface="Calibri"/>
              </a:rPr>
              <a:t>lobal/</a:t>
            </a:r>
            <a:r>
              <a:rPr lang="en-US" sz="2400" u="sng" dirty="0">
                <a:cs typeface="Calibri"/>
              </a:rPr>
              <a:t>r</a:t>
            </a:r>
            <a:r>
              <a:rPr lang="en-US" sz="2400" dirty="0">
                <a:cs typeface="Calibri"/>
              </a:rPr>
              <a:t>egular </a:t>
            </a:r>
            <a:r>
              <a:rPr lang="en-US" sz="2400" u="sng" dirty="0">
                <a:cs typeface="Calibri"/>
              </a:rPr>
              <a:t>e</a:t>
            </a:r>
            <a:r>
              <a:rPr lang="en-US" sz="2400" dirty="0">
                <a:cs typeface="Calibri"/>
              </a:rPr>
              <a:t>xpression/</a:t>
            </a:r>
            <a:r>
              <a:rPr lang="en-US" sz="2400" u="sng" dirty="0">
                <a:cs typeface="Calibri"/>
              </a:rPr>
              <a:t>p</a:t>
            </a:r>
            <a:r>
              <a:rPr lang="en-US" sz="2400" dirty="0">
                <a:cs typeface="Calibri"/>
              </a:rPr>
              <a:t>rint</a:t>
            </a:r>
          </a:p>
          <a:p>
            <a:pPr marL="1146175" lvl="1" indent="-287338">
              <a:spcAft>
                <a:spcPts val="400"/>
              </a:spcAft>
              <a:buFont typeface="Arial"/>
              <a:buChar char="•"/>
            </a:pPr>
            <a:r>
              <a:rPr lang="en-US" sz="2400" dirty="0">
                <a:cs typeface="Calibri"/>
              </a:rPr>
              <a:t>EXTREMELY powerful – one of the more useful tools in the Unix bioinformatics toolbox</a:t>
            </a:r>
          </a:p>
          <a:p>
            <a:pPr marL="225425" lvl="1" indent="346075">
              <a:spcAft>
                <a:spcPts val="400"/>
              </a:spcAft>
            </a:pPr>
            <a:endParaRPr lang="en-US" sz="2400" dirty="0">
              <a:latin typeface="Courier"/>
              <a:cs typeface="Courier"/>
            </a:endParaRPr>
          </a:p>
          <a:p>
            <a:pPr marL="225425" lvl="1" indent="346075">
              <a:spcAft>
                <a:spcPts val="400"/>
              </a:spcAft>
            </a:pPr>
            <a:r>
              <a:rPr lang="en-US" sz="2400" dirty="0">
                <a:latin typeface="Courier"/>
                <a:cs typeface="Courier"/>
              </a:rPr>
              <a:t>$ </a:t>
            </a:r>
            <a:r>
              <a:rPr lang="en-US" sz="2400" dirty="0" err="1">
                <a:solidFill>
                  <a:srgbClr val="0000FF"/>
                </a:solidFill>
                <a:latin typeface="Courier"/>
                <a:cs typeface="Courier"/>
              </a:rPr>
              <a:t>grep</a:t>
            </a:r>
            <a:r>
              <a:rPr lang="en-US" sz="2400" dirty="0">
                <a:solidFill>
                  <a:srgbClr val="0000FF"/>
                </a:solidFill>
                <a:latin typeface="Courier"/>
                <a:cs typeface="Courier"/>
              </a:rPr>
              <a:t> </a:t>
            </a:r>
            <a:r>
              <a:rPr lang="en-US" sz="2400" u="sng" dirty="0">
                <a:solidFill>
                  <a:srgbClr val="0000FF"/>
                </a:solidFill>
                <a:latin typeface="Courier"/>
                <a:cs typeface="Courier"/>
              </a:rPr>
              <a:t>pattern</a:t>
            </a:r>
            <a:r>
              <a:rPr lang="en-US" sz="2400" dirty="0">
                <a:solidFill>
                  <a:srgbClr val="0000FF"/>
                </a:solidFill>
                <a:latin typeface="Courier"/>
                <a:cs typeface="Courier"/>
              </a:rPr>
              <a:t> </a:t>
            </a:r>
            <a:r>
              <a:rPr lang="en-US" sz="2400" u="sng" dirty="0">
                <a:solidFill>
                  <a:srgbClr val="0000FF"/>
                </a:solidFill>
                <a:latin typeface="Courier"/>
                <a:cs typeface="Courier"/>
              </a:rPr>
              <a:t>file</a:t>
            </a:r>
          </a:p>
          <a:p>
            <a:pPr marL="225425" lvl="1" indent="346075">
              <a:spcAft>
                <a:spcPts val="400"/>
              </a:spcAft>
            </a:pPr>
            <a:r>
              <a:rPr lang="en-US" sz="2400" dirty="0">
                <a:latin typeface="Courier"/>
                <a:cs typeface="Courier"/>
              </a:rPr>
              <a:t>$ </a:t>
            </a:r>
            <a:r>
              <a:rPr lang="en-US" sz="2400" dirty="0" err="1">
                <a:solidFill>
                  <a:srgbClr val="0000FF"/>
                </a:solidFill>
                <a:latin typeface="Courier"/>
                <a:cs typeface="Courier"/>
              </a:rPr>
              <a:t>grep</a:t>
            </a:r>
            <a:r>
              <a:rPr lang="en-US" sz="2400" dirty="0">
                <a:solidFill>
                  <a:srgbClr val="0000FF"/>
                </a:solidFill>
                <a:latin typeface="Courier"/>
                <a:cs typeface="Courier"/>
              </a:rPr>
              <a:t> </a:t>
            </a:r>
            <a:r>
              <a:rPr lang="en-US" sz="2400" dirty="0" err="1">
                <a:solidFill>
                  <a:srgbClr val="0000FF"/>
                </a:solidFill>
                <a:latin typeface="Courier"/>
                <a:cs typeface="Courier"/>
              </a:rPr>
              <a:t>rps</a:t>
            </a:r>
            <a:r>
              <a:rPr lang="en-US" sz="2400" dirty="0">
                <a:solidFill>
                  <a:srgbClr val="0000FF"/>
                </a:solidFill>
                <a:latin typeface="Courier"/>
                <a:cs typeface="Courier"/>
              </a:rPr>
              <a:t> </a:t>
            </a:r>
            <a:r>
              <a:rPr lang="en-US" sz="2400" dirty="0" err="1">
                <a:solidFill>
                  <a:srgbClr val="0000FF"/>
                </a:solidFill>
                <a:latin typeface="Courier"/>
                <a:cs typeface="Courier"/>
              </a:rPr>
              <a:t>watermelon_genes.unix.txt</a:t>
            </a:r>
            <a:endParaRPr lang="en-US" sz="2400" u="sng" dirty="0">
              <a:solidFill>
                <a:srgbClr val="0000FF"/>
              </a:solidFill>
              <a:latin typeface="Courier"/>
              <a:cs typeface="Courier"/>
            </a:endParaRPr>
          </a:p>
          <a:p>
            <a:pPr marL="225425" lvl="1" indent="346075">
              <a:spcAft>
                <a:spcPts val="400"/>
              </a:spcAft>
            </a:pPr>
            <a:r>
              <a:rPr lang="en-US" sz="2400" dirty="0">
                <a:latin typeface="Courier"/>
                <a:cs typeface="Courier"/>
              </a:rPr>
              <a:t>$ </a:t>
            </a:r>
            <a:r>
              <a:rPr lang="en-US" sz="2400" dirty="0" err="1">
                <a:solidFill>
                  <a:srgbClr val="0000FF"/>
                </a:solidFill>
                <a:latin typeface="Courier"/>
                <a:cs typeface="Courier"/>
              </a:rPr>
              <a:t>grep</a:t>
            </a:r>
            <a:r>
              <a:rPr lang="en-US" sz="2400" dirty="0">
                <a:solidFill>
                  <a:srgbClr val="0000FF"/>
                </a:solidFill>
                <a:latin typeface="Courier"/>
                <a:cs typeface="Courier"/>
              </a:rPr>
              <a:t> co </a:t>
            </a:r>
            <a:r>
              <a:rPr lang="en-US" sz="2400" dirty="0" err="1">
                <a:solidFill>
                  <a:srgbClr val="0000FF"/>
                </a:solidFill>
                <a:latin typeface="Courier"/>
                <a:cs typeface="Courier"/>
              </a:rPr>
              <a:t>watermelon_genes.unix.txt</a:t>
            </a:r>
            <a:endParaRPr lang="en-US" sz="2400" dirty="0">
              <a:solidFill>
                <a:srgbClr val="0000FF"/>
              </a:solidFill>
              <a:latin typeface="Courier"/>
              <a:cs typeface="Courier"/>
            </a:endParaRPr>
          </a:p>
          <a:p>
            <a:pPr marL="225425" lvl="1" indent="346075">
              <a:spcAft>
                <a:spcPts val="400"/>
              </a:spcAft>
            </a:pPr>
            <a:r>
              <a:rPr lang="en-US" sz="2400" dirty="0">
                <a:latin typeface="Courier"/>
                <a:cs typeface="Courier"/>
              </a:rPr>
              <a:t>$ </a:t>
            </a:r>
            <a:r>
              <a:rPr lang="en-US" sz="2400" dirty="0" err="1">
                <a:solidFill>
                  <a:srgbClr val="0000FF"/>
                </a:solidFill>
                <a:latin typeface="Courier"/>
                <a:cs typeface="Courier"/>
              </a:rPr>
              <a:t>grep</a:t>
            </a:r>
            <a:r>
              <a:rPr lang="en-US" sz="2400" dirty="0">
                <a:solidFill>
                  <a:srgbClr val="0000FF"/>
                </a:solidFill>
                <a:latin typeface="Courier"/>
                <a:cs typeface="Courier"/>
              </a:rPr>
              <a:t> -v co </a:t>
            </a:r>
            <a:r>
              <a:rPr lang="en-US" sz="2400" dirty="0" err="1">
                <a:solidFill>
                  <a:srgbClr val="0000FF"/>
                </a:solidFill>
                <a:latin typeface="Courier"/>
                <a:cs typeface="Courier"/>
              </a:rPr>
              <a:t>watermelon_genes.unix.txt</a:t>
            </a:r>
            <a:endParaRPr lang="en-US" sz="2400" dirty="0">
              <a:solidFill>
                <a:srgbClr val="0000FF"/>
              </a:solidFill>
              <a:latin typeface="Courier"/>
              <a:cs typeface="Courier"/>
            </a:endParaRPr>
          </a:p>
        </p:txBody>
      </p:sp>
    </p:spTree>
    <p:extLst>
      <p:ext uri="{BB962C8B-B14F-4D97-AF65-F5344CB8AC3E}">
        <p14:creationId xmlns:p14="http://schemas.microsoft.com/office/powerpoint/2010/main" val="39454344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72563" y="176523"/>
            <a:ext cx="8436747" cy="862385"/>
          </a:xfrm>
        </p:spPr>
        <p:txBody>
          <a:bodyPr>
            <a:normAutofit/>
          </a:bodyPr>
          <a:lstStyle/>
          <a:p>
            <a:r>
              <a:rPr lang="en-US" dirty="0" err="1">
                <a:solidFill>
                  <a:srgbClr val="0000FF"/>
                </a:solidFill>
                <a:latin typeface="Courier"/>
                <a:cs typeface="Courier"/>
              </a:rPr>
              <a:t>grep</a:t>
            </a:r>
            <a:r>
              <a:rPr lang="en-US" dirty="0">
                <a:solidFill>
                  <a:srgbClr val="0000FF"/>
                </a:solidFill>
                <a:latin typeface="Courier"/>
                <a:cs typeface="Courier"/>
              </a:rPr>
              <a:t> [options]</a:t>
            </a:r>
            <a:endParaRPr lang="en-US" dirty="0">
              <a:solidFill>
                <a:srgbClr val="0000FF"/>
              </a:solidFill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89348" y="1318799"/>
            <a:ext cx="8203177" cy="51706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5425" lvl="1">
              <a:spcAft>
                <a:spcPts val="1200"/>
              </a:spcAft>
            </a:pPr>
            <a:r>
              <a:rPr lang="en-US" sz="2800" dirty="0">
                <a:latin typeface="Courier"/>
                <a:cs typeface="Courier"/>
              </a:rPr>
              <a:t>$ </a:t>
            </a:r>
            <a:r>
              <a:rPr lang="en-US" sz="2800" dirty="0" err="1">
                <a:solidFill>
                  <a:srgbClr val="0000FF"/>
                </a:solidFill>
                <a:latin typeface="Courier"/>
                <a:cs typeface="Courier"/>
              </a:rPr>
              <a:t>grep</a:t>
            </a:r>
            <a:endParaRPr lang="en-US" sz="2400" dirty="0">
              <a:cs typeface="Courier"/>
            </a:endParaRPr>
          </a:p>
          <a:p>
            <a:pPr marL="1092200" lvl="1">
              <a:spcAft>
                <a:spcPts val="600"/>
              </a:spcAft>
            </a:pPr>
            <a:r>
              <a:rPr lang="en-US" sz="2200" dirty="0">
                <a:latin typeface="Courier"/>
                <a:cs typeface="Courier"/>
              </a:rPr>
              <a:t>–c </a:t>
            </a:r>
            <a:r>
              <a:rPr lang="en-US" sz="2200" dirty="0">
                <a:cs typeface="Courier"/>
              </a:rPr>
              <a:t>Show only a count of the results in the file</a:t>
            </a:r>
          </a:p>
          <a:p>
            <a:pPr marL="1092200" lvl="1">
              <a:spcAft>
                <a:spcPts val="600"/>
              </a:spcAft>
            </a:pPr>
            <a:r>
              <a:rPr lang="en-US" sz="2200" dirty="0">
                <a:latin typeface="Courier"/>
                <a:cs typeface="Courier"/>
              </a:rPr>
              <a:t>–v </a:t>
            </a:r>
            <a:r>
              <a:rPr lang="en-US" sz="2200" dirty="0">
                <a:cs typeface="Courier"/>
              </a:rPr>
              <a:t>Show only the lines that do not match</a:t>
            </a:r>
          </a:p>
          <a:p>
            <a:pPr marL="1092200" lvl="1">
              <a:spcAft>
                <a:spcPts val="600"/>
              </a:spcAft>
            </a:pPr>
            <a:r>
              <a:rPr lang="en-US" sz="2200" dirty="0">
                <a:latin typeface="Courier"/>
                <a:cs typeface="Courier"/>
              </a:rPr>
              <a:t>–</a:t>
            </a:r>
            <a:r>
              <a:rPr lang="en-US" sz="2200" dirty="0" err="1">
                <a:latin typeface="Courier"/>
                <a:cs typeface="Courier"/>
              </a:rPr>
              <a:t>i</a:t>
            </a:r>
            <a:r>
              <a:rPr lang="en-US" sz="2200" dirty="0">
                <a:latin typeface="Courier"/>
                <a:cs typeface="Courier"/>
              </a:rPr>
              <a:t> </a:t>
            </a:r>
            <a:r>
              <a:rPr lang="en-US" sz="2200" dirty="0">
                <a:cs typeface="Courier"/>
              </a:rPr>
              <a:t>Case insensitive matching</a:t>
            </a:r>
          </a:p>
          <a:p>
            <a:pPr marL="1092200" lvl="1">
              <a:spcAft>
                <a:spcPts val="600"/>
              </a:spcAft>
            </a:pPr>
            <a:r>
              <a:rPr lang="en-US" sz="2200" dirty="0">
                <a:latin typeface="Courier"/>
                <a:cs typeface="Courier"/>
              </a:rPr>
              <a:t>–E </a:t>
            </a:r>
            <a:r>
              <a:rPr lang="en-US" sz="2200" dirty="0">
                <a:cs typeface="Courier"/>
              </a:rPr>
              <a:t>Use regular expression syntax [more on this later]</a:t>
            </a:r>
          </a:p>
          <a:p>
            <a:pPr marL="1092200" lvl="1">
              <a:spcAft>
                <a:spcPts val="600"/>
              </a:spcAft>
            </a:pPr>
            <a:r>
              <a:rPr lang="en-US" sz="2200" dirty="0">
                <a:latin typeface="Courier"/>
                <a:cs typeface="Courier"/>
              </a:rPr>
              <a:t>–l </a:t>
            </a:r>
            <a:r>
              <a:rPr lang="en-US" sz="2200" dirty="0">
                <a:cs typeface="Courier"/>
              </a:rPr>
              <a:t>List only the file names containing matches</a:t>
            </a:r>
          </a:p>
          <a:p>
            <a:pPr marL="1092200" lvl="1">
              <a:spcAft>
                <a:spcPts val="600"/>
              </a:spcAft>
            </a:pPr>
            <a:r>
              <a:rPr lang="en-US" sz="2200" dirty="0">
                <a:latin typeface="Courier"/>
                <a:cs typeface="Courier"/>
              </a:rPr>
              <a:t>–n </a:t>
            </a:r>
            <a:r>
              <a:rPr lang="en-US" sz="2200" dirty="0">
                <a:cs typeface="Courier"/>
              </a:rPr>
              <a:t>Show the line numbers of the match</a:t>
            </a:r>
          </a:p>
          <a:p>
            <a:pPr marL="1092200" lvl="1">
              <a:spcAft>
                <a:spcPts val="600"/>
              </a:spcAft>
            </a:pPr>
            <a:r>
              <a:rPr lang="en-US" sz="2200" dirty="0">
                <a:latin typeface="Courier"/>
                <a:cs typeface="Courier"/>
              </a:rPr>
              <a:t>–h </a:t>
            </a:r>
            <a:r>
              <a:rPr lang="en-US" sz="2200" dirty="0">
                <a:cs typeface="Courier"/>
              </a:rPr>
              <a:t>Hide the filenames in the output</a:t>
            </a:r>
          </a:p>
          <a:p>
            <a:pPr marL="1092200" lvl="1">
              <a:spcAft>
                <a:spcPts val="600"/>
              </a:spcAft>
            </a:pPr>
            <a:r>
              <a:rPr lang="en-US" sz="2200" dirty="0">
                <a:latin typeface="Courier"/>
                <a:cs typeface="Courier"/>
              </a:rPr>
              <a:t>–o </a:t>
            </a:r>
            <a:r>
              <a:rPr lang="en-US" sz="2200" dirty="0">
                <a:cs typeface="Courier"/>
              </a:rPr>
              <a:t>Show the matches</a:t>
            </a:r>
          </a:p>
          <a:p>
            <a:pPr marL="1092200" lvl="1">
              <a:spcAft>
                <a:spcPts val="600"/>
              </a:spcAft>
            </a:pPr>
            <a:r>
              <a:rPr lang="en-US" sz="2200" dirty="0">
                <a:latin typeface="Courier"/>
                <a:cs typeface="Courier"/>
              </a:rPr>
              <a:t>–B </a:t>
            </a:r>
            <a:r>
              <a:rPr lang="en-US" sz="2200" dirty="0">
                <a:cs typeface="Courier"/>
              </a:rPr>
              <a:t>Print </a:t>
            </a:r>
            <a:r>
              <a:rPr lang="en-US" sz="2200" dirty="0">
                <a:latin typeface="Courier"/>
                <a:cs typeface="Courier"/>
              </a:rPr>
              <a:t>B</a:t>
            </a:r>
            <a:r>
              <a:rPr lang="en-US" sz="2200" dirty="0">
                <a:cs typeface="Courier"/>
              </a:rPr>
              <a:t> number of lines preceding the matching line</a:t>
            </a:r>
          </a:p>
          <a:p>
            <a:pPr marL="1092200" lvl="1">
              <a:spcAft>
                <a:spcPts val="600"/>
              </a:spcAft>
            </a:pPr>
            <a:r>
              <a:rPr lang="en-US" sz="2200" dirty="0">
                <a:latin typeface="Courier"/>
                <a:cs typeface="Courier"/>
              </a:rPr>
              <a:t>–A </a:t>
            </a:r>
            <a:r>
              <a:rPr lang="en-US" sz="2200" dirty="0">
                <a:cs typeface="Courier"/>
              </a:rPr>
              <a:t>Print </a:t>
            </a:r>
            <a:r>
              <a:rPr lang="en-US" sz="2200" dirty="0">
                <a:latin typeface="Courier"/>
                <a:cs typeface="Courier"/>
              </a:rPr>
              <a:t>A</a:t>
            </a:r>
            <a:r>
              <a:rPr lang="en-US" sz="2200" dirty="0">
                <a:cs typeface="Courier"/>
              </a:rPr>
              <a:t> number of lines after the matching line</a:t>
            </a:r>
          </a:p>
          <a:p>
            <a:pPr marL="1092200" lvl="1">
              <a:spcAft>
                <a:spcPts val="600"/>
              </a:spcAft>
            </a:pPr>
            <a:r>
              <a:rPr lang="en-US" sz="2200" dirty="0">
                <a:latin typeface="Courier"/>
                <a:cs typeface="Courier"/>
              </a:rPr>
              <a:t>–color </a:t>
            </a:r>
            <a:r>
              <a:rPr lang="en-US" sz="2200" dirty="0">
                <a:latin typeface="Calibri"/>
                <a:cs typeface="Calibri"/>
              </a:rPr>
              <a:t>Color the matches</a:t>
            </a:r>
          </a:p>
        </p:txBody>
      </p:sp>
    </p:spTree>
    <p:extLst>
      <p:ext uri="{BB962C8B-B14F-4D97-AF65-F5344CB8AC3E}">
        <p14:creationId xmlns:p14="http://schemas.microsoft.com/office/powerpoint/2010/main" val="368919628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609771" y="1808544"/>
            <a:ext cx="7987333" cy="26243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68325" lvl="1" indent="-342900">
              <a:lnSpc>
                <a:spcPct val="140000"/>
              </a:lnSpc>
              <a:spcAft>
                <a:spcPts val="400"/>
              </a:spcAft>
              <a:buFont typeface="Arial"/>
              <a:buChar char="•"/>
            </a:pPr>
            <a:r>
              <a:rPr lang="en-US" sz="2800" dirty="0">
                <a:latin typeface="Calibri"/>
                <a:cs typeface="Calibri"/>
              </a:rPr>
              <a:t>Shaver et al. example </a:t>
            </a:r>
            <a:r>
              <a:rPr lang="en-US" sz="2800" dirty="0">
                <a:latin typeface="Courier"/>
                <a:cs typeface="Courier"/>
              </a:rPr>
              <a:t>(</a:t>
            </a:r>
            <a:r>
              <a:rPr lang="en-US" sz="2800" dirty="0" err="1">
                <a:solidFill>
                  <a:srgbClr val="0000FF"/>
                </a:solidFill>
                <a:latin typeface="Courier"/>
                <a:cs typeface="Courier"/>
              </a:rPr>
              <a:t>shaver_etal.csv</a:t>
            </a:r>
            <a:r>
              <a:rPr lang="en-US" sz="2800" dirty="0">
                <a:latin typeface="Courier"/>
                <a:cs typeface="Courier"/>
              </a:rPr>
              <a:t>)</a:t>
            </a:r>
          </a:p>
          <a:p>
            <a:pPr marL="1482725" lvl="3" indent="-342900">
              <a:spcAft>
                <a:spcPts val="400"/>
              </a:spcAft>
              <a:buFont typeface="Lucida Grande"/>
              <a:buChar char="–"/>
            </a:pPr>
            <a:r>
              <a:rPr lang="en-US" sz="2800" dirty="0">
                <a:cs typeface="Courier"/>
              </a:rPr>
              <a:t>find just the </a:t>
            </a:r>
            <a:r>
              <a:rPr lang="en-US" sz="2800" dirty="0" err="1">
                <a:cs typeface="Courier"/>
              </a:rPr>
              <a:t>Toolik</a:t>
            </a:r>
            <a:r>
              <a:rPr lang="en-US" sz="2800" dirty="0">
                <a:cs typeface="Courier"/>
              </a:rPr>
              <a:t> Lake data</a:t>
            </a:r>
          </a:p>
          <a:p>
            <a:pPr marL="1482725" lvl="3" indent="-342900">
              <a:spcAft>
                <a:spcPts val="400"/>
              </a:spcAft>
              <a:buFont typeface="Lucida Grande"/>
              <a:buChar char="–"/>
            </a:pPr>
            <a:r>
              <a:rPr lang="en-US" sz="2800" dirty="0">
                <a:cs typeface="Courier"/>
              </a:rPr>
              <a:t>find </a:t>
            </a:r>
            <a:r>
              <a:rPr lang="en-US" sz="2800" dirty="0" err="1">
                <a:cs typeface="Courier"/>
              </a:rPr>
              <a:t>Toolik</a:t>
            </a:r>
            <a:r>
              <a:rPr lang="en-US" sz="2800" dirty="0">
                <a:cs typeface="Courier"/>
              </a:rPr>
              <a:t> Lake data, August only</a:t>
            </a:r>
          </a:p>
          <a:p>
            <a:pPr marL="1482725" lvl="3" indent="-342900">
              <a:spcAft>
                <a:spcPts val="400"/>
              </a:spcAft>
              <a:buFont typeface="Lucida Grande"/>
              <a:buChar char="–"/>
            </a:pPr>
            <a:r>
              <a:rPr lang="en-US" sz="2800" dirty="0">
                <a:cs typeface="Courier"/>
              </a:rPr>
              <a:t>find everything BUT the </a:t>
            </a:r>
            <a:r>
              <a:rPr lang="en-US" sz="2800" dirty="0" err="1">
                <a:cs typeface="Courier"/>
              </a:rPr>
              <a:t>Toolik</a:t>
            </a:r>
            <a:r>
              <a:rPr lang="en-US" sz="2800" dirty="0">
                <a:cs typeface="Courier"/>
              </a:rPr>
              <a:t> Lake data</a:t>
            </a:r>
          </a:p>
          <a:p>
            <a:pPr marL="1482725" lvl="3" indent="-342900">
              <a:spcAft>
                <a:spcPts val="400"/>
              </a:spcAft>
              <a:buFont typeface="Lucida Grande"/>
              <a:buChar char="–"/>
            </a:pPr>
            <a:r>
              <a:rPr lang="en-US" sz="2800" dirty="0">
                <a:cs typeface="Courier"/>
              </a:rPr>
              <a:t>find only the June data</a:t>
            </a:r>
          </a:p>
        </p:txBody>
      </p:sp>
      <p:sp>
        <p:nvSpPr>
          <p:cNvPr id="5" name="Title 1"/>
          <p:cNvSpPr txBox="1">
            <a:spLocks/>
          </p:cNvSpPr>
          <p:nvPr/>
        </p:nvSpPr>
        <p:spPr>
          <a:xfrm>
            <a:off x="385064" y="176523"/>
            <a:ext cx="8436747" cy="8623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 err="1">
                <a:solidFill>
                  <a:srgbClr val="0000FF"/>
                </a:solidFill>
                <a:latin typeface="Courier"/>
                <a:cs typeface="Courier"/>
              </a:rPr>
              <a:t>grep</a:t>
            </a:r>
            <a:endParaRPr lang="en-US" dirty="0">
              <a:solidFill>
                <a:srgbClr val="0000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3811822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836128" y="2022319"/>
            <a:ext cx="7518888" cy="16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682625" lvl="1" indent="-457200">
              <a:lnSpc>
                <a:spcPct val="140000"/>
              </a:lnSpc>
              <a:spcAft>
                <a:spcPts val="400"/>
              </a:spcAft>
              <a:buFont typeface="+mj-lt"/>
              <a:buAutoNum type="arabicPeriod"/>
            </a:pPr>
            <a:r>
              <a:rPr lang="en-US" sz="2400" dirty="0">
                <a:latin typeface="Calibri Light" panose="020F0302020204030204" pitchFamily="34" charset="0"/>
                <a:cs typeface="Calibri Light" panose="020F0302020204030204" pitchFamily="34" charset="0"/>
              </a:rPr>
              <a:t>Make a single file with all the nucleotide sequences (</a:t>
            </a:r>
            <a:r>
              <a:rPr lang="en-US" sz="2400" dirty="0" err="1">
                <a:latin typeface="Calibri Light" panose="020F0302020204030204" pitchFamily="34" charset="0"/>
                <a:cs typeface="Calibri Light" panose="020F0302020204030204" pitchFamily="34" charset="0"/>
              </a:rPr>
              <a:t>genes.fa</a:t>
            </a:r>
            <a:r>
              <a:rPr lang="en-US" sz="2400" dirty="0">
                <a:latin typeface="Calibri Light" panose="020F0302020204030204" pitchFamily="34" charset="0"/>
                <a:cs typeface="Calibri Light" panose="020F0302020204030204" pitchFamily="34" charset="0"/>
              </a:rPr>
              <a:t>)</a:t>
            </a:r>
          </a:p>
          <a:p>
            <a:pPr marL="682625" lvl="1" indent="-457200">
              <a:lnSpc>
                <a:spcPct val="140000"/>
              </a:lnSpc>
              <a:spcAft>
                <a:spcPts val="400"/>
              </a:spcAft>
              <a:buFont typeface="+mj-lt"/>
              <a:buAutoNum type="arabicPeriod"/>
            </a:pPr>
            <a:r>
              <a:rPr lang="en-US" sz="2400" dirty="0">
                <a:latin typeface="Calibri Light" panose="020F0302020204030204" pitchFamily="34" charset="0"/>
                <a:cs typeface="Calibri Light" panose="020F0302020204030204" pitchFamily="34" charset="0"/>
              </a:rPr>
              <a:t>Count the header lines in that file.</a:t>
            </a:r>
            <a:endParaRPr lang="en-US" sz="2400" dirty="0">
              <a:solidFill>
                <a:srgbClr val="0000FF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5" name="Title 1"/>
          <p:cNvSpPr txBox="1">
            <a:spLocks/>
          </p:cNvSpPr>
          <p:nvPr/>
        </p:nvSpPr>
        <p:spPr>
          <a:xfrm>
            <a:off x="284770" y="390298"/>
            <a:ext cx="8574460" cy="8623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70000" lnSpcReduction="20000"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  <a:cs typeface="Courier"/>
              </a:rPr>
              <a:t> Use </a:t>
            </a:r>
            <a:r>
              <a:rPr lang="en-US" dirty="0">
                <a:solidFill>
                  <a:srgbClr val="0000FF"/>
                </a:solidFill>
                <a:latin typeface="Courier"/>
                <a:cs typeface="Courier"/>
              </a:rPr>
              <a:t>grep</a:t>
            </a:r>
            <a:r>
              <a:rPr 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 to get the header line from a</a:t>
            </a:r>
            <a:r>
              <a:rPr lang="en-US" dirty="0">
                <a:solidFill>
                  <a:srgbClr val="0000FF"/>
                </a:solidFill>
                <a:latin typeface="Courier"/>
                <a:cs typeface="Courier"/>
              </a:rPr>
              <a:t> FASTA</a:t>
            </a:r>
            <a:r>
              <a:rPr lang="en-US" dirty="0">
                <a:solidFill>
                  <a:srgbClr val="0000FF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file</a:t>
            </a:r>
          </a:p>
        </p:txBody>
      </p:sp>
    </p:spTree>
    <p:extLst>
      <p:ext uri="{BB962C8B-B14F-4D97-AF65-F5344CB8AC3E}">
        <p14:creationId xmlns:p14="http://schemas.microsoft.com/office/powerpoint/2010/main" val="347353953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8044139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236575" y="3028319"/>
            <a:ext cx="8723875" cy="28931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5425" lvl="1">
              <a:spcAft>
                <a:spcPts val="1200"/>
              </a:spcAft>
            </a:pPr>
            <a:r>
              <a:rPr lang="en-US" sz="2200" dirty="0">
                <a:latin typeface="Courier"/>
                <a:cs typeface="Courier"/>
              </a:rPr>
              <a:t>$ </a:t>
            </a:r>
            <a:r>
              <a:rPr lang="en-US" sz="2200" dirty="0">
                <a:solidFill>
                  <a:srgbClr val="0000FF"/>
                </a:solidFill>
                <a:latin typeface="Courier"/>
                <a:cs typeface="Courier"/>
              </a:rPr>
              <a:t>command [options] </a:t>
            </a:r>
            <a:r>
              <a:rPr lang="en-US" sz="2200" u="sng" dirty="0">
                <a:solidFill>
                  <a:srgbClr val="0000FF"/>
                </a:solidFill>
                <a:latin typeface="Courier"/>
                <a:cs typeface="Courier"/>
              </a:rPr>
              <a:t>filename</a:t>
            </a:r>
            <a:r>
              <a:rPr lang="en-US" sz="2200" dirty="0">
                <a:solidFill>
                  <a:srgbClr val="0000FF"/>
                </a:solidFill>
                <a:latin typeface="Courier"/>
                <a:cs typeface="Courier"/>
              </a:rPr>
              <a:t> </a:t>
            </a:r>
            <a:r>
              <a:rPr lang="en-US" sz="2200" b="1" dirty="0">
                <a:solidFill>
                  <a:srgbClr val="0000FF"/>
                </a:solidFill>
                <a:latin typeface="Courier"/>
                <a:cs typeface="Courier"/>
              </a:rPr>
              <a:t>|</a:t>
            </a:r>
            <a:r>
              <a:rPr lang="en-US" sz="2200" dirty="0">
                <a:solidFill>
                  <a:srgbClr val="0000FF"/>
                </a:solidFill>
                <a:latin typeface="Courier"/>
                <a:cs typeface="Courier"/>
              </a:rPr>
              <a:t> command [options]</a:t>
            </a:r>
            <a:endParaRPr lang="en-US" sz="2200" dirty="0">
              <a:solidFill>
                <a:srgbClr val="0000FF"/>
              </a:solidFill>
              <a:cs typeface="Calibri"/>
            </a:endParaRPr>
          </a:p>
          <a:p>
            <a:pPr marL="1146175" lvl="1" indent="-287338">
              <a:spcAft>
                <a:spcPts val="1200"/>
              </a:spcAft>
              <a:buFont typeface="Arial"/>
              <a:buChar char="•"/>
            </a:pPr>
            <a:r>
              <a:rPr lang="en-US" sz="2400" dirty="0">
                <a:latin typeface="Calibri Light" panose="020F0302020204030204" pitchFamily="34" charset="0"/>
                <a:cs typeface="Calibri Light" panose="020F0302020204030204" pitchFamily="34" charset="0"/>
              </a:rPr>
              <a:t>Channel (or "pipe") STDOUT to another Unix command</a:t>
            </a:r>
          </a:p>
          <a:p>
            <a:pPr marL="1146175" lvl="1" indent="-287338">
              <a:spcAft>
                <a:spcPts val="1200"/>
              </a:spcAft>
              <a:buFont typeface="Arial"/>
              <a:buChar char="•"/>
            </a:pPr>
            <a:r>
              <a:rPr lang="en-US" sz="2400" dirty="0">
                <a:latin typeface="Calibri Light" panose="020F0302020204030204" pitchFamily="34" charset="0"/>
                <a:cs typeface="Calibri Light" panose="020F0302020204030204" pitchFamily="34" charset="0"/>
              </a:rPr>
              <a:t>The first command has an input file, the next command takes the output of the previous command as its input</a:t>
            </a:r>
          </a:p>
          <a:p>
            <a:pPr marL="1146175" lvl="1" indent="-287338">
              <a:spcAft>
                <a:spcPts val="1200"/>
              </a:spcAft>
              <a:buFont typeface="Arial"/>
              <a:buChar char="•"/>
            </a:pPr>
            <a:r>
              <a:rPr lang="en-US" sz="2400" dirty="0">
                <a:latin typeface="Calibri Light" panose="020F0302020204030204" pitchFamily="34" charset="0"/>
                <a:cs typeface="Calibri Light" panose="020F0302020204030204" pitchFamily="34" charset="0"/>
              </a:rPr>
              <a:t>No limit to the number of pipes per command </a:t>
            </a:r>
          </a:p>
          <a:p>
            <a:pPr marL="1146175" lvl="1" indent="-287338">
              <a:spcAft>
                <a:spcPts val="1200"/>
              </a:spcAft>
              <a:buFont typeface="Arial"/>
              <a:buChar char="•"/>
            </a:pPr>
            <a:r>
              <a:rPr lang="en-US" sz="2400" dirty="0">
                <a:latin typeface="Calibri Light" panose="020F0302020204030204" pitchFamily="34" charset="0"/>
                <a:cs typeface="Calibri Light" panose="020F0302020204030204" pitchFamily="34" charset="0"/>
              </a:rPr>
              <a:t>Pipes are amazing.</a:t>
            </a:r>
          </a:p>
        </p:txBody>
      </p:sp>
      <p:pic>
        <p:nvPicPr>
          <p:cNvPr id="3" name="Picture 2" descr="pipes.jp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43044" y="294487"/>
            <a:ext cx="3041847" cy="2281386"/>
          </a:xfrm>
          <a:prstGeom prst="rect">
            <a:avLst/>
          </a:prstGeom>
        </p:spPr>
      </p:pic>
      <p:pic>
        <p:nvPicPr>
          <p:cNvPr id="7" name="Picture 6" descr="pipes.jp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6478" y="294487"/>
            <a:ext cx="3041847" cy="2281386"/>
          </a:xfrm>
          <a:prstGeom prst="rect">
            <a:avLst/>
          </a:prstGeom>
        </p:spPr>
      </p:pic>
      <p:sp>
        <p:nvSpPr>
          <p:cNvPr id="8" name="Title 1"/>
          <p:cNvSpPr>
            <a:spLocks noGrp="1"/>
          </p:cNvSpPr>
          <p:nvPr>
            <p:ph type="ctrTitle"/>
          </p:nvPr>
        </p:nvSpPr>
        <p:spPr>
          <a:xfrm>
            <a:off x="2923422" y="855739"/>
            <a:ext cx="3324525" cy="1158883"/>
          </a:xfrm>
        </p:spPr>
        <p:txBody>
          <a:bodyPr>
            <a:normAutofit/>
          </a:bodyPr>
          <a:lstStyle/>
          <a:p>
            <a:r>
              <a:rPr lang="en-US" sz="5400" dirty="0">
                <a:solidFill>
                  <a:srgbClr val="0000FF"/>
                </a:solidFill>
                <a:latin typeface="Piperalpha"/>
                <a:cs typeface="Piperalpha"/>
              </a:rPr>
              <a:t>PIPES</a:t>
            </a:r>
          </a:p>
        </p:txBody>
      </p:sp>
    </p:spTree>
    <p:extLst>
      <p:ext uri="{BB962C8B-B14F-4D97-AF65-F5344CB8AC3E}">
        <p14:creationId xmlns:p14="http://schemas.microsoft.com/office/powerpoint/2010/main" val="141867140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902382" y="110643"/>
            <a:ext cx="3324525" cy="1158883"/>
          </a:xfrm>
        </p:spPr>
        <p:txBody>
          <a:bodyPr>
            <a:normAutofit/>
          </a:bodyPr>
          <a:lstStyle/>
          <a:p>
            <a:r>
              <a:rPr lang="en-US" sz="5400" dirty="0">
                <a:solidFill>
                  <a:srgbClr val="0000FF"/>
                </a:solidFill>
                <a:latin typeface="Piperalpha"/>
                <a:cs typeface="Piperalpha"/>
              </a:rPr>
              <a:t>PIPES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0514" y="1436983"/>
            <a:ext cx="8365553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5425" lvl="1" indent="-225425"/>
            <a:r>
              <a:rPr lang="en-US" dirty="0">
                <a:latin typeface="Courier"/>
                <a:cs typeface="Courier"/>
              </a:rPr>
              <a:t># view directory contents with less</a:t>
            </a:r>
          </a:p>
          <a:p>
            <a:pPr marL="225425" lvl="1" indent="-225425"/>
            <a:endParaRPr lang="en-US" dirty="0">
              <a:latin typeface="Courier"/>
              <a:cs typeface="Courier"/>
            </a:endParaRPr>
          </a:p>
          <a:p>
            <a:pPr marL="225425" lvl="1" indent="-225425"/>
            <a:r>
              <a:rPr lang="en-US" dirty="0">
                <a:latin typeface="Courier"/>
                <a:cs typeface="Courier"/>
              </a:rPr>
              <a:t># find all the times I've used the </a:t>
            </a:r>
            <a:r>
              <a:rPr lang="en-US" dirty="0" err="1">
                <a:latin typeface="Courier"/>
                <a:cs typeface="Courier"/>
              </a:rPr>
              <a:t>pwd</a:t>
            </a:r>
            <a:r>
              <a:rPr lang="en-US" dirty="0">
                <a:latin typeface="Courier"/>
                <a:cs typeface="Courier"/>
              </a:rPr>
              <a:t> command</a:t>
            </a:r>
          </a:p>
          <a:p>
            <a:pPr marL="225425" lvl="1" indent="-225425"/>
            <a:endParaRPr lang="en-US" dirty="0">
              <a:latin typeface="Courier"/>
              <a:cs typeface="Courier"/>
            </a:endParaRPr>
          </a:p>
          <a:p>
            <a:pPr marL="225425" lvl="1" indent="-225425"/>
            <a:r>
              <a:rPr lang="en-US" dirty="0">
                <a:latin typeface="Courier"/>
                <a:cs typeface="Courier"/>
              </a:rPr>
              <a:t># in ‘</a:t>
            </a:r>
            <a:r>
              <a:rPr lang="en-US" dirty="0" err="1">
                <a:latin typeface="Courier"/>
                <a:cs typeface="Courier"/>
              </a:rPr>
              <a:t>nt</a:t>
            </a:r>
            <a:r>
              <a:rPr lang="en-US" dirty="0">
                <a:latin typeface="Courier"/>
                <a:cs typeface="Courier"/>
              </a:rPr>
              <a:t>’, print FASTA files to STDOUT and search for </a:t>
            </a:r>
            <a:r>
              <a:rPr lang="en-US" dirty="0" err="1">
                <a:latin typeface="Courier"/>
                <a:cs typeface="Courier"/>
              </a:rPr>
              <a:t>EcoRI</a:t>
            </a:r>
            <a:r>
              <a:rPr lang="en-US" dirty="0">
                <a:latin typeface="Courier"/>
                <a:cs typeface="Courier"/>
              </a:rPr>
              <a:t> (</a:t>
            </a:r>
            <a:r>
              <a:rPr lang="en-US" dirty="0">
                <a:solidFill>
                  <a:srgbClr val="0000FF"/>
                </a:solidFill>
                <a:latin typeface="Courier"/>
                <a:cs typeface="Courier"/>
              </a:rPr>
              <a:t>GAATTC</a:t>
            </a:r>
            <a:r>
              <a:rPr lang="en-US" dirty="0">
                <a:latin typeface="Courier"/>
                <a:cs typeface="Courier"/>
              </a:rPr>
              <a:t>)</a:t>
            </a:r>
          </a:p>
          <a:p>
            <a:pPr marL="225425" lvl="1" indent="-225425"/>
            <a:endParaRPr lang="en-US" dirty="0">
              <a:latin typeface="Courier"/>
              <a:cs typeface="Courier"/>
            </a:endParaRPr>
          </a:p>
          <a:p>
            <a:pPr marL="225425" lvl="1" indent="-225425"/>
            <a:r>
              <a:rPr lang="en-US" dirty="0">
                <a:latin typeface="Courier"/>
                <a:cs typeface="Courier"/>
              </a:rPr>
              <a:t># get just the August </a:t>
            </a:r>
            <a:r>
              <a:rPr lang="en-US" dirty="0" err="1">
                <a:latin typeface="Courier"/>
                <a:cs typeface="Courier"/>
              </a:rPr>
              <a:t>Toolik</a:t>
            </a:r>
            <a:r>
              <a:rPr lang="en-US" dirty="0">
                <a:latin typeface="Courier"/>
                <a:cs typeface="Courier"/>
              </a:rPr>
              <a:t> Lake data</a:t>
            </a:r>
          </a:p>
          <a:p>
            <a:pPr marL="225425" lvl="1" indent="-225425"/>
            <a:endParaRPr lang="en-US" dirty="0">
              <a:latin typeface="Courier"/>
              <a:cs typeface="Courier"/>
            </a:endParaRPr>
          </a:p>
          <a:p>
            <a:pPr marL="225425" lvl="1" indent="-225425"/>
            <a:r>
              <a:rPr lang="en-US" dirty="0">
                <a:latin typeface="Courier"/>
                <a:cs typeface="Courier"/>
              </a:rPr>
              <a:t># get just the August </a:t>
            </a:r>
            <a:r>
              <a:rPr lang="en-US" u="sng" dirty="0">
                <a:latin typeface="Courier"/>
                <a:cs typeface="Courier"/>
              </a:rPr>
              <a:t>2003</a:t>
            </a:r>
            <a:r>
              <a:rPr lang="en-US" dirty="0">
                <a:latin typeface="Courier"/>
                <a:cs typeface="Courier"/>
              </a:rPr>
              <a:t> </a:t>
            </a:r>
            <a:r>
              <a:rPr lang="en-US" dirty="0" err="1">
                <a:latin typeface="Courier"/>
                <a:cs typeface="Courier"/>
              </a:rPr>
              <a:t>Toolik</a:t>
            </a:r>
            <a:r>
              <a:rPr lang="en-US" dirty="0">
                <a:latin typeface="Courier"/>
                <a:cs typeface="Courier"/>
              </a:rPr>
              <a:t> Lake data</a:t>
            </a:r>
          </a:p>
          <a:p>
            <a:pPr marL="225425" lvl="1" indent="-225425"/>
            <a:endParaRPr lang="en-US" dirty="0">
              <a:latin typeface="Courier"/>
              <a:cs typeface="Courier"/>
            </a:endParaRPr>
          </a:p>
          <a:p>
            <a:pPr marL="225425" lvl="1" indent="-225425"/>
            <a:r>
              <a:rPr lang="en-US" dirty="0">
                <a:latin typeface="Courier"/>
                <a:cs typeface="Courier"/>
              </a:rPr>
              <a:t># get plastid-derived regions outside the plastid "IR"</a:t>
            </a:r>
          </a:p>
        </p:txBody>
      </p:sp>
    </p:spTree>
    <p:extLst>
      <p:ext uri="{BB962C8B-B14F-4D97-AF65-F5344CB8AC3E}">
        <p14:creationId xmlns:p14="http://schemas.microsoft.com/office/powerpoint/2010/main" val="62547336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5705" y="288439"/>
            <a:ext cx="9054872" cy="625867"/>
          </a:xfrm>
        </p:spPr>
        <p:txBody>
          <a:bodyPr>
            <a:noAutofit/>
          </a:bodyPr>
          <a:lstStyle/>
          <a:p>
            <a:r>
              <a:rPr lang="en-US" sz="3600" dirty="0">
                <a:solidFill>
                  <a:srgbClr val="0000FF"/>
                </a:solidFill>
                <a:latin typeface="Courier"/>
                <a:cs typeface="Courier"/>
              </a:rPr>
              <a:t>cut</a:t>
            </a:r>
            <a:endParaRPr lang="en-US" sz="3600" dirty="0">
              <a:latin typeface="Calibri"/>
              <a:cs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236575" y="1108250"/>
            <a:ext cx="8723875" cy="53245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5425" lvl="1">
              <a:spcAft>
                <a:spcPts val="1200"/>
              </a:spcAft>
            </a:pPr>
            <a:r>
              <a:rPr lang="en-US" sz="2600" dirty="0">
                <a:cs typeface="Calibri"/>
              </a:rPr>
              <a:t>Extract columns of data separated by whitespace</a:t>
            </a:r>
          </a:p>
          <a:p>
            <a:pPr marL="225425" lvl="1"/>
            <a:r>
              <a:rPr lang="en-US" sz="2400" dirty="0">
                <a:latin typeface="Courier"/>
                <a:cs typeface="Courier"/>
              </a:rPr>
              <a:t>$ </a:t>
            </a:r>
            <a:r>
              <a:rPr lang="en-US" sz="2400" dirty="0">
                <a:solidFill>
                  <a:srgbClr val="0000FF"/>
                </a:solidFill>
                <a:latin typeface="Courier"/>
                <a:cs typeface="Courier"/>
              </a:rPr>
              <a:t>cut [options] filename</a:t>
            </a:r>
            <a:endParaRPr lang="en-US" sz="2000" dirty="0">
              <a:cs typeface="Courier"/>
            </a:endParaRPr>
          </a:p>
          <a:p>
            <a:pPr marL="1092200" lvl="1"/>
            <a:r>
              <a:rPr lang="en-US" sz="2000" dirty="0">
                <a:latin typeface="Courier"/>
                <a:cs typeface="Courier"/>
              </a:rPr>
              <a:t>-f </a:t>
            </a:r>
            <a:r>
              <a:rPr lang="en-US" sz="2000" dirty="0">
                <a:cs typeface="Courier"/>
              </a:rPr>
              <a:t>which fields to extract and print</a:t>
            </a:r>
          </a:p>
          <a:p>
            <a:pPr marL="1092200" lvl="1">
              <a:spcAft>
                <a:spcPts val="1200"/>
              </a:spcAft>
            </a:pPr>
            <a:r>
              <a:rPr lang="en-US" sz="2000" dirty="0">
                <a:latin typeface="Courier"/>
                <a:cs typeface="Courier"/>
              </a:rPr>
              <a:t>-c </a:t>
            </a:r>
            <a:r>
              <a:rPr lang="en-US" sz="2000" dirty="0">
                <a:cs typeface="Courier"/>
              </a:rPr>
              <a:t>which characters to extract and print</a:t>
            </a:r>
          </a:p>
          <a:p>
            <a:pPr marL="573088" lvl="1" indent="-347663">
              <a:spcBef>
                <a:spcPts val="1200"/>
              </a:spcBef>
            </a:pPr>
            <a:r>
              <a:rPr lang="en-US" sz="2000" dirty="0">
                <a:cs typeface="Courier"/>
              </a:rPr>
              <a:t># extract the start coordinate of each feature in </a:t>
            </a:r>
            <a:r>
              <a:rPr lang="en-US" sz="2000" dirty="0" err="1">
                <a:latin typeface="Courier"/>
                <a:cs typeface="Courier"/>
              </a:rPr>
              <a:t>watermelon.gff</a:t>
            </a:r>
            <a:endParaRPr lang="en-US" sz="2000" dirty="0">
              <a:latin typeface="Courier"/>
              <a:cs typeface="Courier"/>
            </a:endParaRPr>
          </a:p>
          <a:p>
            <a:pPr marL="573088" lvl="1" indent="-347663">
              <a:spcAft>
                <a:spcPts val="1200"/>
              </a:spcAft>
            </a:pPr>
            <a:r>
              <a:rPr lang="en-US" sz="2000" dirty="0">
                <a:latin typeface="Courier"/>
                <a:cs typeface="Courier"/>
              </a:rPr>
              <a:t>$ </a:t>
            </a:r>
            <a:r>
              <a:rPr lang="en-US" sz="2000" dirty="0">
                <a:solidFill>
                  <a:srgbClr val="0000FF"/>
                </a:solidFill>
                <a:latin typeface="Courier"/>
                <a:cs typeface="Courier"/>
              </a:rPr>
              <a:t>cut –f 4 </a:t>
            </a:r>
            <a:r>
              <a:rPr lang="en-US" sz="2000" dirty="0" err="1">
                <a:solidFill>
                  <a:srgbClr val="0000FF"/>
                </a:solidFill>
                <a:latin typeface="Courier"/>
                <a:cs typeface="Courier"/>
              </a:rPr>
              <a:t>watermelon.gff</a:t>
            </a:r>
            <a:endParaRPr lang="en-US" sz="2000" dirty="0">
              <a:solidFill>
                <a:srgbClr val="0000FF"/>
              </a:solidFill>
              <a:latin typeface="Courier"/>
              <a:cs typeface="Courier"/>
            </a:endParaRPr>
          </a:p>
          <a:p>
            <a:pPr marL="573088" lvl="1" indent="-347663">
              <a:spcBef>
                <a:spcPts val="1200"/>
              </a:spcBef>
            </a:pPr>
            <a:r>
              <a:rPr lang="en-US" sz="2000" dirty="0">
                <a:cs typeface="Courier"/>
              </a:rPr>
              <a:t># extract the start and stop coordinates</a:t>
            </a:r>
            <a:endParaRPr lang="en-US" sz="2000" dirty="0">
              <a:latin typeface="Courier"/>
              <a:cs typeface="Courier"/>
            </a:endParaRPr>
          </a:p>
          <a:p>
            <a:pPr marL="573088" lvl="1" indent="-347663">
              <a:spcAft>
                <a:spcPts val="1200"/>
              </a:spcAft>
            </a:pPr>
            <a:r>
              <a:rPr lang="en-US" sz="2000" dirty="0">
                <a:latin typeface="Courier"/>
                <a:cs typeface="Courier"/>
              </a:rPr>
              <a:t>$ </a:t>
            </a:r>
            <a:r>
              <a:rPr lang="en-US" sz="2000" dirty="0">
                <a:solidFill>
                  <a:srgbClr val="0000FF"/>
                </a:solidFill>
                <a:latin typeface="Courier"/>
                <a:cs typeface="Courier"/>
              </a:rPr>
              <a:t>cut –f 4-5 </a:t>
            </a:r>
            <a:r>
              <a:rPr lang="en-US" sz="2000" dirty="0" err="1">
                <a:solidFill>
                  <a:srgbClr val="0000FF"/>
                </a:solidFill>
                <a:latin typeface="Courier"/>
                <a:cs typeface="Courier"/>
              </a:rPr>
              <a:t>watermelon.gff</a:t>
            </a:r>
            <a:endParaRPr lang="en-US" sz="2000" dirty="0">
              <a:solidFill>
                <a:srgbClr val="0000FF"/>
              </a:solidFill>
              <a:latin typeface="Courier"/>
              <a:cs typeface="Courier"/>
            </a:endParaRPr>
          </a:p>
          <a:p>
            <a:pPr marL="573088" lvl="1" indent="-347663">
              <a:spcBef>
                <a:spcPts val="1200"/>
              </a:spcBef>
            </a:pPr>
            <a:r>
              <a:rPr lang="en-US" sz="2000" dirty="0">
                <a:cs typeface="Courier"/>
              </a:rPr>
              <a:t># extract the start and stop coordinate and feature details</a:t>
            </a:r>
            <a:endParaRPr lang="en-US" sz="2000" dirty="0">
              <a:latin typeface="Courier"/>
              <a:cs typeface="Courier"/>
            </a:endParaRPr>
          </a:p>
          <a:p>
            <a:pPr marL="573088" lvl="1" indent="-347663">
              <a:spcAft>
                <a:spcPts val="1200"/>
              </a:spcAft>
            </a:pPr>
            <a:r>
              <a:rPr lang="en-US" sz="2000" dirty="0">
                <a:latin typeface="Courier"/>
                <a:cs typeface="Courier"/>
              </a:rPr>
              <a:t>$ </a:t>
            </a:r>
            <a:r>
              <a:rPr lang="en-US" sz="2000" dirty="0">
                <a:solidFill>
                  <a:srgbClr val="0000FF"/>
                </a:solidFill>
                <a:latin typeface="Courier"/>
                <a:cs typeface="Courier"/>
              </a:rPr>
              <a:t>cut –f 4-5,9 </a:t>
            </a:r>
            <a:r>
              <a:rPr lang="en-US" sz="2000" dirty="0" err="1">
                <a:solidFill>
                  <a:srgbClr val="0000FF"/>
                </a:solidFill>
                <a:latin typeface="Courier"/>
                <a:cs typeface="Courier"/>
              </a:rPr>
              <a:t>watermelon.gff</a:t>
            </a:r>
            <a:endParaRPr lang="en-US" sz="2000" dirty="0">
              <a:solidFill>
                <a:srgbClr val="0000FF"/>
              </a:solidFill>
              <a:latin typeface="Courier"/>
              <a:cs typeface="Courier"/>
            </a:endParaRPr>
          </a:p>
          <a:p>
            <a:pPr marL="573088" lvl="1" indent="-347663">
              <a:spcBef>
                <a:spcPts val="1200"/>
              </a:spcBef>
            </a:pPr>
            <a:r>
              <a:rPr lang="en-US" sz="2000" dirty="0">
                <a:cs typeface="Courier"/>
              </a:rPr>
              <a:t># extract a range of characters</a:t>
            </a:r>
            <a:endParaRPr lang="en-US" sz="2000" dirty="0">
              <a:latin typeface="Courier"/>
              <a:cs typeface="Courier"/>
            </a:endParaRPr>
          </a:p>
          <a:p>
            <a:pPr marL="573088" lvl="1" indent="-347663">
              <a:spcAft>
                <a:spcPts val="1200"/>
              </a:spcAft>
            </a:pPr>
            <a:r>
              <a:rPr lang="en-US" sz="2000" dirty="0">
                <a:latin typeface="Courier"/>
                <a:cs typeface="Courier"/>
              </a:rPr>
              <a:t>$ </a:t>
            </a:r>
            <a:r>
              <a:rPr lang="en-US" sz="2000" dirty="0">
                <a:solidFill>
                  <a:srgbClr val="0000FF"/>
                </a:solidFill>
                <a:latin typeface="Courier"/>
                <a:cs typeface="Courier"/>
              </a:rPr>
              <a:t>cut –c 10-20 </a:t>
            </a:r>
            <a:r>
              <a:rPr lang="en-US" sz="2000" dirty="0" err="1">
                <a:solidFill>
                  <a:srgbClr val="0000FF"/>
                </a:solidFill>
                <a:latin typeface="Courier"/>
                <a:cs typeface="Courier"/>
              </a:rPr>
              <a:t>watermelon.gff</a:t>
            </a:r>
            <a:endParaRPr lang="en-US" sz="2200" dirty="0">
              <a:solidFill>
                <a:srgbClr val="0000FF"/>
              </a:solidFill>
              <a:latin typeface="Courier"/>
              <a:cs typeface="Courier"/>
            </a:endParaRPr>
          </a:p>
        </p:txBody>
      </p:sp>
    </p:spTree>
    <p:extLst>
      <p:ext uri="{BB962C8B-B14F-4D97-AF65-F5344CB8AC3E}">
        <p14:creationId xmlns:p14="http://schemas.microsoft.com/office/powerpoint/2010/main" val="405339602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5705" y="288439"/>
            <a:ext cx="9054872" cy="625867"/>
          </a:xfrm>
        </p:spPr>
        <p:txBody>
          <a:bodyPr>
            <a:noAutofit/>
          </a:bodyPr>
          <a:lstStyle/>
          <a:p>
            <a:r>
              <a:rPr lang="en-US" sz="3600" dirty="0" err="1">
                <a:solidFill>
                  <a:srgbClr val="0000FF"/>
                </a:solidFill>
                <a:latin typeface="Courier"/>
                <a:cs typeface="Courier"/>
              </a:rPr>
              <a:t>uniq</a:t>
            </a:r>
            <a:endParaRPr lang="en-US" sz="3600" dirty="0">
              <a:latin typeface="Calibri"/>
              <a:cs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236575" y="1108250"/>
            <a:ext cx="8723875" cy="55553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5425" lvl="1">
              <a:spcAft>
                <a:spcPts val="1200"/>
              </a:spcAft>
            </a:pPr>
            <a:r>
              <a:rPr lang="en-US" sz="2600" dirty="0">
                <a:cs typeface="Calibri"/>
              </a:rPr>
              <a:t>Remove </a:t>
            </a:r>
            <a:r>
              <a:rPr lang="en-US" sz="2600" i="1" dirty="0">
                <a:cs typeface="Calibri"/>
              </a:rPr>
              <a:t>consecutive </a:t>
            </a:r>
            <a:r>
              <a:rPr lang="en-US" sz="2600" dirty="0">
                <a:cs typeface="Calibri"/>
              </a:rPr>
              <a:t>duplicate lines (keeping one)</a:t>
            </a:r>
          </a:p>
          <a:p>
            <a:pPr marL="225425" lvl="1"/>
            <a:r>
              <a:rPr lang="en-US" sz="2400" dirty="0">
                <a:latin typeface="Courier"/>
                <a:cs typeface="Courier"/>
              </a:rPr>
              <a:t>$ </a:t>
            </a:r>
            <a:r>
              <a:rPr lang="en-US" sz="2400" dirty="0" err="1">
                <a:solidFill>
                  <a:srgbClr val="0000FF"/>
                </a:solidFill>
                <a:latin typeface="Courier"/>
                <a:cs typeface="Courier"/>
              </a:rPr>
              <a:t>uniq</a:t>
            </a:r>
            <a:r>
              <a:rPr lang="en-US" sz="2400" dirty="0">
                <a:solidFill>
                  <a:srgbClr val="0000FF"/>
                </a:solidFill>
                <a:latin typeface="Courier"/>
                <a:cs typeface="Courier"/>
              </a:rPr>
              <a:t>[options] filename</a:t>
            </a:r>
            <a:endParaRPr lang="en-US" sz="2000" dirty="0">
              <a:cs typeface="Courier"/>
            </a:endParaRPr>
          </a:p>
          <a:p>
            <a:pPr marL="1092200" lvl="1"/>
            <a:r>
              <a:rPr lang="en-US" sz="2000" dirty="0">
                <a:latin typeface="Courier"/>
                <a:cs typeface="Courier"/>
              </a:rPr>
              <a:t>-c </a:t>
            </a:r>
            <a:r>
              <a:rPr lang="en-US" sz="2000" dirty="0">
                <a:cs typeface="Courier"/>
              </a:rPr>
              <a:t>show counts of occurrences next to the unique lines</a:t>
            </a:r>
          </a:p>
          <a:p>
            <a:pPr marL="1092200" lvl="1"/>
            <a:r>
              <a:rPr lang="en-US" sz="2000" dirty="0">
                <a:latin typeface="Courier"/>
                <a:cs typeface="Courier"/>
              </a:rPr>
              <a:t>-d </a:t>
            </a:r>
            <a:r>
              <a:rPr lang="en-US" sz="2000" dirty="0">
                <a:cs typeface="Courier"/>
              </a:rPr>
              <a:t>output duplicated lines only</a:t>
            </a:r>
          </a:p>
          <a:p>
            <a:pPr marL="573088" lvl="1" indent="-347663">
              <a:spcBef>
                <a:spcPts val="1200"/>
              </a:spcBef>
            </a:pPr>
            <a:r>
              <a:rPr lang="en-US" sz="2000" dirty="0">
                <a:cs typeface="Courier"/>
              </a:rPr>
              <a:t># look at its default behavior</a:t>
            </a:r>
            <a:endParaRPr lang="en-US" sz="2000" dirty="0">
              <a:latin typeface="Courier"/>
              <a:cs typeface="Courier"/>
            </a:endParaRPr>
          </a:p>
          <a:p>
            <a:pPr marL="573088" lvl="1" indent="-347663">
              <a:spcAft>
                <a:spcPts val="600"/>
              </a:spcAft>
            </a:pPr>
            <a:r>
              <a:rPr lang="en-US" sz="2000" dirty="0">
                <a:latin typeface="Courier"/>
                <a:cs typeface="Courier"/>
              </a:rPr>
              <a:t>$ </a:t>
            </a:r>
            <a:r>
              <a:rPr lang="en-US" sz="2000" dirty="0">
                <a:solidFill>
                  <a:srgbClr val="0000FF"/>
                </a:solidFill>
                <a:latin typeface="Courier"/>
                <a:cs typeface="Courier"/>
              </a:rPr>
              <a:t>cat </a:t>
            </a:r>
            <a:r>
              <a:rPr lang="en-US" sz="2000" dirty="0" err="1">
                <a:solidFill>
                  <a:srgbClr val="0000FF"/>
                </a:solidFill>
                <a:latin typeface="Courier"/>
                <a:cs typeface="Courier"/>
              </a:rPr>
              <a:t>letters.txt</a:t>
            </a:r>
            <a:endParaRPr lang="en-US" sz="2000" dirty="0">
              <a:solidFill>
                <a:srgbClr val="0000FF"/>
              </a:solidFill>
              <a:latin typeface="Courier"/>
              <a:cs typeface="Courier"/>
            </a:endParaRPr>
          </a:p>
          <a:p>
            <a:pPr marL="573088" lvl="1" indent="-347663">
              <a:spcAft>
                <a:spcPts val="1200"/>
              </a:spcAft>
            </a:pPr>
            <a:r>
              <a:rPr lang="en-US" sz="2000" dirty="0">
                <a:latin typeface="Courier"/>
                <a:cs typeface="Courier"/>
              </a:rPr>
              <a:t>$ </a:t>
            </a:r>
            <a:r>
              <a:rPr lang="en-US" sz="2000" dirty="0" err="1">
                <a:solidFill>
                  <a:srgbClr val="0000FF"/>
                </a:solidFill>
                <a:latin typeface="Courier"/>
                <a:cs typeface="Courier"/>
              </a:rPr>
              <a:t>uniq</a:t>
            </a:r>
            <a:r>
              <a:rPr lang="en-US" sz="2000" dirty="0">
                <a:solidFill>
                  <a:srgbClr val="0000FF"/>
                </a:solidFill>
                <a:latin typeface="Courier"/>
                <a:cs typeface="Courier"/>
              </a:rPr>
              <a:t> </a:t>
            </a:r>
            <a:r>
              <a:rPr lang="en-US" sz="2000" dirty="0" err="1">
                <a:solidFill>
                  <a:srgbClr val="0000FF"/>
                </a:solidFill>
                <a:latin typeface="Courier"/>
                <a:cs typeface="Courier"/>
              </a:rPr>
              <a:t>letters.txt</a:t>
            </a:r>
            <a:endParaRPr lang="en-US" sz="2000" dirty="0">
              <a:solidFill>
                <a:srgbClr val="0000FF"/>
              </a:solidFill>
              <a:latin typeface="Courier"/>
              <a:cs typeface="Courier"/>
            </a:endParaRPr>
          </a:p>
          <a:p>
            <a:pPr marL="573088" lvl="1" indent="-347663">
              <a:spcBef>
                <a:spcPts val="1200"/>
              </a:spcBef>
            </a:pPr>
            <a:r>
              <a:rPr lang="en-US" sz="2000" dirty="0">
                <a:cs typeface="Courier"/>
              </a:rPr>
              <a:t># return only unique values (can this be done with </a:t>
            </a:r>
            <a:r>
              <a:rPr lang="en-US" sz="2000" dirty="0">
                <a:solidFill>
                  <a:srgbClr val="0000FF"/>
                </a:solidFill>
                <a:latin typeface="Courier"/>
                <a:cs typeface="Courier"/>
              </a:rPr>
              <a:t>sort</a:t>
            </a:r>
            <a:r>
              <a:rPr lang="en-US" sz="2000" dirty="0">
                <a:cs typeface="Courier"/>
              </a:rPr>
              <a:t> alone?)</a:t>
            </a:r>
            <a:endParaRPr lang="en-US" sz="2000" dirty="0">
              <a:latin typeface="Courier"/>
              <a:cs typeface="Courier"/>
            </a:endParaRPr>
          </a:p>
          <a:p>
            <a:pPr marL="573088" lvl="1" indent="-347663">
              <a:spcAft>
                <a:spcPts val="1200"/>
              </a:spcAft>
            </a:pPr>
            <a:r>
              <a:rPr lang="en-US" sz="2000" dirty="0">
                <a:latin typeface="Courier"/>
                <a:cs typeface="Courier"/>
              </a:rPr>
              <a:t>$ </a:t>
            </a:r>
            <a:r>
              <a:rPr lang="en-US" sz="2000" dirty="0">
                <a:solidFill>
                  <a:srgbClr val="0000FF"/>
                </a:solidFill>
                <a:latin typeface="Courier"/>
                <a:cs typeface="Courier"/>
              </a:rPr>
              <a:t>sort </a:t>
            </a:r>
            <a:r>
              <a:rPr lang="en-US" sz="2000" dirty="0" err="1">
                <a:solidFill>
                  <a:srgbClr val="0000FF"/>
                </a:solidFill>
                <a:latin typeface="Courier"/>
                <a:cs typeface="Courier"/>
              </a:rPr>
              <a:t>letters.txt</a:t>
            </a:r>
            <a:r>
              <a:rPr lang="en-US" sz="2000" dirty="0">
                <a:solidFill>
                  <a:srgbClr val="0000FF"/>
                </a:solidFill>
                <a:latin typeface="Courier"/>
                <a:cs typeface="Courier"/>
              </a:rPr>
              <a:t> | </a:t>
            </a:r>
            <a:r>
              <a:rPr lang="en-US" sz="2000" dirty="0" err="1">
                <a:solidFill>
                  <a:srgbClr val="0000FF"/>
                </a:solidFill>
                <a:latin typeface="Courier"/>
                <a:cs typeface="Courier"/>
              </a:rPr>
              <a:t>uniq</a:t>
            </a:r>
            <a:endParaRPr lang="en-US" sz="2000" dirty="0">
              <a:solidFill>
                <a:srgbClr val="0000FF"/>
              </a:solidFill>
              <a:latin typeface="Courier"/>
              <a:cs typeface="Courier"/>
            </a:endParaRPr>
          </a:p>
          <a:p>
            <a:pPr marL="573088" lvl="1" indent="-347663">
              <a:spcBef>
                <a:spcPts val="1200"/>
              </a:spcBef>
            </a:pPr>
            <a:r>
              <a:rPr lang="en-US" sz="2000" dirty="0">
                <a:cs typeface="Courier"/>
              </a:rPr>
              <a:t># show number of occurrences of each line in the file</a:t>
            </a:r>
            <a:endParaRPr lang="en-US" sz="2000" dirty="0">
              <a:latin typeface="Courier"/>
              <a:cs typeface="Courier"/>
            </a:endParaRPr>
          </a:p>
          <a:p>
            <a:pPr marL="573088" lvl="1" indent="-347663">
              <a:spcAft>
                <a:spcPts val="1200"/>
              </a:spcAft>
            </a:pPr>
            <a:r>
              <a:rPr lang="en-US" sz="2000" dirty="0">
                <a:latin typeface="Courier"/>
                <a:cs typeface="Courier"/>
              </a:rPr>
              <a:t>$ </a:t>
            </a:r>
            <a:r>
              <a:rPr lang="en-US" sz="2000" dirty="0">
                <a:solidFill>
                  <a:srgbClr val="0000FF"/>
                </a:solidFill>
                <a:latin typeface="Courier"/>
                <a:cs typeface="Courier"/>
              </a:rPr>
              <a:t>sort </a:t>
            </a:r>
            <a:r>
              <a:rPr lang="en-US" sz="2000" dirty="0" err="1">
                <a:solidFill>
                  <a:srgbClr val="0000FF"/>
                </a:solidFill>
                <a:latin typeface="Courier"/>
                <a:cs typeface="Courier"/>
              </a:rPr>
              <a:t>letters.txt</a:t>
            </a:r>
            <a:r>
              <a:rPr lang="en-US" sz="2000" dirty="0">
                <a:solidFill>
                  <a:srgbClr val="0000FF"/>
                </a:solidFill>
                <a:latin typeface="Courier"/>
                <a:cs typeface="Courier"/>
              </a:rPr>
              <a:t> | </a:t>
            </a:r>
            <a:r>
              <a:rPr lang="en-US" sz="2000" dirty="0" err="1">
                <a:solidFill>
                  <a:srgbClr val="0000FF"/>
                </a:solidFill>
                <a:latin typeface="Courier"/>
                <a:cs typeface="Courier"/>
              </a:rPr>
              <a:t>uniq</a:t>
            </a:r>
            <a:endParaRPr lang="en-US" sz="2000" dirty="0">
              <a:solidFill>
                <a:srgbClr val="0000FF"/>
              </a:solidFill>
              <a:latin typeface="Courier"/>
              <a:cs typeface="Courier"/>
            </a:endParaRPr>
          </a:p>
          <a:p>
            <a:pPr marL="573088" lvl="1" indent="-347663">
              <a:spcBef>
                <a:spcPts val="1200"/>
              </a:spcBef>
            </a:pPr>
            <a:r>
              <a:rPr lang="en-US" sz="2000" dirty="0">
                <a:cs typeface="Courier"/>
              </a:rPr>
              <a:t># number of features of each type in the watermelon mitochondrial genome</a:t>
            </a:r>
            <a:endParaRPr lang="en-US" sz="2000" dirty="0">
              <a:latin typeface="Courier"/>
              <a:cs typeface="Courier"/>
            </a:endParaRPr>
          </a:p>
          <a:p>
            <a:pPr marL="573088" lvl="1" indent="-347663">
              <a:spcAft>
                <a:spcPts val="1200"/>
              </a:spcAft>
            </a:pPr>
            <a:r>
              <a:rPr lang="en-US" sz="2000" dirty="0">
                <a:latin typeface="Courier"/>
                <a:cs typeface="Courier"/>
              </a:rPr>
              <a:t>$ </a:t>
            </a:r>
            <a:r>
              <a:rPr lang="en-US" sz="2000" dirty="0">
                <a:solidFill>
                  <a:srgbClr val="0000FF"/>
                </a:solidFill>
                <a:latin typeface="Courier"/>
                <a:cs typeface="Courier"/>
              </a:rPr>
              <a:t>cut –f3 </a:t>
            </a:r>
            <a:r>
              <a:rPr lang="en-US" sz="2000" dirty="0" err="1">
                <a:solidFill>
                  <a:srgbClr val="0000FF"/>
                </a:solidFill>
                <a:latin typeface="Courier"/>
                <a:cs typeface="Courier"/>
              </a:rPr>
              <a:t>watermelon.gff</a:t>
            </a:r>
            <a:r>
              <a:rPr lang="en-US" sz="2000" dirty="0">
                <a:solidFill>
                  <a:srgbClr val="0000FF"/>
                </a:solidFill>
                <a:latin typeface="Courier"/>
                <a:cs typeface="Courier"/>
              </a:rPr>
              <a:t> | sort | </a:t>
            </a:r>
            <a:r>
              <a:rPr lang="en-US" sz="2000" dirty="0" err="1">
                <a:solidFill>
                  <a:srgbClr val="0000FF"/>
                </a:solidFill>
                <a:latin typeface="Courier"/>
                <a:cs typeface="Courier"/>
              </a:rPr>
              <a:t>uniq</a:t>
            </a:r>
            <a:r>
              <a:rPr lang="en-US" sz="2000" dirty="0">
                <a:solidFill>
                  <a:srgbClr val="0000FF"/>
                </a:solidFill>
                <a:latin typeface="Courier"/>
                <a:cs typeface="Courier"/>
              </a:rPr>
              <a:t> –c</a:t>
            </a:r>
          </a:p>
        </p:txBody>
      </p:sp>
    </p:spTree>
    <p:extLst>
      <p:ext uri="{BB962C8B-B14F-4D97-AF65-F5344CB8AC3E}">
        <p14:creationId xmlns:p14="http://schemas.microsoft.com/office/powerpoint/2010/main" val="428278090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188602" y="1319207"/>
            <a:ext cx="8788802" cy="18004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69913" lvl="1" indent="-344488">
              <a:spcAft>
                <a:spcPts val="1800"/>
              </a:spcAft>
              <a:buFont typeface="+mj-lt"/>
              <a:buAutoNum type="arabicPeriod"/>
            </a:pPr>
            <a:r>
              <a:rPr lang="en-US" sz="2400" dirty="0">
                <a:cs typeface="Courier"/>
              </a:rPr>
              <a:t>In </a:t>
            </a:r>
            <a:r>
              <a:rPr lang="en-US" sz="2400" dirty="0" err="1">
                <a:solidFill>
                  <a:srgbClr val="0000FF"/>
                </a:solidFill>
                <a:latin typeface="Courier"/>
                <a:cs typeface="Courier"/>
              </a:rPr>
              <a:t>watermelon.gff</a:t>
            </a:r>
            <a:r>
              <a:rPr lang="en-US" sz="2400" dirty="0">
                <a:cs typeface="Courier"/>
              </a:rPr>
              <a:t>, extract the start, stop, and size of each intron; sort the list by intron size in descending order.</a:t>
            </a:r>
          </a:p>
          <a:p>
            <a:pPr marL="569913" lvl="1" indent="-344488">
              <a:spcAft>
                <a:spcPts val="1800"/>
              </a:spcAft>
              <a:buFont typeface="+mj-lt"/>
              <a:buAutoNum type="arabicPeriod"/>
            </a:pPr>
            <a:r>
              <a:rPr lang="en-US" sz="2400" dirty="0">
                <a:cs typeface="Courier"/>
              </a:rPr>
              <a:t>Get a list of all </a:t>
            </a:r>
            <a:r>
              <a:rPr lang="en-US" sz="2400" dirty="0" err="1">
                <a:cs typeface="Courier"/>
              </a:rPr>
              <a:t>tRNAs</a:t>
            </a:r>
            <a:r>
              <a:rPr lang="en-US" sz="2400" dirty="0">
                <a:cs typeface="Courier"/>
              </a:rPr>
              <a:t> on the '–' strand, extract and print the start coordinate, end coordinate, and 'group' field.</a:t>
            </a:r>
            <a:endParaRPr lang="en-US" sz="2400" dirty="0">
              <a:latin typeface="Calibri"/>
              <a:cs typeface="Calibri"/>
            </a:endParaRPr>
          </a:p>
        </p:txBody>
      </p:sp>
      <p:sp>
        <p:nvSpPr>
          <p:cNvPr id="5" name="Title 1"/>
          <p:cNvSpPr txBox="1">
            <a:spLocks/>
          </p:cNvSpPr>
          <p:nvPr/>
        </p:nvSpPr>
        <p:spPr>
          <a:xfrm>
            <a:off x="364627" y="176523"/>
            <a:ext cx="8436747" cy="8623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solidFill>
                  <a:srgbClr val="0000FF"/>
                </a:solidFill>
                <a:latin typeface="Courier"/>
                <a:cs typeface="Courier"/>
              </a:rPr>
              <a:t>Try it.</a:t>
            </a:r>
            <a:endParaRPr lang="en-US" dirty="0">
              <a:solidFill>
                <a:srgbClr val="0000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6979095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5705" y="443559"/>
            <a:ext cx="9054872" cy="625867"/>
          </a:xfrm>
        </p:spPr>
        <p:txBody>
          <a:bodyPr>
            <a:noAutofit/>
          </a:bodyPr>
          <a:lstStyle/>
          <a:p>
            <a:r>
              <a:rPr lang="en-US" sz="3600" dirty="0">
                <a:latin typeface="Calibri"/>
                <a:cs typeface="Calibri"/>
              </a:rPr>
              <a:t>Doing multiple things at once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6575" y="1360320"/>
            <a:ext cx="8723875" cy="22159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5425" lvl="1" algn="ctr"/>
            <a:r>
              <a:rPr lang="en-US" sz="2600" dirty="0">
                <a:cs typeface="Calibri"/>
              </a:rPr>
              <a:t>There are lots of ways to run multiple commands in sequence</a:t>
            </a:r>
          </a:p>
          <a:p>
            <a:pPr marL="225425" lvl="1" algn="ctr"/>
            <a:endParaRPr lang="en-US" sz="2600" dirty="0">
              <a:cs typeface="Calibri"/>
            </a:endParaRPr>
          </a:p>
          <a:p>
            <a:pPr marL="1262063" lvl="1" indent="-347663">
              <a:spcAft>
                <a:spcPts val="1200"/>
              </a:spcAft>
              <a:buFont typeface="+mj-lt"/>
              <a:buAutoNum type="arabicPeriod"/>
            </a:pPr>
            <a:r>
              <a:rPr lang="en-US" sz="2200" dirty="0">
                <a:cs typeface="Courier"/>
              </a:rPr>
              <a:t>Pipes</a:t>
            </a:r>
          </a:p>
          <a:p>
            <a:pPr marL="1262063" lvl="1" indent="-347663">
              <a:spcAft>
                <a:spcPts val="1200"/>
              </a:spcAft>
              <a:buFont typeface="+mj-lt"/>
              <a:buAutoNum type="arabicPeriod"/>
            </a:pPr>
            <a:r>
              <a:rPr lang="en-US" sz="2200" dirty="0">
                <a:cs typeface="Courier"/>
              </a:rPr>
              <a:t>Semicolon-separated commands</a:t>
            </a:r>
          </a:p>
          <a:p>
            <a:pPr marL="1262063" lvl="1" indent="-347663">
              <a:spcAft>
                <a:spcPts val="1200"/>
              </a:spcAft>
            </a:pPr>
            <a:r>
              <a:rPr lang="en-US" sz="2200" dirty="0">
                <a:latin typeface="Courier"/>
                <a:cs typeface="Courier"/>
              </a:rPr>
              <a:t>			$ </a:t>
            </a:r>
            <a:r>
              <a:rPr lang="en-US" sz="2200" dirty="0" err="1">
                <a:solidFill>
                  <a:srgbClr val="0000FF"/>
                </a:solidFill>
                <a:latin typeface="Courier"/>
                <a:cs typeface="Courier"/>
              </a:rPr>
              <a:t>command;command;command</a:t>
            </a:r>
            <a:endParaRPr lang="en-US" sz="2200" dirty="0">
              <a:solidFill>
                <a:srgbClr val="0000FF"/>
              </a:solidFill>
              <a:latin typeface="Courier"/>
              <a:cs typeface="Courier"/>
            </a:endParaRPr>
          </a:p>
        </p:txBody>
      </p:sp>
    </p:spTree>
    <p:extLst>
      <p:ext uri="{BB962C8B-B14F-4D97-AF65-F5344CB8AC3E}">
        <p14:creationId xmlns:p14="http://schemas.microsoft.com/office/powerpoint/2010/main" val="420773753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5705" y="443559"/>
            <a:ext cx="9054872" cy="625867"/>
          </a:xfrm>
        </p:spPr>
        <p:txBody>
          <a:bodyPr>
            <a:noAutofit/>
          </a:bodyPr>
          <a:lstStyle/>
          <a:p>
            <a:r>
              <a:rPr lang="en-US" sz="3600" dirty="0">
                <a:latin typeface="Calibri"/>
                <a:cs typeface="Calibri"/>
              </a:rPr>
              <a:t>Doing multiple things at once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6575" y="1360320"/>
            <a:ext cx="8723875" cy="39395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5425" lvl="1" algn="ctr"/>
            <a:r>
              <a:rPr lang="en-US" sz="2600" dirty="0">
                <a:cs typeface="Calibri"/>
              </a:rPr>
              <a:t>There are lots of ways to run multiple commands in sequence</a:t>
            </a:r>
          </a:p>
          <a:p>
            <a:pPr marL="225425" lvl="1" algn="ctr"/>
            <a:endParaRPr lang="en-US" sz="2600" dirty="0">
              <a:cs typeface="Calibri"/>
            </a:endParaRPr>
          </a:p>
          <a:p>
            <a:pPr marL="1262063" lvl="1" indent="-347663">
              <a:spcAft>
                <a:spcPts val="1200"/>
              </a:spcAft>
              <a:buFont typeface="+mj-lt"/>
              <a:buAutoNum type="arabicPeriod"/>
            </a:pPr>
            <a:r>
              <a:rPr lang="en-US" sz="2200" dirty="0">
                <a:cs typeface="Courier"/>
              </a:rPr>
              <a:t>Pipes</a:t>
            </a:r>
          </a:p>
          <a:p>
            <a:pPr marL="1262063" lvl="1" indent="-347663">
              <a:spcAft>
                <a:spcPts val="1200"/>
              </a:spcAft>
              <a:buFont typeface="+mj-lt"/>
              <a:buAutoNum type="arabicPeriod"/>
            </a:pPr>
            <a:r>
              <a:rPr lang="en-US" sz="2200" dirty="0">
                <a:cs typeface="Courier"/>
              </a:rPr>
              <a:t>Semicolon-separated commands</a:t>
            </a:r>
          </a:p>
          <a:p>
            <a:pPr marL="1262063" lvl="1" indent="-347663">
              <a:spcAft>
                <a:spcPts val="1200"/>
              </a:spcAft>
            </a:pPr>
            <a:r>
              <a:rPr lang="en-US" sz="2200" dirty="0">
                <a:latin typeface="Courier"/>
                <a:cs typeface="Courier"/>
              </a:rPr>
              <a:t>			$ </a:t>
            </a:r>
            <a:r>
              <a:rPr lang="en-US" sz="2200" dirty="0" err="1">
                <a:solidFill>
                  <a:srgbClr val="0000FF"/>
                </a:solidFill>
                <a:latin typeface="Courier"/>
                <a:cs typeface="Courier"/>
              </a:rPr>
              <a:t>command;command;command</a:t>
            </a:r>
          </a:p>
          <a:p>
            <a:pPr marL="1262063" lvl="1" indent="-347663">
              <a:spcAft>
                <a:spcPts val="1200"/>
              </a:spcAft>
              <a:buFont typeface="+mj-lt"/>
              <a:buAutoNum type="arabicPeriod" startAt="3"/>
            </a:pPr>
            <a:r>
              <a:rPr lang="en-US" sz="2200" dirty="0">
                <a:cs typeface="Courier"/>
              </a:rPr>
              <a:t>Bash scripts</a:t>
            </a:r>
          </a:p>
          <a:p>
            <a:pPr marL="2176463" lvl="3" indent="-347663">
              <a:spcAft>
                <a:spcPts val="800"/>
              </a:spcAft>
              <a:buFont typeface="Arial"/>
              <a:buChar char="•"/>
            </a:pPr>
            <a:r>
              <a:rPr lang="en-US" sz="2000" dirty="0">
                <a:cs typeface="Courier"/>
              </a:rPr>
              <a:t>an executable text file with a set of commands</a:t>
            </a:r>
          </a:p>
          <a:p>
            <a:pPr marL="2176463" lvl="3" indent="-347663">
              <a:spcAft>
                <a:spcPts val="800"/>
              </a:spcAft>
              <a:buFont typeface="Arial"/>
              <a:buChar char="•"/>
            </a:pPr>
            <a:r>
              <a:rPr lang="en-US" sz="2000" dirty="0">
                <a:cs typeface="Courier"/>
              </a:rPr>
              <a:t>i</a:t>
            </a:r>
            <a:r>
              <a:rPr lang="en-US" sz="2000" dirty="0"/>
              <a:t>n addition to automating your tasks, Bash scripts provide a permanent record of what you did*</a:t>
            </a:r>
          </a:p>
        </p:txBody>
      </p:sp>
    </p:spTree>
    <p:extLst>
      <p:ext uri="{BB962C8B-B14F-4D97-AF65-F5344CB8AC3E}">
        <p14:creationId xmlns:p14="http://schemas.microsoft.com/office/powerpoint/2010/main" val="240551682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5705" y="443559"/>
            <a:ext cx="9054872" cy="625867"/>
          </a:xfrm>
        </p:spPr>
        <p:txBody>
          <a:bodyPr>
            <a:noAutofit/>
          </a:bodyPr>
          <a:lstStyle/>
          <a:p>
            <a:r>
              <a:rPr lang="en-US" sz="3600" dirty="0">
                <a:latin typeface="Calibri"/>
                <a:cs typeface="Calibri"/>
              </a:rPr>
              <a:t>Bash scripts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7643" y="2223938"/>
            <a:ext cx="2955357" cy="28931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lvl="1">
              <a:spcAft>
                <a:spcPts val="1200"/>
              </a:spcAft>
            </a:pPr>
            <a:r>
              <a:rPr lang="en-US" sz="2200" dirty="0">
                <a:latin typeface="Courier"/>
                <a:cs typeface="Courier"/>
              </a:rPr>
              <a:t>#! /bin/bash</a:t>
            </a:r>
          </a:p>
          <a:p>
            <a:pPr marL="0" lvl="1">
              <a:spcAft>
                <a:spcPts val="1200"/>
              </a:spcAft>
            </a:pPr>
            <a:r>
              <a:rPr lang="en-US" sz="2200" dirty="0">
                <a:solidFill>
                  <a:srgbClr val="0000FF"/>
                </a:solidFill>
                <a:latin typeface="Courier"/>
                <a:cs typeface="Courier"/>
              </a:rPr>
              <a:t>command</a:t>
            </a:r>
            <a:endParaRPr lang="en-US" sz="2200" dirty="0">
              <a:latin typeface="Courier"/>
              <a:cs typeface="Courier"/>
            </a:endParaRPr>
          </a:p>
          <a:p>
            <a:pPr marL="0" lvl="1">
              <a:spcAft>
                <a:spcPts val="1200"/>
              </a:spcAft>
            </a:pPr>
            <a:r>
              <a:rPr lang="en-US" sz="2200" dirty="0">
                <a:solidFill>
                  <a:srgbClr val="0000FF"/>
                </a:solidFill>
                <a:latin typeface="Courier"/>
                <a:cs typeface="Courier"/>
              </a:rPr>
              <a:t>command</a:t>
            </a:r>
          </a:p>
          <a:p>
            <a:pPr marL="0" lvl="1">
              <a:spcAft>
                <a:spcPts val="1200"/>
              </a:spcAft>
            </a:pPr>
            <a:r>
              <a:rPr lang="en-US" sz="2200" dirty="0">
                <a:solidFill>
                  <a:srgbClr val="0000FF"/>
                </a:solidFill>
                <a:latin typeface="Courier"/>
                <a:cs typeface="Courier"/>
              </a:rPr>
              <a:t>   .</a:t>
            </a:r>
          </a:p>
          <a:p>
            <a:pPr marL="0" lvl="1">
              <a:spcAft>
                <a:spcPts val="1200"/>
              </a:spcAft>
            </a:pPr>
            <a:r>
              <a:rPr lang="en-US" sz="2200" dirty="0">
                <a:solidFill>
                  <a:srgbClr val="0000FF"/>
                </a:solidFill>
                <a:latin typeface="Courier"/>
                <a:cs typeface="Courier"/>
              </a:rPr>
              <a:t>   .</a:t>
            </a:r>
          </a:p>
          <a:p>
            <a:pPr marL="0" lvl="1">
              <a:spcAft>
                <a:spcPts val="1200"/>
              </a:spcAft>
            </a:pPr>
            <a:r>
              <a:rPr lang="en-US" sz="2200" dirty="0">
                <a:solidFill>
                  <a:srgbClr val="0000FF"/>
                </a:solidFill>
                <a:latin typeface="Courier"/>
                <a:cs typeface="Courier"/>
              </a:rPr>
              <a:t>   .</a:t>
            </a:r>
          </a:p>
        </p:txBody>
      </p:sp>
      <p:cxnSp>
        <p:nvCxnSpPr>
          <p:cNvPr id="5" name="Straight Arrow Connector 4"/>
          <p:cNvCxnSpPr/>
          <p:nvPr/>
        </p:nvCxnSpPr>
        <p:spPr>
          <a:xfrm flipH="1">
            <a:off x="3776165" y="2505962"/>
            <a:ext cx="1159934" cy="0"/>
          </a:xfrm>
          <a:prstGeom prst="straightConnector1">
            <a:avLst/>
          </a:prstGeom>
          <a:ln w="76200">
            <a:solidFill>
              <a:srgbClr val="000000"/>
            </a:solidFill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054578" y="1824181"/>
            <a:ext cx="3818489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FF0000"/>
                </a:solidFill>
              </a:rPr>
              <a:t>header line</a:t>
            </a:r>
            <a:r>
              <a:rPr lang="en-US" sz="2000" dirty="0"/>
              <a:t> – file header, the shell sees this and sends the rest of the commands to /bin/bash; can omit if executing generic system commands only</a:t>
            </a:r>
          </a:p>
        </p:txBody>
      </p:sp>
      <p:cxnSp>
        <p:nvCxnSpPr>
          <p:cNvPr id="7" name="Straight Arrow Connector 6"/>
          <p:cNvCxnSpPr/>
          <p:nvPr/>
        </p:nvCxnSpPr>
        <p:spPr>
          <a:xfrm flipH="1">
            <a:off x="3776165" y="4085621"/>
            <a:ext cx="1159934" cy="0"/>
          </a:xfrm>
          <a:prstGeom prst="straightConnector1">
            <a:avLst/>
          </a:prstGeom>
          <a:ln w="76200">
            <a:solidFill>
              <a:srgbClr val="000000"/>
            </a:solidFill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054578" y="3731678"/>
            <a:ext cx="381848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series of commands – Unix commands, scripts, programs</a:t>
            </a:r>
          </a:p>
        </p:txBody>
      </p:sp>
      <p:grpSp>
        <p:nvGrpSpPr>
          <p:cNvPr id="11" name="Group 10"/>
          <p:cNvGrpSpPr/>
          <p:nvPr/>
        </p:nvGrpSpPr>
        <p:grpSpPr>
          <a:xfrm>
            <a:off x="4114779" y="4639743"/>
            <a:ext cx="3993401" cy="1398200"/>
            <a:chOff x="3962373" y="4309530"/>
            <a:chExt cx="3993401" cy="1398200"/>
          </a:xfrm>
        </p:grpSpPr>
        <p:sp>
          <p:nvSpPr>
            <p:cNvPr id="9" name="TextBox 8"/>
            <p:cNvSpPr txBox="1"/>
            <p:nvPr/>
          </p:nvSpPr>
          <p:spPr>
            <a:xfrm>
              <a:off x="3962373" y="4673601"/>
              <a:ext cx="3993401" cy="103412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285750" indent="-285750">
                <a:lnSpc>
                  <a:spcPct val="120000"/>
                </a:lnSpc>
                <a:buFont typeface="Arial"/>
                <a:buChar char="•"/>
              </a:pPr>
              <a:r>
                <a:rPr lang="en-US" dirty="0"/>
                <a:t>The file must be executable</a:t>
              </a:r>
            </a:p>
            <a:p>
              <a:pPr marL="285750" indent="-285750">
                <a:lnSpc>
                  <a:spcPct val="120000"/>
                </a:lnSpc>
                <a:buFont typeface="Arial"/>
                <a:buChar char="•"/>
              </a:pPr>
              <a:r>
                <a:rPr lang="en-US" dirty="0"/>
                <a:t>Execute from the command line with:</a:t>
              </a:r>
            </a:p>
            <a:p>
              <a:pPr algn="ctr"/>
              <a:r>
                <a:rPr lang="en-US" dirty="0">
                  <a:latin typeface="Courier"/>
                  <a:cs typeface="Courier"/>
                </a:rPr>
                <a:t>	$ </a:t>
              </a:r>
              <a:r>
                <a:rPr lang="en-US" dirty="0">
                  <a:solidFill>
                    <a:srgbClr val="0000FF"/>
                  </a:solidFill>
                  <a:latin typeface="Courier"/>
                  <a:cs typeface="Courier"/>
                </a:rPr>
                <a:t>./bash_script1.sh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3962373" y="4309530"/>
              <a:ext cx="904314" cy="43088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200" u="sng" dirty="0"/>
                <a:t>NOTE:</a:t>
              </a:r>
            </a:p>
          </p:txBody>
        </p:sp>
      </p:grpSp>
      <p:cxnSp>
        <p:nvCxnSpPr>
          <p:cNvPr id="12" name="Straight Arrow Connector 11"/>
          <p:cNvCxnSpPr/>
          <p:nvPr/>
        </p:nvCxnSpPr>
        <p:spPr>
          <a:xfrm>
            <a:off x="995985" y="1647187"/>
            <a:ext cx="1" cy="521034"/>
          </a:xfrm>
          <a:prstGeom prst="straightConnector1">
            <a:avLst/>
          </a:prstGeom>
          <a:ln w="50800">
            <a:solidFill>
              <a:srgbClr val="000000"/>
            </a:solidFill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449874" y="1226635"/>
            <a:ext cx="1092222" cy="4401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FF0000"/>
                </a:solidFill>
              </a:rPr>
              <a:t>shebang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32821747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47422" y="176523"/>
            <a:ext cx="8436747" cy="862385"/>
          </a:xfrm>
        </p:spPr>
        <p:txBody>
          <a:bodyPr>
            <a:normAutofit/>
          </a:bodyPr>
          <a:lstStyle/>
          <a:p>
            <a:r>
              <a:rPr lang="en-US" dirty="0" err="1">
                <a:solidFill>
                  <a:srgbClr val="0000FF"/>
                </a:solidFill>
                <a:latin typeface="Courier"/>
                <a:cs typeface="Courier"/>
              </a:rPr>
              <a:t>chmod</a:t>
            </a:r>
            <a:endParaRPr lang="en-US" dirty="0">
              <a:solidFill>
                <a:srgbClr val="0000FF"/>
              </a:solidFill>
              <a:latin typeface="Courier"/>
              <a:cs typeface="Courier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54185" y="1355844"/>
            <a:ext cx="8823220" cy="18876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5425" lvl="1">
              <a:spcAft>
                <a:spcPts val="1200"/>
              </a:spcAft>
            </a:pPr>
            <a:r>
              <a:rPr lang="en-US" sz="2800" dirty="0">
                <a:latin typeface="Courier"/>
                <a:cs typeface="Courier"/>
              </a:rPr>
              <a:t>$ </a:t>
            </a:r>
            <a:r>
              <a:rPr lang="en-US" sz="2800" dirty="0" err="1">
                <a:solidFill>
                  <a:srgbClr val="0000FF"/>
                </a:solidFill>
                <a:latin typeface="Courier"/>
                <a:cs typeface="Courier"/>
              </a:rPr>
              <a:t>chmod</a:t>
            </a:r>
            <a:r>
              <a:rPr lang="en-US" sz="2800" dirty="0">
                <a:solidFill>
                  <a:srgbClr val="0000FF"/>
                </a:solidFill>
                <a:latin typeface="Courier"/>
                <a:cs typeface="Courier"/>
              </a:rPr>
              <a:t> </a:t>
            </a:r>
            <a:r>
              <a:rPr lang="en-US" sz="2800" dirty="0">
                <a:cs typeface="Calibri"/>
              </a:rPr>
              <a:t>–   </a:t>
            </a:r>
            <a:r>
              <a:rPr lang="en-US" sz="2400" dirty="0">
                <a:cs typeface="Calibri"/>
              </a:rPr>
              <a:t>change file permissions (</a:t>
            </a:r>
            <a:r>
              <a:rPr lang="en-US" sz="2400" u="sng" dirty="0">
                <a:cs typeface="Calibri"/>
              </a:rPr>
              <a:t>ch</a:t>
            </a:r>
            <a:r>
              <a:rPr lang="en-US" sz="2400" dirty="0">
                <a:cs typeface="Calibri"/>
              </a:rPr>
              <a:t>ange </a:t>
            </a:r>
            <a:r>
              <a:rPr lang="en-US" sz="2400" u="sng" dirty="0">
                <a:cs typeface="Calibri"/>
              </a:rPr>
              <a:t>mod</a:t>
            </a:r>
            <a:r>
              <a:rPr lang="en-US" sz="2400" dirty="0">
                <a:cs typeface="Calibri"/>
              </a:rPr>
              <a:t>e)</a:t>
            </a:r>
          </a:p>
          <a:p>
            <a:pPr marL="1146175" lvl="1" indent="-287338">
              <a:spcAft>
                <a:spcPts val="400"/>
              </a:spcAft>
              <a:buFont typeface="Arial"/>
              <a:buChar char="•"/>
            </a:pPr>
            <a:r>
              <a:rPr lang="en-US" sz="2400" dirty="0">
                <a:latin typeface="Calibri"/>
                <a:cs typeface="Calibri"/>
              </a:rPr>
              <a:t>files have </a:t>
            </a:r>
            <a:r>
              <a:rPr lang="en-US" sz="2400" u="sng" dirty="0">
                <a:latin typeface="Calibri"/>
                <a:cs typeface="Calibri"/>
              </a:rPr>
              <a:t>r</a:t>
            </a:r>
            <a:r>
              <a:rPr lang="en-US" sz="2400" dirty="0">
                <a:latin typeface="Calibri"/>
                <a:cs typeface="Calibri"/>
              </a:rPr>
              <a:t>ead, </a:t>
            </a:r>
            <a:r>
              <a:rPr lang="en-US" sz="2400" u="sng" dirty="0">
                <a:latin typeface="Calibri"/>
                <a:cs typeface="Calibri"/>
              </a:rPr>
              <a:t>w</a:t>
            </a:r>
            <a:r>
              <a:rPr lang="en-US" sz="2400" dirty="0">
                <a:latin typeface="Calibri"/>
                <a:cs typeface="Calibri"/>
              </a:rPr>
              <a:t>rite, and e</a:t>
            </a:r>
            <a:r>
              <a:rPr lang="en-US" sz="2400" u="sng" dirty="0">
                <a:latin typeface="Calibri"/>
                <a:cs typeface="Calibri"/>
              </a:rPr>
              <a:t>x</a:t>
            </a:r>
            <a:r>
              <a:rPr lang="en-US" sz="2400" dirty="0">
                <a:latin typeface="Calibri"/>
                <a:cs typeface="Calibri"/>
              </a:rPr>
              <a:t>ecute permissions</a:t>
            </a:r>
          </a:p>
          <a:p>
            <a:pPr marL="1146175" lvl="1" indent="-287338">
              <a:spcAft>
                <a:spcPts val="400"/>
              </a:spcAft>
              <a:buFont typeface="Arial"/>
              <a:buChar char="•"/>
            </a:pPr>
            <a:r>
              <a:rPr lang="en-US" sz="2400" dirty="0">
                <a:latin typeface="Calibri"/>
                <a:cs typeface="Calibri"/>
              </a:rPr>
              <a:t>programs need to be executable</a:t>
            </a:r>
          </a:p>
          <a:p>
            <a:pPr marL="1146175" lvl="1" indent="-287338">
              <a:spcAft>
                <a:spcPts val="400"/>
              </a:spcAft>
              <a:buFont typeface="Arial"/>
              <a:buChar char="•"/>
            </a:pPr>
            <a:r>
              <a:rPr lang="en-US" sz="2400" dirty="0">
                <a:latin typeface="Calibri"/>
                <a:cs typeface="Calibri"/>
              </a:rPr>
              <a:t>permissions are assigned to you (the </a:t>
            </a:r>
            <a:r>
              <a:rPr lang="en-US" sz="2400" u="sng" dirty="0">
                <a:latin typeface="Calibri"/>
                <a:cs typeface="Calibri"/>
              </a:rPr>
              <a:t>u</a:t>
            </a:r>
            <a:r>
              <a:rPr lang="en-US" sz="2400" dirty="0">
                <a:latin typeface="Calibri"/>
                <a:cs typeface="Calibri"/>
              </a:rPr>
              <a:t>ser), </a:t>
            </a:r>
            <a:r>
              <a:rPr lang="en-US" sz="2400" u="sng" dirty="0">
                <a:latin typeface="Calibri"/>
                <a:cs typeface="Calibri"/>
              </a:rPr>
              <a:t>g</a:t>
            </a:r>
            <a:r>
              <a:rPr lang="en-US" sz="2400" dirty="0">
                <a:latin typeface="Calibri"/>
                <a:cs typeface="Calibri"/>
              </a:rPr>
              <a:t>roup, and </a:t>
            </a:r>
            <a:r>
              <a:rPr lang="en-US" sz="2400" u="sng" dirty="0">
                <a:latin typeface="Calibri"/>
                <a:cs typeface="Calibri"/>
              </a:rPr>
              <a:t>o</a:t>
            </a:r>
            <a:r>
              <a:rPr lang="en-US" sz="2400" dirty="0">
                <a:latin typeface="Calibri"/>
                <a:cs typeface="Calibri"/>
              </a:rPr>
              <a:t>ther</a:t>
            </a:r>
          </a:p>
        </p:txBody>
      </p:sp>
      <p:grpSp>
        <p:nvGrpSpPr>
          <p:cNvPr id="8" name="Group 7"/>
          <p:cNvGrpSpPr/>
          <p:nvPr/>
        </p:nvGrpSpPr>
        <p:grpSpPr>
          <a:xfrm>
            <a:off x="3520695" y="3709733"/>
            <a:ext cx="2090201" cy="1324258"/>
            <a:chOff x="3478388" y="4837668"/>
            <a:chExt cx="2090201" cy="1324258"/>
          </a:xfrm>
        </p:grpSpPr>
        <p:sp>
          <p:nvSpPr>
            <p:cNvPr id="9" name="TextBox 8"/>
            <p:cNvSpPr txBox="1"/>
            <p:nvPr/>
          </p:nvSpPr>
          <p:spPr>
            <a:xfrm>
              <a:off x="3478388" y="4837668"/>
              <a:ext cx="203162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i-FI" sz="2400" dirty="0" err="1">
                  <a:latin typeface="Courier"/>
                  <a:cs typeface="Courier"/>
                </a:rPr>
                <a:t>-</a:t>
              </a:r>
              <a:r>
                <a:rPr lang="fi-FI" sz="2400" dirty="0" err="1">
                  <a:solidFill>
                    <a:srgbClr val="FF0000"/>
                  </a:solidFill>
                  <a:latin typeface="Courier"/>
                  <a:cs typeface="Courier"/>
                </a:rPr>
                <a:t>rw-</a:t>
              </a:r>
              <a:r>
                <a:rPr lang="fi-FI" sz="2400" dirty="0" err="1">
                  <a:solidFill>
                    <a:schemeClr val="accent6">
                      <a:lumMod val="50000"/>
                    </a:schemeClr>
                  </a:solidFill>
                  <a:latin typeface="Courier"/>
                  <a:cs typeface="Courier"/>
                </a:rPr>
                <a:t>r--</a:t>
              </a:r>
              <a:r>
                <a:rPr lang="fi-FI" sz="2400" dirty="0" err="1">
                  <a:solidFill>
                    <a:srgbClr val="008000"/>
                  </a:solidFill>
                  <a:latin typeface="Courier"/>
                  <a:cs typeface="Courier"/>
                </a:rPr>
                <a:t>r--</a:t>
              </a:r>
              <a:endParaRPr lang="en-US" sz="2400" dirty="0">
                <a:solidFill>
                  <a:srgbClr val="008000"/>
                </a:solidFill>
              </a:endParaRPr>
            </a:p>
          </p:txBody>
        </p:sp>
        <p:grpSp>
          <p:nvGrpSpPr>
            <p:cNvPr id="10" name="Group 9"/>
            <p:cNvGrpSpPr/>
            <p:nvPr/>
          </p:nvGrpSpPr>
          <p:grpSpPr>
            <a:xfrm>
              <a:off x="3612444" y="5299333"/>
              <a:ext cx="591553" cy="862593"/>
              <a:chOff x="3626556" y="5299333"/>
              <a:chExt cx="591553" cy="862593"/>
            </a:xfrm>
          </p:grpSpPr>
          <p:cxnSp>
            <p:nvCxnSpPr>
              <p:cNvPr id="17" name="Straight Arrow Connector 16"/>
              <p:cNvCxnSpPr/>
              <p:nvPr/>
            </p:nvCxnSpPr>
            <p:spPr>
              <a:xfrm flipV="1">
                <a:off x="3922332" y="5299333"/>
                <a:ext cx="0" cy="503398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arrow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8" name="TextBox 17"/>
              <p:cNvSpPr txBox="1"/>
              <p:nvPr/>
            </p:nvSpPr>
            <p:spPr>
              <a:xfrm>
                <a:off x="3626556" y="5792594"/>
                <a:ext cx="59155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0000"/>
                    </a:solidFill>
                  </a:rPr>
                  <a:t>user</a:t>
                </a:r>
              </a:p>
            </p:txBody>
          </p:sp>
        </p:grpSp>
        <p:grpSp>
          <p:nvGrpSpPr>
            <p:cNvPr id="11" name="Group 10"/>
            <p:cNvGrpSpPr/>
            <p:nvPr/>
          </p:nvGrpSpPr>
          <p:grpSpPr>
            <a:xfrm>
              <a:off x="4167094" y="5303557"/>
              <a:ext cx="738078" cy="858369"/>
              <a:chOff x="4205087" y="5303557"/>
              <a:chExt cx="738078" cy="858369"/>
            </a:xfrm>
          </p:grpSpPr>
          <p:cxnSp>
            <p:nvCxnSpPr>
              <p:cNvPr id="15" name="Straight Arrow Connector 14"/>
              <p:cNvCxnSpPr/>
              <p:nvPr/>
            </p:nvCxnSpPr>
            <p:spPr>
              <a:xfrm flipV="1">
                <a:off x="4574126" y="5303557"/>
                <a:ext cx="0" cy="503398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arrow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6" name="TextBox 15"/>
              <p:cNvSpPr txBox="1"/>
              <p:nvPr/>
            </p:nvSpPr>
            <p:spPr>
              <a:xfrm>
                <a:off x="4205087" y="5792594"/>
                <a:ext cx="73807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984807"/>
                    </a:solidFill>
                  </a:rPr>
                  <a:t>group</a:t>
                </a:r>
              </a:p>
            </p:txBody>
          </p:sp>
        </p:grpSp>
        <p:grpSp>
          <p:nvGrpSpPr>
            <p:cNvPr id="12" name="Group 11"/>
            <p:cNvGrpSpPr/>
            <p:nvPr/>
          </p:nvGrpSpPr>
          <p:grpSpPr>
            <a:xfrm>
              <a:off x="4868270" y="5299333"/>
              <a:ext cx="700319" cy="862593"/>
              <a:chOff x="4755374" y="5299333"/>
              <a:chExt cx="700319" cy="862593"/>
            </a:xfrm>
          </p:grpSpPr>
          <p:cxnSp>
            <p:nvCxnSpPr>
              <p:cNvPr id="13" name="Straight Arrow Connector 12"/>
              <p:cNvCxnSpPr/>
              <p:nvPr/>
            </p:nvCxnSpPr>
            <p:spPr>
              <a:xfrm flipV="1">
                <a:off x="5106847" y="5299333"/>
                <a:ext cx="0" cy="503398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arrow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TextBox 13"/>
              <p:cNvSpPr txBox="1"/>
              <p:nvPr/>
            </p:nvSpPr>
            <p:spPr>
              <a:xfrm>
                <a:off x="4755374" y="5792594"/>
                <a:ext cx="70031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008000"/>
                    </a:solidFill>
                  </a:rPr>
                  <a:t>other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425250671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47422" y="176523"/>
            <a:ext cx="8436747" cy="862385"/>
          </a:xfrm>
        </p:spPr>
        <p:txBody>
          <a:bodyPr>
            <a:normAutofit/>
          </a:bodyPr>
          <a:lstStyle/>
          <a:p>
            <a:r>
              <a:rPr lang="en-US" dirty="0" err="1">
                <a:solidFill>
                  <a:srgbClr val="0000FF"/>
                </a:solidFill>
                <a:latin typeface="Courier"/>
                <a:cs typeface="Courier"/>
              </a:rPr>
              <a:t>chmod</a:t>
            </a:r>
            <a:endParaRPr lang="en-US" dirty="0">
              <a:solidFill>
                <a:srgbClr val="0000FF"/>
              </a:solidFill>
              <a:latin typeface="Courier"/>
              <a:cs typeface="Courier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54185" y="1355844"/>
            <a:ext cx="882322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5425" lvl="1">
              <a:spcAft>
                <a:spcPts val="1200"/>
              </a:spcAft>
            </a:pPr>
            <a:r>
              <a:rPr lang="en-US" sz="2800" dirty="0">
                <a:latin typeface="Courier"/>
                <a:cs typeface="Courier"/>
              </a:rPr>
              <a:t>$ </a:t>
            </a:r>
            <a:r>
              <a:rPr lang="en-US" sz="2800" dirty="0" err="1">
                <a:solidFill>
                  <a:srgbClr val="0000FF"/>
                </a:solidFill>
                <a:latin typeface="Courier"/>
                <a:cs typeface="Courier"/>
              </a:rPr>
              <a:t>chmod</a:t>
            </a:r>
            <a:r>
              <a:rPr lang="en-US" sz="2800" dirty="0">
                <a:solidFill>
                  <a:srgbClr val="0000FF"/>
                </a:solidFill>
                <a:latin typeface="Courier"/>
                <a:cs typeface="Courier"/>
              </a:rPr>
              <a:t> </a:t>
            </a:r>
            <a:r>
              <a:rPr lang="en-US" sz="2800" u="sng" dirty="0" err="1">
                <a:solidFill>
                  <a:srgbClr val="0000FF"/>
                </a:solidFill>
                <a:latin typeface="Courier"/>
                <a:cs typeface="Courier"/>
              </a:rPr>
              <a:t>ugo</a:t>
            </a:r>
            <a:r>
              <a:rPr lang="en-US" sz="2800" u="sng" dirty="0">
                <a:solidFill>
                  <a:srgbClr val="0000FF"/>
                </a:solidFill>
                <a:latin typeface="Courier"/>
                <a:cs typeface="Courier"/>
              </a:rPr>
              <a:t> +/- </a:t>
            </a:r>
            <a:r>
              <a:rPr lang="en-US" sz="2800" u="sng" dirty="0" err="1">
                <a:solidFill>
                  <a:srgbClr val="0000FF"/>
                </a:solidFill>
                <a:latin typeface="Courier"/>
                <a:cs typeface="Courier"/>
              </a:rPr>
              <a:t>rwx</a:t>
            </a:r>
            <a:r>
              <a:rPr lang="en-US" sz="2800" dirty="0">
                <a:solidFill>
                  <a:srgbClr val="0000FF"/>
                </a:solidFill>
                <a:latin typeface="Courier"/>
                <a:cs typeface="Courier"/>
              </a:rPr>
              <a:t> </a:t>
            </a:r>
            <a:r>
              <a:rPr lang="en-US" sz="2800" u="sng" dirty="0">
                <a:solidFill>
                  <a:srgbClr val="0000FF"/>
                </a:solidFill>
                <a:latin typeface="Courier"/>
                <a:cs typeface="Courier"/>
              </a:rPr>
              <a:t>filename</a:t>
            </a:r>
            <a:endParaRPr lang="en-US" sz="2400" u="sng" dirty="0">
              <a:latin typeface="Calibri"/>
              <a:cs typeface="Calibri"/>
            </a:endParaRPr>
          </a:p>
        </p:txBody>
      </p:sp>
      <p:cxnSp>
        <p:nvCxnSpPr>
          <p:cNvPr id="28" name="Straight Arrow Connector 27"/>
          <p:cNvCxnSpPr/>
          <p:nvPr/>
        </p:nvCxnSpPr>
        <p:spPr>
          <a:xfrm flipV="1">
            <a:off x="2474662" y="1905528"/>
            <a:ext cx="0" cy="503398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/>
          <p:cNvCxnSpPr/>
          <p:nvPr/>
        </p:nvCxnSpPr>
        <p:spPr>
          <a:xfrm flipV="1">
            <a:off x="3324779" y="1905528"/>
            <a:ext cx="0" cy="503398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/>
          <p:cNvCxnSpPr/>
          <p:nvPr/>
        </p:nvCxnSpPr>
        <p:spPr>
          <a:xfrm flipV="1">
            <a:off x="4188521" y="1905528"/>
            <a:ext cx="0" cy="503398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2178322" y="2346051"/>
            <a:ext cx="5926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who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93662" y="2346051"/>
            <a:ext cx="10622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give/take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86769" y="2346051"/>
            <a:ext cx="1518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gets to do this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154185" y="3445109"/>
            <a:ext cx="8723875" cy="1786925"/>
            <a:chOff x="154185" y="3834591"/>
            <a:chExt cx="8723875" cy="1786925"/>
          </a:xfrm>
        </p:grpSpPr>
        <p:sp>
          <p:nvSpPr>
            <p:cNvPr id="32" name="TextBox 31"/>
            <p:cNvSpPr txBox="1"/>
            <p:nvPr/>
          </p:nvSpPr>
          <p:spPr>
            <a:xfrm>
              <a:off x="154185" y="3834591"/>
              <a:ext cx="8723875" cy="17235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225425" lvl="1" indent="346075">
                <a:spcAft>
                  <a:spcPts val="400"/>
                </a:spcAft>
              </a:pPr>
              <a:r>
                <a:rPr lang="en-US" sz="2400" dirty="0">
                  <a:latin typeface="Courier"/>
                  <a:cs typeface="Courier"/>
                </a:rPr>
                <a:t>$ </a:t>
              </a:r>
              <a:r>
                <a:rPr lang="en-US" sz="2400" dirty="0" err="1">
                  <a:solidFill>
                    <a:srgbClr val="0000FF"/>
                  </a:solidFill>
                  <a:latin typeface="Courier"/>
                  <a:cs typeface="Courier"/>
                </a:rPr>
                <a:t>chmod</a:t>
              </a:r>
              <a:r>
                <a:rPr lang="en-US" sz="2400" dirty="0">
                  <a:solidFill>
                    <a:srgbClr val="0000FF"/>
                  </a:solidFill>
                  <a:latin typeface="Courier"/>
                  <a:cs typeface="Courier"/>
                </a:rPr>
                <a:t> </a:t>
              </a:r>
              <a:r>
                <a:rPr lang="en-US" sz="2400" dirty="0" err="1">
                  <a:solidFill>
                    <a:srgbClr val="0000FF"/>
                  </a:solidFill>
                  <a:latin typeface="Courier"/>
                  <a:cs typeface="Courier"/>
                </a:rPr>
                <a:t>u+x</a:t>
              </a:r>
              <a:r>
                <a:rPr lang="en-US" sz="2400" dirty="0">
                  <a:solidFill>
                    <a:srgbClr val="0000FF"/>
                  </a:solidFill>
                  <a:latin typeface="Courier"/>
                  <a:cs typeface="Courier"/>
                </a:rPr>
                <a:t> bash_script1.sh</a:t>
              </a:r>
              <a:endParaRPr lang="en-US" sz="2400" u="sng" dirty="0">
                <a:cs typeface="Courier"/>
              </a:endParaRPr>
            </a:p>
            <a:p>
              <a:pPr marL="225425" lvl="1" indent="346075">
                <a:spcAft>
                  <a:spcPts val="400"/>
                </a:spcAft>
              </a:pPr>
              <a:r>
                <a:rPr lang="en-US" sz="2400" dirty="0">
                  <a:latin typeface="Courier"/>
                  <a:cs typeface="Courier"/>
                </a:rPr>
                <a:t>$ </a:t>
              </a:r>
              <a:r>
                <a:rPr lang="en-US" sz="2400" dirty="0" err="1">
                  <a:solidFill>
                    <a:srgbClr val="0000FF"/>
                  </a:solidFill>
                  <a:latin typeface="Courier"/>
                  <a:cs typeface="Courier"/>
                </a:rPr>
                <a:t>chmod</a:t>
              </a:r>
              <a:r>
                <a:rPr lang="en-US" sz="2400" dirty="0">
                  <a:solidFill>
                    <a:srgbClr val="0000FF"/>
                  </a:solidFill>
                  <a:latin typeface="Courier"/>
                  <a:cs typeface="Courier"/>
                </a:rPr>
                <a:t> </a:t>
              </a:r>
              <a:r>
                <a:rPr lang="en-US" sz="2400" dirty="0" err="1">
                  <a:solidFill>
                    <a:srgbClr val="0000FF"/>
                  </a:solidFill>
                  <a:latin typeface="Courier"/>
                  <a:cs typeface="Courier"/>
                </a:rPr>
                <a:t>u+x</a:t>
              </a:r>
              <a:r>
                <a:rPr lang="en-US" sz="2400" dirty="0">
                  <a:solidFill>
                    <a:srgbClr val="0000FF"/>
                  </a:solidFill>
                  <a:latin typeface="Courier"/>
                  <a:cs typeface="Courier"/>
                </a:rPr>
                <a:t> *.</a:t>
              </a:r>
              <a:r>
                <a:rPr lang="en-US" sz="2400" dirty="0" err="1">
                  <a:solidFill>
                    <a:srgbClr val="0000FF"/>
                  </a:solidFill>
                  <a:latin typeface="Courier"/>
                  <a:cs typeface="Courier"/>
                </a:rPr>
                <a:t>sh</a:t>
              </a:r>
              <a:endParaRPr lang="en-US" sz="2400" u="sng" dirty="0">
                <a:solidFill>
                  <a:srgbClr val="0000FF"/>
                </a:solidFill>
                <a:latin typeface="Courier"/>
                <a:cs typeface="Courier"/>
              </a:endParaRPr>
            </a:p>
            <a:p>
              <a:pPr marL="225425" lvl="1" indent="346075">
                <a:spcAft>
                  <a:spcPts val="400"/>
                </a:spcAft>
              </a:pPr>
              <a:r>
                <a:rPr lang="en-US" sz="2400" dirty="0">
                  <a:latin typeface="Courier"/>
                  <a:cs typeface="Courier"/>
                </a:rPr>
                <a:t>$ </a:t>
              </a:r>
              <a:r>
                <a:rPr lang="en-US" sz="2400" dirty="0" err="1">
                  <a:solidFill>
                    <a:srgbClr val="0000FF"/>
                  </a:solidFill>
                  <a:latin typeface="Courier"/>
                  <a:cs typeface="Courier"/>
                </a:rPr>
                <a:t>chmod</a:t>
              </a:r>
              <a:r>
                <a:rPr lang="en-US" sz="2400" dirty="0">
                  <a:solidFill>
                    <a:srgbClr val="0000FF"/>
                  </a:solidFill>
                  <a:latin typeface="Courier"/>
                  <a:cs typeface="Courier"/>
                </a:rPr>
                <a:t> </a:t>
              </a:r>
              <a:r>
                <a:rPr lang="en-US" sz="2400" dirty="0" err="1">
                  <a:solidFill>
                    <a:srgbClr val="0000FF"/>
                  </a:solidFill>
                  <a:latin typeface="Courier"/>
                  <a:cs typeface="Courier"/>
                </a:rPr>
                <a:t>ugo</a:t>
              </a:r>
              <a:r>
                <a:rPr lang="en-US" sz="2400" dirty="0">
                  <a:solidFill>
                    <a:srgbClr val="0000FF"/>
                  </a:solidFill>
                  <a:latin typeface="Courier"/>
                  <a:cs typeface="Courier"/>
                </a:rPr>
                <a:t>-x *.*</a:t>
              </a:r>
            </a:p>
            <a:p>
              <a:pPr marL="225425" lvl="1" indent="346075">
                <a:spcAft>
                  <a:spcPts val="400"/>
                </a:spcAft>
              </a:pPr>
              <a:r>
                <a:rPr lang="en-US" sz="2400" dirty="0">
                  <a:latin typeface="Courier"/>
                  <a:cs typeface="Courier"/>
                </a:rPr>
                <a:t>$ </a:t>
              </a:r>
              <a:r>
                <a:rPr lang="en-US" sz="2400" dirty="0" err="1">
                  <a:solidFill>
                    <a:srgbClr val="0000FF"/>
                  </a:solidFill>
                  <a:latin typeface="Courier"/>
                  <a:cs typeface="Courier"/>
                </a:rPr>
                <a:t>chmod</a:t>
              </a:r>
              <a:r>
                <a:rPr lang="en-US" sz="2400" dirty="0">
                  <a:solidFill>
                    <a:srgbClr val="0000FF"/>
                  </a:solidFill>
                  <a:latin typeface="Courier"/>
                  <a:cs typeface="Courier"/>
                </a:rPr>
                <a:t> </a:t>
              </a:r>
              <a:r>
                <a:rPr lang="en-US" sz="2400" dirty="0" err="1">
                  <a:solidFill>
                    <a:srgbClr val="0000FF"/>
                  </a:solidFill>
                  <a:latin typeface="Courier"/>
                  <a:cs typeface="Courier"/>
                </a:rPr>
                <a:t>ugo+rwx</a:t>
              </a:r>
              <a:r>
                <a:rPr lang="en-US" sz="2400" dirty="0">
                  <a:solidFill>
                    <a:srgbClr val="0000FF"/>
                  </a:solidFill>
                  <a:latin typeface="Courier"/>
                  <a:cs typeface="Courier"/>
                </a:rPr>
                <a:t> *</a:t>
              </a:r>
            </a:p>
          </p:txBody>
        </p:sp>
        <p:cxnSp>
          <p:nvCxnSpPr>
            <p:cNvPr id="33" name="Straight Arrow Connector 32"/>
            <p:cNvCxnSpPr/>
            <p:nvPr/>
          </p:nvCxnSpPr>
          <p:spPr>
            <a:xfrm flipH="1">
              <a:off x="4062791" y="5298176"/>
              <a:ext cx="655336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TextBox 34"/>
            <p:cNvSpPr txBox="1"/>
            <p:nvPr/>
          </p:nvSpPr>
          <p:spPr>
            <a:xfrm>
              <a:off x="4773601" y="4975185"/>
              <a:ext cx="318106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be careful – don't assign execute permissions willy </a:t>
              </a:r>
              <a:r>
                <a:rPr lang="en-US" dirty="0" err="1"/>
                <a:t>nilly</a:t>
              </a:r>
              <a:endParaRPr lang="en-US" dirty="0"/>
            </a:p>
          </p:txBody>
        </p:sp>
      </p:grpSp>
      <p:sp>
        <p:nvSpPr>
          <p:cNvPr id="3" name="TextBox 2"/>
          <p:cNvSpPr txBox="1"/>
          <p:nvPr/>
        </p:nvSpPr>
        <p:spPr>
          <a:xfrm>
            <a:off x="5384143" y="2268232"/>
            <a:ext cx="160016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[no spaces]</a:t>
            </a:r>
          </a:p>
        </p:txBody>
      </p:sp>
    </p:spTree>
    <p:extLst>
      <p:ext uri="{BB962C8B-B14F-4D97-AF65-F5344CB8AC3E}">
        <p14:creationId xmlns:p14="http://schemas.microsoft.com/office/powerpoint/2010/main" val="324734175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5705" y="443559"/>
            <a:ext cx="9054872" cy="625867"/>
          </a:xfrm>
        </p:spPr>
        <p:txBody>
          <a:bodyPr>
            <a:noAutofit/>
          </a:bodyPr>
          <a:lstStyle/>
          <a:p>
            <a:r>
              <a:rPr lang="en-US" sz="3600" dirty="0">
                <a:cs typeface="Calibri"/>
              </a:rPr>
              <a:t>Creating workflows and pipelines: </a:t>
            </a:r>
            <a:r>
              <a:rPr lang="en-US" sz="3600" i="1" dirty="0">
                <a:cs typeface="Calibri"/>
              </a:rPr>
              <a:t>Loops</a:t>
            </a:r>
            <a:endParaRPr lang="en-US" sz="3600" i="1" dirty="0">
              <a:latin typeface="Calibri"/>
              <a:cs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236575" y="1738425"/>
            <a:ext cx="8723875" cy="20928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7525" lvl="1">
              <a:spcAft>
                <a:spcPts val="1200"/>
              </a:spcAft>
            </a:pPr>
            <a:r>
              <a:rPr lang="en-US" sz="2200" b="1" dirty="0">
                <a:cs typeface="Courier"/>
              </a:rPr>
              <a:t>Loops</a:t>
            </a:r>
            <a:r>
              <a:rPr lang="en-US" sz="2200" dirty="0">
                <a:cs typeface="Courier"/>
              </a:rPr>
              <a:t> – a control structure that allows you to repeat the same command(s), e.g., on multiple files</a:t>
            </a:r>
          </a:p>
          <a:p>
            <a:pPr marL="1314450" lvl="3" indent="-347663">
              <a:spcAft>
                <a:spcPts val="600"/>
              </a:spcAft>
              <a:buFont typeface="Arial"/>
              <a:buChar char="•"/>
            </a:pPr>
            <a:r>
              <a:rPr lang="en-US" sz="2200" dirty="0">
                <a:cs typeface="Courier"/>
              </a:rPr>
              <a:t>change the file suffix for every file in a directory</a:t>
            </a:r>
          </a:p>
          <a:p>
            <a:pPr marL="1314450" lvl="3" indent="-347663">
              <a:spcAft>
                <a:spcPts val="600"/>
              </a:spcAft>
              <a:buFont typeface="Arial"/>
              <a:buChar char="•"/>
            </a:pPr>
            <a:r>
              <a:rPr lang="en-US" sz="2200" dirty="0">
                <a:cs typeface="Courier"/>
              </a:rPr>
              <a:t>run some program or analysis on lots of files</a:t>
            </a:r>
          </a:p>
          <a:p>
            <a:pPr marL="1314450" lvl="3" indent="-347663">
              <a:spcAft>
                <a:spcPts val="600"/>
              </a:spcAft>
              <a:buFont typeface="Arial"/>
              <a:buChar char="•"/>
            </a:pPr>
            <a:r>
              <a:rPr lang="en-US" sz="2200" dirty="0">
                <a:cs typeface="Courier"/>
              </a:rPr>
              <a:t>generate a list of commands for a Bash script</a:t>
            </a:r>
          </a:p>
        </p:txBody>
      </p:sp>
    </p:spTree>
    <p:extLst>
      <p:ext uri="{BB962C8B-B14F-4D97-AF65-F5344CB8AC3E}">
        <p14:creationId xmlns:p14="http://schemas.microsoft.com/office/powerpoint/2010/main" val="115866607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5705" y="443559"/>
            <a:ext cx="9054872" cy="625867"/>
          </a:xfrm>
        </p:spPr>
        <p:txBody>
          <a:bodyPr>
            <a:noAutofit/>
          </a:bodyPr>
          <a:lstStyle/>
          <a:p>
            <a:r>
              <a:rPr lang="en-US" sz="3600" dirty="0">
                <a:latin typeface="Calibri"/>
                <a:cs typeface="Calibri"/>
              </a:rPr>
              <a:t>Bash </a:t>
            </a:r>
            <a:r>
              <a:rPr lang="en-US" sz="3600" i="1" dirty="0">
                <a:latin typeface="Calibri"/>
                <a:cs typeface="Calibri"/>
              </a:rPr>
              <a:t>For-Loops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7067" y="1936060"/>
            <a:ext cx="5291666" cy="327269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lvl="1">
              <a:spcAft>
                <a:spcPts val="400"/>
              </a:spcAft>
            </a:pPr>
            <a:r>
              <a:rPr lang="en-US" sz="2000" dirty="0">
                <a:solidFill>
                  <a:srgbClr val="FF0000"/>
                </a:solidFill>
                <a:latin typeface="Courier"/>
                <a:cs typeface="Courier"/>
              </a:rPr>
              <a:t>#! /bin/bash</a:t>
            </a:r>
          </a:p>
          <a:p>
            <a:pPr marL="0" lvl="1">
              <a:spcAft>
                <a:spcPts val="400"/>
              </a:spcAft>
            </a:pPr>
            <a:r>
              <a:rPr lang="en-US" sz="2000" dirty="0">
                <a:solidFill>
                  <a:srgbClr val="000000"/>
                </a:solidFill>
                <a:latin typeface="Courier"/>
                <a:cs typeface="Courier"/>
              </a:rPr>
              <a:t>for VARIABLE in &lt;LIST&gt;</a:t>
            </a:r>
          </a:p>
          <a:p>
            <a:pPr marL="0" lvl="1">
              <a:spcAft>
                <a:spcPts val="400"/>
              </a:spcAft>
            </a:pPr>
            <a:r>
              <a:rPr lang="en-US" sz="2000" dirty="0">
                <a:solidFill>
                  <a:srgbClr val="000000"/>
                </a:solidFill>
                <a:latin typeface="Courier"/>
                <a:cs typeface="Courier"/>
              </a:rPr>
              <a:t>do</a:t>
            </a:r>
          </a:p>
          <a:p>
            <a:pPr marL="0" lvl="1">
              <a:spcAft>
                <a:spcPts val="400"/>
              </a:spcAft>
            </a:pPr>
            <a:r>
              <a:rPr lang="en-US" sz="2000" dirty="0">
                <a:solidFill>
                  <a:srgbClr val="000000"/>
                </a:solidFill>
                <a:latin typeface="Courier"/>
                <a:cs typeface="Courier"/>
              </a:rPr>
              <a:t>	command1 on $VARIABLE</a:t>
            </a:r>
          </a:p>
          <a:p>
            <a:pPr marL="0" lvl="1">
              <a:spcAft>
                <a:spcPts val="400"/>
              </a:spcAft>
            </a:pPr>
            <a:r>
              <a:rPr lang="en-US" sz="2000" dirty="0">
                <a:solidFill>
                  <a:srgbClr val="000000"/>
                </a:solidFill>
                <a:latin typeface="Courier"/>
                <a:cs typeface="Courier"/>
              </a:rPr>
              <a:t>	command2 on $VARIABLE</a:t>
            </a:r>
          </a:p>
          <a:p>
            <a:pPr marL="0" lvl="1">
              <a:spcAft>
                <a:spcPts val="400"/>
              </a:spcAft>
            </a:pPr>
            <a:r>
              <a:rPr lang="en-US" sz="2000" dirty="0">
                <a:solidFill>
                  <a:srgbClr val="000000"/>
                </a:solidFill>
                <a:latin typeface="Courier"/>
                <a:cs typeface="Courier"/>
              </a:rPr>
              <a:t>	</a:t>
            </a:r>
            <a:r>
              <a:rPr lang="en-US" sz="2000" dirty="0" err="1">
                <a:solidFill>
                  <a:srgbClr val="000000"/>
                </a:solidFill>
                <a:latin typeface="Courier"/>
                <a:cs typeface="Courier"/>
              </a:rPr>
              <a:t>command</a:t>
            </a:r>
            <a:r>
              <a:rPr lang="en-US" sz="2000" i="1" dirty="0" err="1">
                <a:solidFill>
                  <a:srgbClr val="000000"/>
                </a:solidFill>
                <a:latin typeface="Courier"/>
                <a:cs typeface="Courier"/>
              </a:rPr>
              <a:t>N</a:t>
            </a:r>
            <a:r>
              <a:rPr lang="en-US" sz="2000" dirty="0">
                <a:solidFill>
                  <a:srgbClr val="000000"/>
                </a:solidFill>
                <a:latin typeface="Courier"/>
                <a:cs typeface="Courier"/>
              </a:rPr>
              <a:t> on $VARIABLE</a:t>
            </a:r>
          </a:p>
          <a:p>
            <a:pPr marL="0" lvl="1">
              <a:spcAft>
                <a:spcPts val="400"/>
              </a:spcAft>
            </a:pPr>
            <a:r>
              <a:rPr lang="en-US" sz="2000" dirty="0">
                <a:solidFill>
                  <a:srgbClr val="000000"/>
                </a:solidFill>
                <a:latin typeface="Courier"/>
                <a:cs typeface="Courier"/>
              </a:rPr>
              <a:t>done</a:t>
            </a:r>
          </a:p>
          <a:p>
            <a:pPr marL="0" lvl="1">
              <a:spcAft>
                <a:spcPts val="400"/>
              </a:spcAft>
            </a:pPr>
            <a:endParaRPr lang="en-US" sz="2000" dirty="0">
              <a:solidFill>
                <a:srgbClr val="000000"/>
              </a:solidFill>
              <a:latin typeface="Courier"/>
              <a:cs typeface="Courier"/>
            </a:endParaRPr>
          </a:p>
          <a:p>
            <a:pPr marL="0" lvl="1">
              <a:spcAft>
                <a:spcPts val="400"/>
              </a:spcAft>
            </a:pPr>
            <a:endParaRPr lang="en-US" sz="2000" dirty="0">
              <a:solidFill>
                <a:srgbClr val="000000"/>
              </a:solidFill>
              <a:latin typeface="Courier"/>
              <a:cs typeface="Courier"/>
            </a:endParaRPr>
          </a:p>
        </p:txBody>
      </p:sp>
      <p:cxnSp>
        <p:nvCxnSpPr>
          <p:cNvPr id="12" name="Straight Arrow Connector 11"/>
          <p:cNvCxnSpPr/>
          <p:nvPr/>
        </p:nvCxnSpPr>
        <p:spPr>
          <a:xfrm>
            <a:off x="463088" y="1476990"/>
            <a:ext cx="1" cy="521034"/>
          </a:xfrm>
          <a:prstGeom prst="straightConnector1">
            <a:avLst/>
          </a:prstGeom>
          <a:ln w="50800">
            <a:solidFill>
              <a:srgbClr val="000000"/>
            </a:solidFill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269911" y="1056438"/>
            <a:ext cx="1092222" cy="4401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FF0000"/>
                </a:solidFill>
              </a:rPr>
              <a:t>shebang</a:t>
            </a:r>
            <a:endParaRPr lang="en-US" sz="2000" dirty="0"/>
          </a:p>
        </p:txBody>
      </p:sp>
      <p:sp>
        <p:nvSpPr>
          <p:cNvPr id="8" name="TextBox 7"/>
          <p:cNvSpPr txBox="1"/>
          <p:nvPr/>
        </p:nvSpPr>
        <p:spPr>
          <a:xfrm>
            <a:off x="6294115" y="1990489"/>
            <a:ext cx="262383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i="1" dirty="0">
                <a:solidFill>
                  <a:srgbClr val="FF0000"/>
                </a:solidFill>
              </a:rPr>
              <a:t>header line</a:t>
            </a:r>
            <a:endParaRPr lang="en-US" sz="2000" dirty="0"/>
          </a:p>
        </p:txBody>
      </p:sp>
      <p:cxnSp>
        <p:nvCxnSpPr>
          <p:cNvPr id="10" name="Straight Arrow Connector 9"/>
          <p:cNvCxnSpPr/>
          <p:nvPr/>
        </p:nvCxnSpPr>
        <p:spPr>
          <a:xfrm flipH="1">
            <a:off x="5651389" y="2220402"/>
            <a:ext cx="541835" cy="0"/>
          </a:xfrm>
          <a:prstGeom prst="straightConnector1">
            <a:avLst/>
          </a:prstGeom>
          <a:ln w="50800">
            <a:solidFill>
              <a:srgbClr val="000000"/>
            </a:solidFill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933617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5705" y="443559"/>
            <a:ext cx="9054872" cy="625867"/>
          </a:xfrm>
        </p:spPr>
        <p:txBody>
          <a:bodyPr>
            <a:noAutofit/>
          </a:bodyPr>
          <a:lstStyle/>
          <a:p>
            <a:r>
              <a:rPr lang="en-US" sz="3600" dirty="0">
                <a:latin typeface="Calibri"/>
                <a:cs typeface="Calibri"/>
              </a:rPr>
              <a:t>Bash </a:t>
            </a:r>
            <a:r>
              <a:rPr lang="en-US" sz="3600" i="1" dirty="0">
                <a:latin typeface="Calibri"/>
                <a:cs typeface="Calibri"/>
              </a:rPr>
              <a:t>For-Loops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7067" y="1936060"/>
            <a:ext cx="5291666" cy="327269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lvl="1">
              <a:spcAft>
                <a:spcPts val="400"/>
              </a:spcAft>
            </a:pPr>
            <a:r>
              <a:rPr lang="en-US" sz="2000" dirty="0">
                <a:latin typeface="Courier"/>
                <a:cs typeface="Courier"/>
              </a:rPr>
              <a:t>#! /bin/bash</a:t>
            </a:r>
          </a:p>
          <a:p>
            <a:pPr marL="0" lvl="1">
              <a:spcAft>
                <a:spcPts val="400"/>
              </a:spcAft>
            </a:pPr>
            <a:r>
              <a:rPr lang="en-US" sz="2000" dirty="0">
                <a:solidFill>
                  <a:srgbClr val="FF0000"/>
                </a:solidFill>
                <a:latin typeface="Courier"/>
                <a:cs typeface="Courier"/>
              </a:rPr>
              <a:t>for </a:t>
            </a:r>
            <a:r>
              <a:rPr lang="en-US" sz="2000" dirty="0">
                <a:solidFill>
                  <a:srgbClr val="0000FF"/>
                </a:solidFill>
                <a:latin typeface="Courier"/>
                <a:cs typeface="Courier"/>
              </a:rPr>
              <a:t>VARIABLE </a:t>
            </a:r>
            <a:r>
              <a:rPr lang="en-US" sz="2000" dirty="0">
                <a:solidFill>
                  <a:srgbClr val="FF0000"/>
                </a:solidFill>
                <a:latin typeface="Courier"/>
                <a:cs typeface="Courier"/>
              </a:rPr>
              <a:t>in</a:t>
            </a:r>
            <a:r>
              <a:rPr lang="en-US" sz="2000" dirty="0">
                <a:solidFill>
                  <a:srgbClr val="0000FF"/>
                </a:solidFill>
                <a:latin typeface="Courier"/>
                <a:cs typeface="Courier"/>
              </a:rPr>
              <a:t> </a:t>
            </a:r>
            <a:r>
              <a:rPr lang="en-US" sz="2000" dirty="0">
                <a:solidFill>
                  <a:srgbClr val="008000"/>
                </a:solidFill>
                <a:latin typeface="Courier"/>
                <a:cs typeface="Courier"/>
              </a:rPr>
              <a:t>1 2 3 4</a:t>
            </a:r>
          </a:p>
          <a:p>
            <a:pPr marL="0" lvl="1">
              <a:spcAft>
                <a:spcPts val="400"/>
              </a:spcAft>
            </a:pPr>
            <a:r>
              <a:rPr lang="en-US" sz="2000" dirty="0">
                <a:latin typeface="Courier"/>
                <a:cs typeface="Courier"/>
              </a:rPr>
              <a:t>do</a:t>
            </a:r>
          </a:p>
          <a:p>
            <a:pPr marL="0" lvl="1">
              <a:spcAft>
                <a:spcPts val="400"/>
              </a:spcAft>
            </a:pPr>
            <a:r>
              <a:rPr lang="en-US" sz="2000" dirty="0">
                <a:latin typeface="Courier"/>
                <a:cs typeface="Courier"/>
              </a:rPr>
              <a:t>	command1 on $VARIABLE</a:t>
            </a:r>
          </a:p>
          <a:p>
            <a:pPr marL="0" lvl="1">
              <a:spcAft>
                <a:spcPts val="400"/>
              </a:spcAft>
            </a:pPr>
            <a:r>
              <a:rPr lang="en-US" sz="2000" dirty="0">
                <a:latin typeface="Courier"/>
                <a:cs typeface="Courier"/>
              </a:rPr>
              <a:t>	command2 on $VARIABLE</a:t>
            </a:r>
          </a:p>
          <a:p>
            <a:pPr marL="0" lvl="1">
              <a:spcAft>
                <a:spcPts val="400"/>
              </a:spcAft>
            </a:pPr>
            <a:r>
              <a:rPr lang="en-US" sz="2000" dirty="0">
                <a:latin typeface="Courier"/>
                <a:cs typeface="Courier"/>
              </a:rPr>
              <a:t>	</a:t>
            </a:r>
            <a:r>
              <a:rPr lang="en-US" sz="2000" dirty="0" err="1">
                <a:latin typeface="Courier"/>
                <a:cs typeface="Courier"/>
              </a:rPr>
              <a:t>command</a:t>
            </a:r>
            <a:r>
              <a:rPr lang="en-US" sz="2000" i="1" dirty="0" err="1">
                <a:latin typeface="Courier"/>
                <a:cs typeface="Courier"/>
              </a:rPr>
              <a:t>N</a:t>
            </a:r>
            <a:r>
              <a:rPr lang="en-US" sz="2000" dirty="0">
                <a:latin typeface="Courier"/>
                <a:cs typeface="Courier"/>
              </a:rPr>
              <a:t> on $VARIABLE</a:t>
            </a:r>
          </a:p>
          <a:p>
            <a:pPr marL="0" lvl="1">
              <a:spcAft>
                <a:spcPts val="400"/>
              </a:spcAft>
            </a:pPr>
            <a:r>
              <a:rPr lang="en-US" sz="2000" dirty="0">
                <a:latin typeface="Courier"/>
                <a:cs typeface="Courier"/>
              </a:rPr>
              <a:t>done</a:t>
            </a:r>
          </a:p>
          <a:p>
            <a:pPr marL="0" lvl="1">
              <a:spcAft>
                <a:spcPts val="400"/>
              </a:spcAft>
            </a:pPr>
            <a:endParaRPr lang="en-US" sz="2000" dirty="0">
              <a:latin typeface="Courier"/>
              <a:cs typeface="Courier"/>
            </a:endParaRPr>
          </a:p>
          <a:p>
            <a:pPr marL="0" lvl="1">
              <a:spcAft>
                <a:spcPts val="400"/>
              </a:spcAft>
            </a:pPr>
            <a:endParaRPr lang="en-US" sz="2000" dirty="0">
              <a:latin typeface="Courier"/>
              <a:cs typeface="Courier"/>
            </a:endParaRPr>
          </a:p>
        </p:txBody>
      </p:sp>
      <p:cxnSp>
        <p:nvCxnSpPr>
          <p:cNvPr id="12" name="Straight Arrow Connector 11"/>
          <p:cNvCxnSpPr/>
          <p:nvPr/>
        </p:nvCxnSpPr>
        <p:spPr>
          <a:xfrm flipH="1">
            <a:off x="5630365" y="2505962"/>
            <a:ext cx="541835" cy="0"/>
          </a:xfrm>
          <a:prstGeom prst="straightConnector1">
            <a:avLst/>
          </a:prstGeom>
          <a:ln w="50800">
            <a:solidFill>
              <a:srgbClr val="000000"/>
            </a:solidFill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231442" y="2285902"/>
            <a:ext cx="2734758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7338" indent="-287338">
              <a:buAutoNum type="arabicPeriod"/>
            </a:pPr>
            <a:r>
              <a:rPr lang="en-US" sz="2000" dirty="0">
                <a:solidFill>
                  <a:srgbClr val="FF0000"/>
                </a:solidFill>
              </a:rPr>
              <a:t>this is a "for" loop</a:t>
            </a:r>
          </a:p>
          <a:p>
            <a:pPr marL="287338" indent="-287338">
              <a:buAutoNum type="arabicPeriod"/>
            </a:pPr>
            <a:r>
              <a:rPr lang="en-US" sz="2000" dirty="0">
                <a:solidFill>
                  <a:srgbClr val="0000FF"/>
                </a:solidFill>
              </a:rPr>
              <a:t>assign the name of your variable; the value of this variable will change with each iteration of the loop</a:t>
            </a:r>
          </a:p>
        </p:txBody>
      </p:sp>
    </p:spTree>
    <p:extLst>
      <p:ext uri="{BB962C8B-B14F-4D97-AF65-F5344CB8AC3E}">
        <p14:creationId xmlns:p14="http://schemas.microsoft.com/office/powerpoint/2010/main" val="329307420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5705" y="443559"/>
            <a:ext cx="9054872" cy="625867"/>
          </a:xfrm>
        </p:spPr>
        <p:txBody>
          <a:bodyPr>
            <a:noAutofit/>
          </a:bodyPr>
          <a:lstStyle/>
          <a:p>
            <a:r>
              <a:rPr lang="en-US" sz="4200" dirty="0">
                <a:latin typeface="Calibri Light" panose="020F0302020204030204" pitchFamily="34" charset="0"/>
                <a:cs typeface="Calibri Light" panose="020F0302020204030204" pitchFamily="34" charset="0"/>
              </a:rPr>
              <a:t>Variables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6575" y="1513606"/>
            <a:ext cx="8723875" cy="37548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682625" lvl="1" indent="-457200">
              <a:spcAft>
                <a:spcPts val="1200"/>
              </a:spcAft>
              <a:buFont typeface="Arial"/>
              <a:buChar char="•"/>
            </a:pPr>
            <a:r>
              <a:rPr lang="en-US" sz="2600" dirty="0">
                <a:latin typeface="Calibri Light" panose="020F0302020204030204" pitchFamily="34" charset="0"/>
                <a:cs typeface="Calibri Light" panose="020F0302020204030204" pitchFamily="34" charset="0"/>
              </a:rPr>
              <a:t>In essence, a variable is a name that holds a value</a:t>
            </a:r>
          </a:p>
          <a:p>
            <a:pPr marL="682625" lvl="1" indent="-457200">
              <a:spcAft>
                <a:spcPts val="1200"/>
              </a:spcAft>
              <a:buFont typeface="Arial"/>
              <a:buChar char="•"/>
            </a:pPr>
            <a:r>
              <a:rPr lang="en-US" sz="2600" dirty="0">
                <a:latin typeface="Calibri Light" panose="020F0302020204030204" pitchFamily="34" charset="0"/>
                <a:cs typeface="Calibri Light" panose="020F0302020204030204" pitchFamily="34" charset="0"/>
              </a:rPr>
              <a:t>The value can be virtually anything (e.g., numbers, file names, etc.)</a:t>
            </a:r>
          </a:p>
          <a:p>
            <a:pPr marL="682625" lvl="1" indent="-457200">
              <a:spcAft>
                <a:spcPts val="1200"/>
              </a:spcAft>
              <a:buFont typeface="Arial"/>
              <a:buChar char="•"/>
            </a:pPr>
            <a:r>
              <a:rPr lang="en-US" sz="2600" dirty="0">
                <a:latin typeface="Calibri Light" panose="020F0302020204030204" pitchFamily="34" charset="0"/>
                <a:cs typeface="Calibri Light" panose="020F0302020204030204" pitchFamily="34" charset="0"/>
              </a:rPr>
              <a:t>As the name suggests, the value of a variable can vary, by changing what piece of information it holds or points to – this is what makes variables so flexible and useful.</a:t>
            </a:r>
          </a:p>
          <a:p>
            <a:pPr marL="682625" lvl="1" indent="-457200">
              <a:spcAft>
                <a:spcPts val="1200"/>
              </a:spcAft>
              <a:buFont typeface="Arial"/>
              <a:buChar char="•"/>
            </a:pPr>
            <a:r>
              <a:rPr lang="en-US" sz="2600" dirty="0">
                <a:latin typeface="Calibri Light" panose="020F0302020204030204" pitchFamily="34" charset="0"/>
                <a:cs typeface="Calibri Light" panose="020F0302020204030204" pitchFamily="34" charset="0"/>
              </a:rPr>
              <a:t>In Bash, no '$' when you declare the variable, but you need a '$' when you call the variable</a:t>
            </a:r>
          </a:p>
        </p:txBody>
      </p:sp>
    </p:spTree>
    <p:extLst>
      <p:ext uri="{BB962C8B-B14F-4D97-AF65-F5344CB8AC3E}">
        <p14:creationId xmlns:p14="http://schemas.microsoft.com/office/powerpoint/2010/main" val="273821740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6CA4F7-2C3D-41B3-67EE-2E4E897ECA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FYI</a:t>
            </a:r>
          </a:p>
        </p:txBody>
      </p:sp>
    </p:spTree>
    <p:extLst>
      <p:ext uri="{BB962C8B-B14F-4D97-AF65-F5344CB8AC3E}">
        <p14:creationId xmlns:p14="http://schemas.microsoft.com/office/powerpoint/2010/main" val="62531273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64627" y="176523"/>
            <a:ext cx="8436747" cy="862385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rgbClr val="0000FF"/>
                </a:solidFill>
                <a:latin typeface="Courier"/>
                <a:cs typeface="Courier"/>
              </a:rPr>
              <a:t>column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89348" y="1612895"/>
            <a:ext cx="8203177" cy="28315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5425" lvl="1">
              <a:spcAft>
                <a:spcPts val="1200"/>
              </a:spcAft>
            </a:pPr>
            <a:r>
              <a:rPr lang="en-US" sz="2800" dirty="0">
                <a:latin typeface="Courier"/>
                <a:cs typeface="Courier"/>
              </a:rPr>
              <a:t>$ </a:t>
            </a:r>
            <a:r>
              <a:rPr lang="en-US" sz="2800" dirty="0">
                <a:solidFill>
                  <a:srgbClr val="0000FF"/>
                </a:solidFill>
                <a:latin typeface="Courier"/>
                <a:cs typeface="Courier"/>
              </a:rPr>
              <a:t>column [options] filename</a:t>
            </a:r>
            <a:endParaRPr lang="en-US" sz="2400" dirty="0">
              <a:cs typeface="Courier"/>
            </a:endParaRPr>
          </a:p>
          <a:p>
            <a:pPr marL="1092200" lvl="1">
              <a:spcAft>
                <a:spcPts val="1200"/>
              </a:spcAft>
            </a:pPr>
            <a:r>
              <a:rPr lang="en-US" sz="2400" dirty="0">
                <a:latin typeface="Courier"/>
                <a:cs typeface="Courier"/>
              </a:rPr>
              <a:t>-t </a:t>
            </a:r>
            <a:r>
              <a:rPr lang="en-US" sz="2400" dirty="0">
                <a:cs typeface="Courier"/>
              </a:rPr>
              <a:t>turn this file into a clean, viewable table</a:t>
            </a:r>
          </a:p>
          <a:p>
            <a:pPr marL="565150" lvl="1" indent="6350">
              <a:spcAft>
                <a:spcPts val="400"/>
              </a:spcAft>
            </a:pPr>
            <a:endParaRPr lang="en-US" sz="2400" dirty="0">
              <a:latin typeface="Courier"/>
              <a:cs typeface="Courier"/>
            </a:endParaRPr>
          </a:p>
          <a:p>
            <a:pPr marL="565150" lvl="1" indent="6350">
              <a:spcAft>
                <a:spcPts val="400"/>
              </a:spcAft>
            </a:pPr>
            <a:r>
              <a:rPr lang="en-US" sz="2400" dirty="0">
                <a:latin typeface="Courier"/>
                <a:cs typeface="Courier"/>
              </a:rPr>
              <a:t>$ </a:t>
            </a:r>
            <a:r>
              <a:rPr lang="en-US" sz="2400" dirty="0">
                <a:solidFill>
                  <a:srgbClr val="0000FF"/>
                </a:solidFill>
                <a:latin typeface="Courier"/>
                <a:cs typeface="Courier"/>
              </a:rPr>
              <a:t>column –t </a:t>
            </a:r>
            <a:r>
              <a:rPr lang="en-US" sz="2400" dirty="0" err="1">
                <a:solidFill>
                  <a:srgbClr val="0000FF"/>
                </a:solidFill>
                <a:latin typeface="Courier"/>
                <a:cs typeface="Courier"/>
              </a:rPr>
              <a:t>fruit.txt</a:t>
            </a:r>
            <a:endParaRPr lang="en-US" sz="2400" dirty="0">
              <a:latin typeface="Courier"/>
              <a:cs typeface="Courier"/>
            </a:endParaRPr>
          </a:p>
          <a:p>
            <a:pPr marL="225425" lvl="1" indent="346075">
              <a:spcAft>
                <a:spcPts val="400"/>
              </a:spcAft>
            </a:pPr>
            <a:r>
              <a:rPr lang="en-US" sz="2400" dirty="0">
                <a:latin typeface="Courier"/>
                <a:cs typeface="Courier"/>
              </a:rPr>
              <a:t>$ </a:t>
            </a:r>
            <a:r>
              <a:rPr lang="en-US" sz="2400" dirty="0">
                <a:solidFill>
                  <a:srgbClr val="0000FF"/>
                </a:solidFill>
                <a:latin typeface="Courier"/>
                <a:cs typeface="Courier"/>
              </a:rPr>
              <a:t>column –t </a:t>
            </a:r>
            <a:r>
              <a:rPr lang="en-US" sz="2400" dirty="0" err="1">
                <a:solidFill>
                  <a:srgbClr val="0000FF"/>
                </a:solidFill>
                <a:latin typeface="Courier"/>
                <a:cs typeface="Courier"/>
              </a:rPr>
              <a:t>watermelon.gff</a:t>
            </a:r>
            <a:endParaRPr lang="en-US" sz="2400" dirty="0">
              <a:solidFill>
                <a:srgbClr val="0000FF"/>
              </a:solidFill>
              <a:latin typeface="Courier"/>
              <a:cs typeface="Courier"/>
            </a:endParaRPr>
          </a:p>
          <a:p>
            <a:pPr marL="1092200" lvl="1">
              <a:spcAft>
                <a:spcPts val="1200"/>
              </a:spcAft>
            </a:pPr>
            <a:endParaRPr lang="en-US" sz="2400" dirty="0">
              <a:cs typeface="Courier"/>
            </a:endParaRPr>
          </a:p>
        </p:txBody>
      </p:sp>
    </p:spTree>
    <p:extLst>
      <p:ext uri="{BB962C8B-B14F-4D97-AF65-F5344CB8AC3E}">
        <p14:creationId xmlns:p14="http://schemas.microsoft.com/office/powerpoint/2010/main" val="316741155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64627" y="176523"/>
            <a:ext cx="8436747" cy="862385"/>
          </a:xfrm>
        </p:spPr>
        <p:txBody>
          <a:bodyPr>
            <a:normAutofit/>
          </a:bodyPr>
          <a:lstStyle/>
          <a:p>
            <a:r>
              <a:rPr lang="en-US" sz="3600" dirty="0"/>
              <a:t>File links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9623" y="1506744"/>
            <a:ext cx="8723875" cy="17851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5425" lvl="1">
              <a:spcAft>
                <a:spcPts val="400"/>
              </a:spcAft>
            </a:pPr>
            <a:r>
              <a:rPr lang="en-US" sz="2800" dirty="0">
                <a:latin typeface="Courier"/>
                <a:cs typeface="Courier"/>
              </a:rPr>
              <a:t>$ </a:t>
            </a:r>
            <a:r>
              <a:rPr lang="en-US" sz="2800" dirty="0" err="1">
                <a:solidFill>
                  <a:srgbClr val="0000FF"/>
                </a:solidFill>
                <a:latin typeface="Courier"/>
                <a:cs typeface="Courier"/>
              </a:rPr>
              <a:t>ln</a:t>
            </a:r>
            <a:r>
              <a:rPr lang="en-US" sz="2800" dirty="0">
                <a:solidFill>
                  <a:srgbClr val="0000FF"/>
                </a:solidFill>
                <a:latin typeface="Courier"/>
                <a:cs typeface="Courier"/>
              </a:rPr>
              <a:t> </a:t>
            </a:r>
            <a:r>
              <a:rPr lang="en-US" sz="2800" dirty="0">
                <a:cs typeface="Calibri"/>
              </a:rPr>
              <a:t>–   </a:t>
            </a:r>
            <a:r>
              <a:rPr lang="en-US" sz="2400" dirty="0">
                <a:cs typeface="Calibri"/>
              </a:rPr>
              <a:t>make a link to a file (similar to an alias)</a:t>
            </a:r>
          </a:p>
          <a:p>
            <a:pPr marL="225425" lvl="1" indent="346075">
              <a:spcAft>
                <a:spcPts val="400"/>
              </a:spcAft>
            </a:pPr>
            <a:r>
              <a:rPr lang="en-US" sz="2400" dirty="0">
                <a:latin typeface="Courier"/>
                <a:cs typeface="Courier"/>
              </a:rPr>
              <a:t>$ </a:t>
            </a:r>
            <a:r>
              <a:rPr lang="en-US" sz="2400" dirty="0" err="1">
                <a:solidFill>
                  <a:srgbClr val="0000FF"/>
                </a:solidFill>
                <a:latin typeface="Courier"/>
                <a:cs typeface="Courier"/>
              </a:rPr>
              <a:t>ln</a:t>
            </a:r>
            <a:r>
              <a:rPr lang="en-US" sz="2400" dirty="0">
                <a:solidFill>
                  <a:srgbClr val="0000FF"/>
                </a:solidFill>
                <a:latin typeface="Courier"/>
                <a:cs typeface="Courier"/>
              </a:rPr>
              <a:t> -s </a:t>
            </a:r>
            <a:r>
              <a:rPr lang="en-US" sz="2400" u="sng" dirty="0">
                <a:solidFill>
                  <a:srgbClr val="0000FF"/>
                </a:solidFill>
                <a:latin typeface="Courier"/>
                <a:cs typeface="Courier"/>
              </a:rPr>
              <a:t>filename</a:t>
            </a:r>
            <a:r>
              <a:rPr lang="en-US" sz="2400" dirty="0">
                <a:solidFill>
                  <a:srgbClr val="0000FF"/>
                </a:solidFill>
                <a:latin typeface="Courier"/>
                <a:cs typeface="Courier"/>
              </a:rPr>
              <a:t> </a:t>
            </a:r>
            <a:r>
              <a:rPr lang="en-US" sz="2400" dirty="0">
                <a:cs typeface="Calibri"/>
              </a:rPr>
              <a:t>[link has same name as file] </a:t>
            </a:r>
            <a:endParaRPr lang="en-US" sz="2400" u="sng" dirty="0">
              <a:solidFill>
                <a:srgbClr val="0000FF"/>
              </a:solidFill>
              <a:latin typeface="Courier"/>
              <a:cs typeface="Courier"/>
            </a:endParaRPr>
          </a:p>
          <a:p>
            <a:pPr marL="225425" lvl="1" indent="346075">
              <a:spcAft>
                <a:spcPts val="400"/>
              </a:spcAft>
            </a:pPr>
            <a:r>
              <a:rPr lang="en-US" sz="2400" dirty="0">
                <a:latin typeface="Courier"/>
                <a:cs typeface="Courier"/>
              </a:rPr>
              <a:t>$ </a:t>
            </a:r>
            <a:r>
              <a:rPr lang="en-US" sz="2400" dirty="0" err="1">
                <a:solidFill>
                  <a:srgbClr val="0000FF"/>
                </a:solidFill>
                <a:latin typeface="Courier"/>
                <a:cs typeface="Courier"/>
              </a:rPr>
              <a:t>ln</a:t>
            </a:r>
            <a:r>
              <a:rPr lang="en-US" sz="2400" dirty="0">
                <a:solidFill>
                  <a:srgbClr val="0000FF"/>
                </a:solidFill>
                <a:latin typeface="Courier"/>
                <a:cs typeface="Courier"/>
              </a:rPr>
              <a:t> -s </a:t>
            </a:r>
            <a:r>
              <a:rPr lang="en-US" sz="2400" u="sng" dirty="0">
                <a:solidFill>
                  <a:srgbClr val="0000FF"/>
                </a:solidFill>
                <a:latin typeface="Courier"/>
                <a:cs typeface="Courier"/>
              </a:rPr>
              <a:t>filename</a:t>
            </a:r>
            <a:r>
              <a:rPr lang="en-US" sz="2400" dirty="0">
                <a:solidFill>
                  <a:srgbClr val="0000FF"/>
                </a:solidFill>
                <a:latin typeface="Courier"/>
                <a:cs typeface="Courier"/>
              </a:rPr>
              <a:t> </a:t>
            </a:r>
            <a:r>
              <a:rPr lang="en-US" sz="2400" u="sng" dirty="0">
                <a:solidFill>
                  <a:srgbClr val="0000FF"/>
                </a:solidFill>
                <a:latin typeface="Courier"/>
                <a:cs typeface="Courier"/>
              </a:rPr>
              <a:t>link-name</a:t>
            </a:r>
            <a:r>
              <a:rPr lang="en-US" sz="2400" dirty="0">
                <a:solidFill>
                  <a:srgbClr val="0000FF"/>
                </a:solidFill>
                <a:latin typeface="Courier"/>
                <a:cs typeface="Courier"/>
              </a:rPr>
              <a:t> </a:t>
            </a:r>
            <a:r>
              <a:rPr lang="en-US" sz="2400" dirty="0">
                <a:cs typeface="Calibri"/>
              </a:rPr>
              <a:t>[link has new name] </a:t>
            </a:r>
            <a:endParaRPr lang="en-US" sz="2400" u="sng" dirty="0">
              <a:solidFill>
                <a:srgbClr val="0000FF"/>
              </a:solidFill>
              <a:latin typeface="Courier"/>
              <a:cs typeface="Courier"/>
            </a:endParaRPr>
          </a:p>
          <a:p>
            <a:pPr marL="225425" lvl="1" indent="346075">
              <a:spcAft>
                <a:spcPts val="400"/>
              </a:spcAft>
            </a:pPr>
            <a:r>
              <a:rPr lang="en-US" sz="2400" dirty="0">
                <a:latin typeface="Courier"/>
                <a:cs typeface="Courier"/>
              </a:rPr>
              <a:t>$ </a:t>
            </a:r>
            <a:r>
              <a:rPr lang="en-US" sz="2400" dirty="0" err="1">
                <a:solidFill>
                  <a:srgbClr val="0000FF"/>
                </a:solidFill>
                <a:latin typeface="Courier"/>
                <a:cs typeface="Courier"/>
              </a:rPr>
              <a:t>ln</a:t>
            </a:r>
            <a:r>
              <a:rPr lang="en-US" sz="2400" dirty="0">
                <a:solidFill>
                  <a:srgbClr val="0000FF"/>
                </a:solidFill>
                <a:latin typeface="Courier"/>
                <a:cs typeface="Courier"/>
              </a:rPr>
              <a:t> -s </a:t>
            </a:r>
            <a:r>
              <a:rPr lang="en-US" sz="2400" u="sng" dirty="0">
                <a:solidFill>
                  <a:srgbClr val="0000FF"/>
                </a:solidFill>
                <a:latin typeface="Courier"/>
                <a:cs typeface="Courier"/>
              </a:rPr>
              <a:t>directory</a:t>
            </a:r>
            <a:r>
              <a:rPr lang="en-US" sz="2400" dirty="0">
                <a:solidFill>
                  <a:srgbClr val="0000FF"/>
                </a:solidFill>
                <a:latin typeface="Courier"/>
                <a:cs typeface="Courier"/>
              </a:rPr>
              <a:t> </a:t>
            </a:r>
            <a:r>
              <a:rPr lang="en-US" sz="2400" u="sng" dirty="0">
                <a:solidFill>
                  <a:srgbClr val="0000FF"/>
                </a:solidFill>
                <a:latin typeface="Courier"/>
                <a:cs typeface="Courier"/>
              </a:rPr>
              <a:t>link-name</a:t>
            </a:r>
            <a:r>
              <a:rPr lang="en-US" sz="2400" dirty="0">
                <a:solidFill>
                  <a:srgbClr val="0000FF"/>
                </a:solidFill>
                <a:latin typeface="Courier"/>
                <a:cs typeface="Courier"/>
              </a:rPr>
              <a:t> </a:t>
            </a:r>
            <a:r>
              <a:rPr lang="en-US" sz="2400" dirty="0">
                <a:cs typeface="Calibri"/>
              </a:rPr>
              <a:t>[link has new name] </a:t>
            </a:r>
            <a:endParaRPr lang="en-US" sz="2400" u="sng" dirty="0">
              <a:solidFill>
                <a:srgbClr val="0000FF"/>
              </a:solidFill>
              <a:latin typeface="Courier"/>
              <a:cs typeface="Courier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367926" y="3603836"/>
            <a:ext cx="8458592" cy="298543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68325" lvl="1" indent="-342900">
              <a:spcAft>
                <a:spcPts val="600"/>
              </a:spcAft>
              <a:buFont typeface="Arial"/>
              <a:buChar char="•"/>
            </a:pPr>
            <a:r>
              <a:rPr lang="en-US" sz="2400" dirty="0">
                <a:latin typeface="Calibri"/>
                <a:cs typeface="Calibri"/>
              </a:rPr>
              <a:t>Opening the "link" opens the actual file being linked to, likewise for editing</a:t>
            </a:r>
          </a:p>
          <a:p>
            <a:pPr marL="568325" lvl="1" indent="-342900">
              <a:spcAft>
                <a:spcPts val="600"/>
              </a:spcAft>
              <a:buFont typeface="Arial"/>
              <a:buChar char="•"/>
            </a:pPr>
            <a:r>
              <a:rPr lang="en-US" sz="2400" dirty="0">
                <a:latin typeface="Calibri"/>
                <a:cs typeface="Calibri"/>
              </a:rPr>
              <a:t>Can link to links</a:t>
            </a:r>
          </a:p>
          <a:p>
            <a:pPr marL="568325" lvl="1" indent="-342900">
              <a:spcAft>
                <a:spcPts val="600"/>
              </a:spcAft>
              <a:buFont typeface="Arial"/>
              <a:buChar char="•"/>
            </a:pPr>
            <a:r>
              <a:rPr lang="en-US" sz="2400" dirty="0">
                <a:latin typeface="Calibri"/>
                <a:cs typeface="Calibri"/>
              </a:rPr>
              <a:t>Helps you having lots of the same file sitting around, which becomes a problem when you start editing them</a:t>
            </a:r>
          </a:p>
          <a:p>
            <a:pPr marL="568325" lvl="1" indent="-342900">
              <a:spcAft>
                <a:spcPts val="600"/>
              </a:spcAft>
              <a:buFont typeface="Arial"/>
              <a:buChar char="•"/>
            </a:pPr>
            <a:r>
              <a:rPr lang="en-US" sz="2400" dirty="0">
                <a:latin typeface="Calibri"/>
                <a:cs typeface="Calibri"/>
              </a:rPr>
              <a:t>'FINAL_ANALYSES' example</a:t>
            </a:r>
          </a:p>
          <a:p>
            <a:pPr marL="568325" lvl="1" indent="-342900">
              <a:spcAft>
                <a:spcPts val="600"/>
              </a:spcAft>
              <a:buFont typeface="Arial"/>
              <a:buChar char="•"/>
            </a:pPr>
            <a:r>
              <a:rPr lang="en-US" sz="24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unlink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400" dirty="0">
                <a:latin typeface="Calibri"/>
                <a:cs typeface="Calibri"/>
              </a:rPr>
              <a:t>or </a:t>
            </a:r>
            <a:r>
              <a:rPr lang="en-US" sz="2400" b="1" dirty="0" err="1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rm</a:t>
            </a:r>
            <a:r>
              <a:rPr lang="en-US" sz="2400" b="1" dirty="0">
                <a:latin typeface="Calibri"/>
                <a:cs typeface="Calibri"/>
              </a:rPr>
              <a:t> </a:t>
            </a:r>
            <a:r>
              <a:rPr lang="en-US" sz="2400" dirty="0">
                <a:latin typeface="Calibri"/>
                <a:cs typeface="Calibri"/>
              </a:rPr>
              <a:t>to remove a link</a:t>
            </a:r>
          </a:p>
        </p:txBody>
      </p:sp>
    </p:spTree>
    <p:extLst>
      <p:ext uri="{BB962C8B-B14F-4D97-AF65-F5344CB8AC3E}">
        <p14:creationId xmlns:p14="http://schemas.microsoft.com/office/powerpoint/2010/main" val="31971121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11387</TotalTime>
  <Words>2029</Words>
  <Application>Microsoft Macintosh PowerPoint</Application>
  <PresentationFormat>On-screen Show (4:3)</PresentationFormat>
  <Paragraphs>305</Paragraphs>
  <Slides>33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43" baseType="lpstr">
      <vt:lpstr>Arial</vt:lpstr>
      <vt:lpstr>Calibri</vt:lpstr>
      <vt:lpstr>Calibri Light</vt:lpstr>
      <vt:lpstr>Courier</vt:lpstr>
      <vt:lpstr>Courier New</vt:lpstr>
      <vt:lpstr>Liberation Mono</vt:lpstr>
      <vt:lpstr>Lucida Grande</vt:lpstr>
      <vt:lpstr>Monaco</vt:lpstr>
      <vt:lpstr>Piperalpha</vt:lpstr>
      <vt:lpstr>Office Theme</vt:lpstr>
      <vt:lpstr>Text editors</vt:lpstr>
      <vt:lpstr>Quick aside about fonts</vt:lpstr>
      <vt:lpstr>Text files and line breaks</vt:lpstr>
      <vt:lpstr>Text files and line breaks</vt:lpstr>
      <vt:lpstr>Common Unix commands: Copying and moving files</vt:lpstr>
      <vt:lpstr>Really important warnings</vt:lpstr>
      <vt:lpstr>Really important warnings</vt:lpstr>
      <vt:lpstr>Common Unix commands: Directories</vt:lpstr>
      <vt:lpstr>Common Unix commands: Deleting stuff</vt:lpstr>
      <vt:lpstr>wc</vt:lpstr>
      <vt:lpstr>sort</vt:lpstr>
      <vt:lpstr>grep</vt:lpstr>
      <vt:lpstr>grep [options]</vt:lpstr>
      <vt:lpstr>PowerPoint Presentation</vt:lpstr>
      <vt:lpstr>PowerPoint Presentation</vt:lpstr>
      <vt:lpstr>PowerPoint Presentation</vt:lpstr>
      <vt:lpstr>PIPES</vt:lpstr>
      <vt:lpstr>PIPES</vt:lpstr>
      <vt:lpstr>cut</vt:lpstr>
      <vt:lpstr>uniq</vt:lpstr>
      <vt:lpstr>PowerPoint Presentation</vt:lpstr>
      <vt:lpstr>Doing multiple things at once</vt:lpstr>
      <vt:lpstr>Doing multiple things at once</vt:lpstr>
      <vt:lpstr>Bash scripts</vt:lpstr>
      <vt:lpstr>chmod</vt:lpstr>
      <vt:lpstr>chmod</vt:lpstr>
      <vt:lpstr>Creating workflows and pipelines: Loops</vt:lpstr>
      <vt:lpstr>Bash For-Loops</vt:lpstr>
      <vt:lpstr>Bash For-Loops</vt:lpstr>
      <vt:lpstr>Variables</vt:lpstr>
      <vt:lpstr>FYI</vt:lpstr>
      <vt:lpstr>column</vt:lpstr>
      <vt:lpstr>File links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Andrew Alverson</dc:creator>
  <cp:lastModifiedBy>Andrew Alverson</cp:lastModifiedBy>
  <cp:revision>466</cp:revision>
  <cp:lastPrinted>2016-01-27T20:28:28Z</cp:lastPrinted>
  <dcterms:created xsi:type="dcterms:W3CDTF">2013-01-08T16:50:50Z</dcterms:created>
  <dcterms:modified xsi:type="dcterms:W3CDTF">2026-02-01T23:36:11Z</dcterms:modified>
</cp:coreProperties>
</file>