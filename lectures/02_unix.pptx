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29" r:id="rId2"/>
    <p:sldId id="328" r:id="rId3"/>
    <p:sldId id="326" r:id="rId4"/>
    <p:sldId id="327" r:id="rId5"/>
    <p:sldId id="330" r:id="rId6"/>
    <p:sldId id="331" r:id="rId7"/>
    <p:sldId id="332" r:id="rId8"/>
    <p:sldId id="333" r:id="rId9"/>
    <p:sldId id="334" r:id="rId10"/>
    <p:sldId id="343" r:id="rId11"/>
    <p:sldId id="344" r:id="rId12"/>
    <p:sldId id="346" r:id="rId13"/>
    <p:sldId id="347" r:id="rId14"/>
    <p:sldId id="349" r:id="rId15"/>
    <p:sldId id="348" r:id="rId16"/>
    <p:sldId id="352" r:id="rId17"/>
    <p:sldId id="284" r:id="rId18"/>
    <p:sldId id="267" r:id="rId19"/>
    <p:sldId id="268" r:id="rId20"/>
    <p:sldId id="288" r:id="rId21"/>
    <p:sldId id="290" r:id="rId22"/>
    <p:sldId id="289" r:id="rId23"/>
    <p:sldId id="286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91" r:id="rId32"/>
    <p:sldId id="345" r:id="rId33"/>
    <p:sldId id="341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0000"/>
    <p:restoredTop sz="94939" autoAdjust="0"/>
  </p:normalViewPr>
  <p:slideViewPr>
    <p:cSldViewPr snapToGrid="0" snapToObjects="1">
      <p:cViewPr varScale="1">
        <p:scale>
          <a:sx n="147" d="100"/>
          <a:sy n="147" d="100"/>
        </p:scale>
        <p:origin x="20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36F12-EC0D-0343-8C1A-C7DE2441677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9F8EA-6E15-0D43-B8B8-D1E13E5BB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6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B117-C548-C24D-B5EC-9EEE3D79DFC1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CD0FA-6A7B-8444-A447-3B5AA0B24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7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6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76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88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18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7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9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26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10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82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finished 06 Feb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26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1/29/2014 - finished class #5 at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93FC5-10B4-FD42-83FB-5200DAB4E0A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25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71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2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2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1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0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3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39F5D-AA60-3342-98DF-B6AF9FAAD33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breoffic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E6940C-CEFF-DB46-BDBB-A5267565C7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15" r="13615"/>
          <a:stretch/>
        </p:blipFill>
        <p:spPr>
          <a:xfrm>
            <a:off x="7793048" y="2304876"/>
            <a:ext cx="990889" cy="914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677" y="252069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Text editors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903" y="1155522"/>
            <a:ext cx="8663865" cy="494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/>
              <a:t>nano</a:t>
            </a:r>
            <a:r>
              <a:rPr lang="en-US" sz="2400" dirty="0"/>
              <a:t> (</a:t>
            </a:r>
            <a:r>
              <a:rPr lang="en-US" sz="2400" u="sng" dirty="0" err="1"/>
              <a:t>n</a:t>
            </a:r>
            <a:r>
              <a:rPr lang="en-US" sz="2400" dirty="0" err="1"/>
              <a:t>ano's</a:t>
            </a:r>
            <a:r>
              <a:rPr lang="en-US" sz="2400" dirty="0"/>
              <a:t> </a:t>
            </a:r>
            <a:r>
              <a:rPr lang="en-US" sz="2400" u="sng" dirty="0"/>
              <a:t>ano</a:t>
            </a:r>
            <a:r>
              <a:rPr lang="en-US" sz="2400" dirty="0"/>
              <a:t>ther editor)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quick and dirty text editing from the command line</a:t>
            </a:r>
          </a:p>
          <a:p>
            <a:pPr marL="682625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BBEdit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all-around workhorse for GUI-based text editing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some good features for programming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call it with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bbedit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dirty="0">
                <a:cs typeface="Courier"/>
              </a:rPr>
              <a:t>or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bbedit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</a:p>
          <a:p>
            <a:pPr marL="682625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Microsoft Visual Studio 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free</a:t>
            </a:r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great for programming</a:t>
            </a:r>
          </a:p>
          <a:p>
            <a:pPr marL="682625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/>
              <a:t>Aquamacs</a:t>
            </a:r>
            <a:endParaRPr lang="en-US" sz="2400" dirty="0"/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i="1" dirty="0" err="1"/>
              <a:t>emacs</a:t>
            </a:r>
            <a:r>
              <a:rPr lang="en-US" sz="2400" i="1" dirty="0"/>
              <a:t> </a:t>
            </a:r>
            <a:r>
              <a:rPr lang="en-US" sz="2400" dirty="0"/>
              <a:t>under the hood</a:t>
            </a:r>
            <a:endParaRPr lang="en-US" sz="2400" i="1" dirty="0"/>
          </a:p>
          <a:p>
            <a:pPr marL="1314450" lvl="2" indent="-342900">
              <a:lnSpc>
                <a:spcPct val="110000"/>
              </a:lnSpc>
              <a:buFont typeface="Lucida Grande"/>
              <a:buChar char="–"/>
            </a:pPr>
            <a:r>
              <a:rPr lang="en-US" sz="2400" dirty="0"/>
              <a:t>good Mac-based editor for programming</a:t>
            </a:r>
          </a:p>
        </p:txBody>
      </p:sp>
      <p:pic>
        <p:nvPicPr>
          <p:cNvPr id="5" name="Picture 4" descr="aquamacs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48" y="5126235"/>
            <a:ext cx="99088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753" y="308094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Quick aside about fonts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557" y="1500906"/>
            <a:ext cx="79911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4025" lvl="2" indent="-223838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Proportional vs. fixed-width (</a:t>
            </a:r>
            <a:r>
              <a:rPr lang="en-US" sz="2400" dirty="0" err="1">
                <a:latin typeface="Calibri"/>
                <a:cs typeface="Calibri"/>
              </a:rPr>
              <a:t>monospace</a:t>
            </a:r>
            <a:r>
              <a:rPr lang="en-US" sz="2400" dirty="0">
                <a:latin typeface="Calibri"/>
                <a:cs typeface="Calibri"/>
              </a:rPr>
              <a:t>) fonts</a:t>
            </a:r>
          </a:p>
          <a:p>
            <a:pPr marL="454025" lvl="2" indent="-223838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Get used to using and programming with </a:t>
            </a:r>
            <a:r>
              <a:rPr lang="en-US" sz="2400" dirty="0" err="1">
                <a:latin typeface="Calibri"/>
                <a:cs typeface="Calibri"/>
              </a:rPr>
              <a:t>monospace</a:t>
            </a:r>
            <a:r>
              <a:rPr lang="en-US" sz="2400" dirty="0">
                <a:latin typeface="Calibri"/>
                <a:cs typeface="Calibri"/>
              </a:rPr>
              <a:t> fonts</a:t>
            </a:r>
          </a:p>
          <a:p>
            <a:pPr marL="1370013" lvl="3" indent="-342900">
              <a:spcAft>
                <a:spcPts val="600"/>
              </a:spcAft>
              <a:buFont typeface="Lucida Grande"/>
              <a:buChar char="–"/>
            </a:pPr>
            <a:r>
              <a:rPr lang="en-US" sz="2200" dirty="0">
                <a:latin typeface="Courier"/>
                <a:cs typeface="Courier"/>
              </a:rPr>
              <a:t>e.g., Courier</a:t>
            </a:r>
            <a:r>
              <a:rPr lang="en-US" sz="2200" dirty="0">
                <a:latin typeface="Calibri"/>
                <a:cs typeface="Calibri"/>
              </a:rPr>
              <a:t>,  </a:t>
            </a:r>
            <a:r>
              <a:rPr lang="en-US" sz="2200" dirty="0">
                <a:latin typeface="Liberation Mono"/>
                <a:cs typeface="Liberation Mono"/>
              </a:rPr>
              <a:t>Liberation Mono</a:t>
            </a:r>
            <a:r>
              <a:rPr lang="en-US" sz="2200" dirty="0">
                <a:latin typeface="Calibri"/>
                <a:cs typeface="Calibri"/>
              </a:rPr>
              <a:t>,  </a:t>
            </a:r>
            <a:r>
              <a:rPr lang="en-US" sz="2200" dirty="0">
                <a:latin typeface="Monaco"/>
                <a:cs typeface="Monaco"/>
              </a:rPr>
              <a:t>Monaco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593284"/>
              </p:ext>
            </p:extLst>
          </p:nvPr>
        </p:nvGraphicFramePr>
        <p:xfrm>
          <a:off x="2301098" y="3200835"/>
          <a:ext cx="4562056" cy="2202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692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Proportion</a:t>
                      </a:r>
                      <a:r>
                        <a:rPr lang="en-US" sz="2600" dirty="0">
                          <a:latin typeface="Calibri"/>
                          <a:cs typeface="Calibri"/>
                        </a:rPr>
                        <a:t>al</a:t>
                      </a:r>
                    </a:p>
                  </a:txBody>
                  <a:tcPr marL="135787" marR="135787" marT="67893" marB="67893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Courier"/>
                          <a:cs typeface="Courier"/>
                        </a:rPr>
                        <a:t>Monospace</a:t>
                      </a:r>
                      <a:endParaRPr lang="en-US" sz="2600" dirty="0">
                        <a:latin typeface="Courier"/>
                        <a:cs typeface="Courier"/>
                      </a:endParaRPr>
                    </a:p>
                  </a:txBody>
                  <a:tcPr marL="135787" marR="135787" marT="67893" marB="67893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692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/>
                        <a:t>AAAccgGTT</a:t>
                      </a:r>
                      <a:endParaRPr lang="en-US" sz="2600" dirty="0"/>
                    </a:p>
                  </a:txBody>
                  <a:tcPr marL="135787" marR="135787" marT="67893" marB="67893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>
                          <a:latin typeface="Courier"/>
                          <a:cs typeface="Courier"/>
                        </a:rPr>
                        <a:t>AAAccgGTT</a:t>
                      </a:r>
                      <a:endParaRPr lang="en-US" sz="2600" dirty="0">
                        <a:latin typeface="Courier"/>
                        <a:cs typeface="Courier"/>
                      </a:endParaRPr>
                    </a:p>
                  </a:txBody>
                  <a:tcPr marL="135787" marR="135787" marT="67893" marB="67893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69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latin typeface="Calibri"/>
                          <a:cs typeface="Calibri"/>
                        </a:rPr>
                        <a:t>|||||||||</a:t>
                      </a:r>
                    </a:p>
                  </a:txBody>
                  <a:tcPr marL="135787" marR="135787" marT="67893" marB="67893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Courier"/>
                          <a:cs typeface="Courier"/>
                        </a:rPr>
                        <a:t>|||||||||</a:t>
                      </a:r>
                    </a:p>
                  </a:txBody>
                  <a:tcPr marL="135787" marR="135787" marT="67893" marB="67893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92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AAG--TAAC</a:t>
                      </a:r>
                    </a:p>
                  </a:txBody>
                  <a:tcPr marL="135787" marR="135787" marT="67893" marB="67893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Courier"/>
                          <a:cs typeface="Courier"/>
                        </a:rPr>
                        <a:t>AAG--TAAC</a:t>
                      </a:r>
                    </a:p>
                  </a:txBody>
                  <a:tcPr marL="135787" marR="135787" marT="67893" marB="67893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82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882" y="308094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Text files and line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882" y="1295484"/>
            <a:ext cx="8503423" cy="5083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10000"/>
              </a:lnSpc>
              <a:buFont typeface="Arial"/>
              <a:buChar char="•"/>
            </a:pPr>
            <a:r>
              <a:rPr lang="en-US" sz="2600" dirty="0"/>
              <a:t>Use PLAIN TEXT format</a:t>
            </a:r>
          </a:p>
          <a:p>
            <a:pPr marL="858838" lvl="2" indent="-285750">
              <a:lnSpc>
                <a:spcPct val="110000"/>
              </a:lnSpc>
              <a:buFont typeface="Arial"/>
              <a:buChar char="•"/>
            </a:pPr>
            <a:r>
              <a:rPr lang="en-US" sz="2200" dirty="0"/>
              <a:t>NO Microsoft Office documents</a:t>
            </a:r>
          </a:p>
          <a:p>
            <a:pPr lvl="2">
              <a:lnSpc>
                <a:spcPct val="110000"/>
              </a:lnSpc>
            </a:pP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-S </a:t>
            </a:r>
            <a:r>
              <a:rPr lang="en-US" sz="2200" dirty="0" err="1"/>
              <a:t>watermelon_genes.gff</a:t>
            </a:r>
            <a:endParaRPr lang="en-US" sz="2200" dirty="0"/>
          </a:p>
          <a:p>
            <a:pPr lvl="2">
              <a:lnSpc>
                <a:spcPct val="110000"/>
              </a:lnSpc>
              <a:spcAft>
                <a:spcPts val="1000"/>
              </a:spcAft>
            </a:pP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-S </a:t>
            </a:r>
            <a:r>
              <a:rPr lang="en-US" sz="2200" dirty="0" err="1"/>
              <a:t>watermelon_genes.docx</a:t>
            </a:r>
            <a:endParaRPr lang="en-US" sz="2200" dirty="0"/>
          </a:p>
          <a:p>
            <a:pPr marL="858838" lvl="2" indent="-285750">
              <a:lnSpc>
                <a:spcPct val="110000"/>
              </a:lnSpc>
              <a:buFont typeface="Arial"/>
              <a:buChar char="•"/>
            </a:pPr>
            <a:r>
              <a:rPr lang="en-US" sz="2200" dirty="0"/>
              <a:t>Line breaks matter!</a:t>
            </a:r>
          </a:p>
          <a:p>
            <a:pPr marL="682625" lvl="2">
              <a:lnSpc>
                <a:spcPct val="110000"/>
              </a:lnSpc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	/n</a:t>
            </a:r>
            <a:r>
              <a:rPr lang="en-US" sz="2200" dirty="0"/>
              <a:t> – newline</a:t>
            </a:r>
          </a:p>
          <a:p>
            <a:pPr marL="682625" lvl="2">
              <a:lnSpc>
                <a:spcPct val="110000"/>
              </a:lnSpc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	/r</a:t>
            </a:r>
            <a:r>
              <a:rPr lang="en-US" sz="2200" dirty="0"/>
              <a:t> – DOS- and Mac-type carriage return</a:t>
            </a:r>
          </a:p>
          <a:p>
            <a:pPr marL="682625" lvl="2">
              <a:lnSpc>
                <a:spcPct val="110000"/>
              </a:lnSpc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	^M</a:t>
            </a:r>
            <a:r>
              <a:rPr lang="en-US" sz="2200" dirty="0"/>
              <a:t> – How Macs display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/r</a:t>
            </a:r>
          </a:p>
          <a:p>
            <a:pPr lvl="2"/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</a:t>
            </a:r>
            <a:r>
              <a:rPr lang="en-US" sz="2200" dirty="0" err="1"/>
              <a:t>watermelon_genes.unix.txt</a:t>
            </a:r>
            <a:endParaRPr lang="en-US" sz="2200" dirty="0"/>
          </a:p>
          <a:p>
            <a:pPr lvl="2"/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less </a:t>
            </a:r>
            <a:r>
              <a:rPr lang="en-US" sz="2200" dirty="0" err="1"/>
              <a:t>watermelon_genes.mac.txt</a:t>
            </a:r>
            <a:endParaRPr lang="en-US" sz="2200" dirty="0"/>
          </a:p>
          <a:p>
            <a:pPr lvl="2"/>
            <a:endParaRPr lang="en-US" sz="2200" dirty="0"/>
          </a:p>
          <a:p>
            <a:pPr marL="287338" lvl="1" indent="-282575">
              <a:buFont typeface="Arial" panose="020B0604020202020204" pitchFamily="34" charset="0"/>
              <a:buChar char="•"/>
            </a:pPr>
            <a:r>
              <a:rPr lang="en-US" sz="2600" dirty="0">
                <a:hlinkClick r:id="rId3"/>
              </a:rPr>
              <a:t>Free Microsoft alternatives</a:t>
            </a:r>
            <a:r>
              <a:rPr lang="en-US" sz="2600" dirty="0"/>
              <a:t> tend not to introduce weirdness into files the way Microsoft does</a:t>
            </a:r>
          </a:p>
        </p:txBody>
      </p:sp>
    </p:spTree>
    <p:extLst>
      <p:ext uri="{BB962C8B-B14F-4D97-AF65-F5344CB8AC3E}">
        <p14:creationId xmlns:p14="http://schemas.microsoft.com/office/powerpoint/2010/main" val="310413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244" y="308094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Text files and line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244" y="1592772"/>
            <a:ext cx="857605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4025" lvl="2" indent="-223838">
              <a:spcAft>
                <a:spcPts val="1200"/>
              </a:spcAft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If a program can't read a file, or dies without running, check the line breaks.</a:t>
            </a:r>
          </a:p>
          <a:p>
            <a:pPr marL="454025" lvl="2" indent="-223838">
              <a:spcAft>
                <a:spcPts val="600"/>
              </a:spcAft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There are lots of line-break converter utilities</a:t>
            </a:r>
          </a:p>
          <a:p>
            <a:pPr marL="454025" lvl="2" indent="-223838">
              <a:spcAft>
                <a:spcPts val="1200"/>
              </a:spcAft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Can also use 'Save As' in text editors to change line breaks.</a:t>
            </a:r>
          </a:p>
          <a:p>
            <a:pPr marL="454025" lvl="2" indent="-223838">
              <a:spcAft>
                <a:spcPts val="1200"/>
              </a:spcAft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We'll write an easy script to change line breaks later on.</a:t>
            </a:r>
          </a:p>
        </p:txBody>
      </p:sp>
    </p:spTree>
    <p:extLst>
      <p:ext uri="{BB962C8B-B14F-4D97-AF65-F5344CB8AC3E}">
        <p14:creationId xmlns:p14="http://schemas.microsoft.com/office/powerpoint/2010/main" val="400328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000" dirty="0"/>
              <a:t>Common Unix commands: Copying and moving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240194"/>
            <a:ext cx="8723875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400" dirty="0">
                <a:cs typeface="Courier"/>
              </a:rPr>
              <a:t>Moving and Copying Files</a:t>
            </a:r>
          </a:p>
          <a:p>
            <a:pPr marL="225425" lvl="1">
              <a:spcAft>
                <a:spcPts val="400"/>
              </a:spcAft>
            </a:pPr>
            <a:endParaRPr lang="en-US" sz="8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cp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8000"/>
                </a:solidFill>
                <a:latin typeface="Courier"/>
                <a:cs typeface="Courier"/>
              </a:rPr>
              <a:t>source file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FF0000"/>
                </a:solidFill>
                <a:latin typeface="Courier"/>
                <a:cs typeface="Courier"/>
              </a:rPr>
              <a:t>target file</a:t>
            </a:r>
            <a:r>
              <a:rPr lang="en-US" sz="21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100" dirty="0">
                <a:latin typeface="Calibri"/>
                <a:cs typeface="Calibri"/>
              </a:rPr>
              <a:t>–   </a:t>
            </a:r>
            <a:r>
              <a:rPr lang="en-US" sz="2100" u="sng" dirty="0">
                <a:cs typeface="Calibri"/>
              </a:rPr>
              <a:t>c</a:t>
            </a:r>
            <a:r>
              <a:rPr lang="en-US" sz="2100" dirty="0">
                <a:cs typeface="Calibri"/>
              </a:rPr>
              <a:t>o</a:t>
            </a:r>
            <a:r>
              <a:rPr lang="en-US" sz="2100" u="sng" dirty="0">
                <a:cs typeface="Calibri"/>
              </a:rPr>
              <a:t>p</a:t>
            </a:r>
            <a:r>
              <a:rPr lang="en-US" sz="2100" dirty="0">
                <a:cs typeface="Calibri"/>
              </a:rPr>
              <a:t>y files</a:t>
            </a:r>
            <a:endParaRPr lang="en-US" sz="2100" dirty="0">
              <a:latin typeface="Calibri"/>
              <a:cs typeface="Calibri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cp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watermelon.fsa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copy.fasta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cp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watermelon.fsa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~/Documents/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copy.fasta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cd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cp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rgbClr val="008000"/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8000"/>
                </a:solidFill>
                <a:latin typeface="Courier"/>
                <a:cs typeface="Courier"/>
              </a:rPr>
              <a:t>copy.fasta</a:t>
            </a:r>
            <a:r>
              <a:rPr lang="en-US" sz="1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~/Documents/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second_copy.fasta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cp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rgbClr val="008000"/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8000"/>
                </a:solidFill>
                <a:latin typeface="Courier"/>
                <a:cs typeface="Courier"/>
              </a:rPr>
              <a:t>copy.fasta</a:t>
            </a:r>
            <a:r>
              <a:rPr lang="en-US" sz="1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~/Documents</a:t>
            </a:r>
          </a:p>
          <a:p>
            <a:pPr marL="225425" lvl="1" indent="346075">
              <a:spcAft>
                <a:spcPts val="400"/>
              </a:spcAft>
            </a:pPr>
            <a:endParaRPr lang="en-US" sz="22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mv </a:t>
            </a:r>
            <a:r>
              <a:rPr lang="en-US" sz="2400" u="sng" dirty="0">
                <a:solidFill>
                  <a:srgbClr val="008000"/>
                </a:solidFill>
                <a:latin typeface="Courier"/>
                <a:cs typeface="Courier"/>
              </a:rPr>
              <a:t>source file</a:t>
            </a:r>
            <a:r>
              <a:rPr lang="en-US" sz="24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FF0000"/>
                </a:solidFill>
                <a:latin typeface="Courier"/>
                <a:cs typeface="Courier"/>
              </a:rPr>
              <a:t>target file</a:t>
            </a:r>
            <a:r>
              <a:rPr lang="en-US" sz="21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100" dirty="0">
                <a:cs typeface="Calibri"/>
              </a:rPr>
              <a:t>–  </a:t>
            </a:r>
            <a:r>
              <a:rPr lang="en-US" sz="2100" u="sng" dirty="0">
                <a:latin typeface="Calibri"/>
                <a:cs typeface="Calibri"/>
              </a:rPr>
              <a:t>m</a:t>
            </a:r>
            <a:r>
              <a:rPr lang="en-US" sz="2100" dirty="0">
                <a:latin typeface="Calibri"/>
                <a:cs typeface="Calibri"/>
              </a:rPr>
              <a:t>o</a:t>
            </a:r>
            <a:r>
              <a:rPr lang="en-US" sz="2100" u="sng" dirty="0">
                <a:latin typeface="Calibri"/>
                <a:cs typeface="Calibri"/>
              </a:rPr>
              <a:t>v</a:t>
            </a:r>
            <a:r>
              <a:rPr lang="en-US" sz="2100" dirty="0">
                <a:latin typeface="Calibri"/>
                <a:cs typeface="Calibri"/>
              </a:rPr>
              <a:t>e/rename files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watermelon.fsa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junk.dat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watermelon.fsa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tmp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tmp.fas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watermelon_files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Courier"/>
                <a:cs typeface="Courier"/>
              </a:rPr>
              <a:t>tmp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tmp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000" dirty="0" err="1">
                <a:solidFill>
                  <a:srgbClr val="008000"/>
                </a:solidFill>
                <a:latin typeface="Courier"/>
                <a:cs typeface="Courier"/>
              </a:rPr>
              <a:t>watermelon_files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000" dirty="0">
                <a:solidFill>
                  <a:srgbClr val="3366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</p:txBody>
      </p:sp>
      <p:pic>
        <p:nvPicPr>
          <p:cNvPr id="5" name="Picture 4" descr="Danger-Sig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185" y="5444902"/>
            <a:ext cx="90209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4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63" y="324699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Really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/>
              <a:t>important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963" y="1601892"/>
            <a:ext cx="6219163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Unix commands are permanent.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There is </a:t>
            </a:r>
            <a:r>
              <a:rPr lang="en-US" sz="2400" u="sng" dirty="0">
                <a:cs typeface="Courier"/>
              </a:rPr>
              <a:t>no</a:t>
            </a:r>
            <a:r>
              <a:rPr lang="en-US" sz="2400" dirty="0">
                <a:cs typeface="Courier"/>
              </a:rPr>
              <a:t> Recycle bin.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There are usually no warnings*.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If you </a:t>
            </a:r>
            <a:r>
              <a:rPr lang="en-US" sz="2400" b="1" dirty="0">
                <a:cs typeface="Courier"/>
              </a:rPr>
              <a:t>overwrite </a:t>
            </a:r>
            <a:r>
              <a:rPr lang="en-US" sz="2400" dirty="0">
                <a:cs typeface="Courier"/>
              </a:rPr>
              <a:t>a file, it's gone forever.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If you </a:t>
            </a:r>
            <a:r>
              <a:rPr lang="en-US" sz="2400" b="1" dirty="0">
                <a:cs typeface="Courier"/>
              </a:rPr>
              <a:t>delete</a:t>
            </a:r>
            <a:r>
              <a:rPr lang="en-US" sz="2400" dirty="0">
                <a:cs typeface="Courier"/>
              </a:rPr>
              <a:t> a file, it's gone forever.</a:t>
            </a:r>
            <a:endParaRPr lang="en-US" sz="20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  <p:pic>
        <p:nvPicPr>
          <p:cNvPr id="7" name="Picture 6" descr="DangerWillRobins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463" y="541624"/>
            <a:ext cx="2750023" cy="34807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9963" y="5045380"/>
            <a:ext cx="542090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3363" lvl="1" indent="-176213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Use the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400" dirty="0">
                <a:cs typeface="Courier"/>
              </a:rPr>
              <a:t> flag until you're comfortable</a:t>
            </a:r>
            <a:endParaRPr lang="en-US" sz="2400" dirty="0">
              <a:solidFill>
                <a:srgbClr val="000000"/>
              </a:solidFill>
              <a:cs typeface="Calibri"/>
            </a:endParaRP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Calibri"/>
              </a:rPr>
              <a:t>require confirmation before removing</a:t>
            </a: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Calibri"/>
              </a:rPr>
              <a:t>also available with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41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324699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Really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/>
              <a:t>important warnings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895" y="1420982"/>
            <a:ext cx="8592649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If you don't back up your data, it's your own fault.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STILL NEED TO BACK UP YOUR DATA with Box, Google Drive, and Dropbox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Mac users: Use Time Machine.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Make copies of your files before doing something drastic.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Make dummy files and folders and test your command on those first. (Use </a:t>
            </a:r>
            <a:r>
              <a:rPr lang="en-US" sz="2400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  <a:r>
              <a:rPr lang="en-US" sz="2400" dirty="0" err="1">
                <a:solidFill>
                  <a:srgbClr val="FF0000"/>
                </a:solidFill>
                <a:latin typeface="Courier"/>
                <a:cs typeface="Courier"/>
              </a:rPr>
              <a:t>tmp</a:t>
            </a:r>
            <a:r>
              <a:rPr lang="en-US" sz="2400" dirty="0">
                <a:cs typeface="Courier"/>
              </a:rPr>
              <a:t>)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You can do real and permanent damage with the commands you learn in this course.</a:t>
            </a:r>
          </a:p>
        </p:txBody>
      </p:sp>
    </p:spTree>
    <p:extLst>
      <p:ext uri="{BB962C8B-B14F-4D97-AF65-F5344CB8AC3E}">
        <p14:creationId xmlns:p14="http://schemas.microsoft.com/office/powerpoint/2010/main" val="123720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commands: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240194"/>
            <a:ext cx="87238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9725" lvl="1" indent="-227013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Making directories</a:t>
            </a:r>
          </a:p>
          <a:p>
            <a:pPr marL="225425" lvl="1">
              <a:spcAft>
                <a:spcPts val="400"/>
              </a:spcAft>
            </a:pPr>
            <a:endParaRPr lang="en-US" sz="2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mkdir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latin typeface="Courier"/>
                <a:cs typeface="Courier"/>
              </a:rPr>
              <a:t>directory-name</a:t>
            </a:r>
            <a:r>
              <a:rPr lang="en-US" sz="2100" dirty="0">
                <a:latin typeface="Courier"/>
                <a:cs typeface="Courier"/>
              </a:rPr>
              <a:t> </a:t>
            </a:r>
            <a:r>
              <a:rPr lang="en-US" sz="2100" u="sng" dirty="0">
                <a:latin typeface="Courier"/>
                <a:cs typeface="Courier"/>
              </a:rPr>
              <a:t>...</a:t>
            </a:r>
            <a:r>
              <a:rPr lang="en-US" sz="2100" dirty="0">
                <a:latin typeface="Courier"/>
                <a:cs typeface="Courier"/>
              </a:rPr>
              <a:t> </a:t>
            </a:r>
            <a:r>
              <a:rPr lang="en-US" sz="2100" dirty="0">
                <a:latin typeface="Calibri"/>
                <a:cs typeface="Calibri"/>
              </a:rPr>
              <a:t>–   </a:t>
            </a:r>
            <a:r>
              <a:rPr lang="en-US" sz="2100" u="sng" dirty="0">
                <a:cs typeface="Calibri"/>
              </a:rPr>
              <a:t>m</a:t>
            </a:r>
            <a:r>
              <a:rPr lang="en-US" sz="2100" dirty="0">
                <a:cs typeface="Calibri"/>
              </a:rPr>
              <a:t>a</a:t>
            </a:r>
            <a:r>
              <a:rPr lang="en-US" sz="2100" u="sng" dirty="0">
                <a:cs typeface="Calibri"/>
              </a:rPr>
              <a:t>k</a:t>
            </a:r>
            <a:r>
              <a:rPr lang="en-US" sz="2100" dirty="0">
                <a:cs typeface="Calibri"/>
              </a:rPr>
              <a:t>e </a:t>
            </a:r>
            <a:r>
              <a:rPr lang="en-US" sz="2100" u="sng" dirty="0">
                <a:cs typeface="Calibri"/>
              </a:rPr>
              <a:t>dir</a:t>
            </a:r>
            <a:r>
              <a:rPr lang="en-US" sz="2100" dirty="0">
                <a:cs typeface="Calibri"/>
              </a:rPr>
              <a:t>ectories</a:t>
            </a:r>
            <a:endParaRPr lang="en-US" sz="2100" dirty="0">
              <a:latin typeface="Calibri"/>
              <a:cs typeface="Calibri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mkdir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cowgirl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mkdir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n-US" sz="2000" u="sng" dirty="0">
                <a:solidFill>
                  <a:srgbClr val="000000"/>
                </a:solidFill>
                <a:latin typeface="Courier"/>
                <a:cs typeface="Courier"/>
              </a:rPr>
              <a:t>cowgirl in the sand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-al</a:t>
            </a:r>
          </a:p>
          <a:p>
            <a:pPr marL="225425" lvl="1">
              <a:spcAft>
                <a:spcPts val="400"/>
              </a:spcAft>
            </a:pPr>
            <a:endParaRPr lang="en-US" sz="20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8721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Common Unix commands: Deleting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159986"/>
            <a:ext cx="8455231" cy="545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lvl="1" indent="-163513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Removing files</a:t>
            </a:r>
          </a:p>
          <a:p>
            <a:pPr marL="225425" lvl="1">
              <a:spcAft>
                <a:spcPts val="400"/>
              </a:spcAft>
            </a:pPr>
            <a:endParaRPr lang="en-US" sz="600" dirty="0">
              <a:latin typeface="Courier"/>
              <a:cs typeface="Courier"/>
            </a:endParaRPr>
          </a:p>
          <a:p>
            <a:pPr marL="225425" lvl="1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latin typeface="Courier"/>
                <a:cs typeface="Courier"/>
              </a:rPr>
              <a:t>filename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u="sng" dirty="0">
                <a:latin typeface="Courier"/>
                <a:cs typeface="Courier"/>
              </a:rPr>
              <a:t>...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–   </a:t>
            </a:r>
            <a:r>
              <a:rPr lang="en-US" sz="2400" u="sng" dirty="0">
                <a:cs typeface="Calibri"/>
              </a:rPr>
              <a:t>r</a:t>
            </a:r>
            <a:r>
              <a:rPr lang="en-US" sz="2400" dirty="0">
                <a:cs typeface="Calibri"/>
              </a:rPr>
              <a:t>e</a:t>
            </a:r>
            <a:r>
              <a:rPr lang="en-US" sz="2400" u="sng" dirty="0">
                <a:cs typeface="Calibri"/>
              </a:rPr>
              <a:t>m</a:t>
            </a:r>
            <a:r>
              <a:rPr lang="en-US" sz="2400" dirty="0">
                <a:cs typeface="Calibri"/>
              </a:rPr>
              <a:t>ove files</a:t>
            </a:r>
            <a:endParaRPr lang="en-US" sz="20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~/Documents/</a:t>
            </a:r>
            <a:r>
              <a:rPr lang="en-US" sz="2000" dirty="0" err="1">
                <a:solidFill>
                  <a:srgbClr val="000000"/>
                </a:solidFill>
                <a:latin typeface="Courier"/>
                <a:cs typeface="Courier"/>
              </a:rPr>
              <a:t>second_copy.fasta</a:t>
            </a:r>
            <a:endParaRPr lang="en-US" sz="20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~/Documents/</a:t>
            </a:r>
            <a:r>
              <a:rPr lang="en-US" sz="2000" dirty="0" err="1">
                <a:solidFill>
                  <a:srgbClr val="000000"/>
                </a:solidFill>
                <a:latin typeface="Courier"/>
                <a:cs typeface="Courier"/>
              </a:rPr>
              <a:t>copy.fasta</a:t>
            </a:r>
            <a:endParaRPr lang="en-US" sz="20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urier"/>
                <a:cs typeface="Courier"/>
              </a:rPr>
              <a:t>junk.dat</a:t>
            </a:r>
            <a:endParaRPr lang="en-US" sz="20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endParaRPr lang="en-US" sz="20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227013" lvl="1" indent="-163513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Removing files and directories recursively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rm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-r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cowgirl</a:t>
            </a: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removes all the files in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cowgirl</a:t>
            </a: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, then removes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cowgirl </a:t>
            </a: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itself</a:t>
            </a: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Very dangerous command (that you will use all the time)</a:t>
            </a:r>
          </a:p>
          <a:p>
            <a:pPr marL="57150" lvl="1">
              <a:spcAft>
                <a:spcPts val="400"/>
              </a:spcAft>
            </a:pPr>
            <a:endParaRPr lang="en-US" sz="2000" dirty="0">
              <a:cs typeface="Courier"/>
            </a:endParaRPr>
          </a:p>
          <a:p>
            <a:pPr marL="233363" lvl="1" indent="-176213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ourier"/>
              </a:rPr>
              <a:t>Use the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-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400" dirty="0">
                <a:cs typeface="Courier"/>
              </a:rPr>
              <a:t> flag until you're comfortable</a:t>
            </a:r>
            <a:endParaRPr lang="en-US" sz="24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Calibri"/>
              </a:rPr>
              <a:t>require confirmation before removing</a:t>
            </a:r>
          </a:p>
          <a:p>
            <a:pPr marL="1201738" lvl="1" indent="-230188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Calibri"/>
              </a:rPr>
              <a:t>also available with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mv</a:t>
            </a:r>
          </a:p>
        </p:txBody>
      </p:sp>
      <p:pic>
        <p:nvPicPr>
          <p:cNvPr id="5" name="Picture 4" descr="Danger-Sig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528" y="2556729"/>
            <a:ext cx="1683655" cy="170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9623" y="1619919"/>
            <a:ext cx="87238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wc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get the </a:t>
            </a:r>
            <a:r>
              <a:rPr lang="en-US" sz="2400" u="sng" dirty="0">
                <a:cs typeface="Calibri"/>
              </a:rPr>
              <a:t>w</a:t>
            </a:r>
            <a:r>
              <a:rPr lang="en-US" sz="2400" dirty="0">
                <a:cs typeface="Calibri"/>
              </a:rPr>
              <a:t>ord, line, and </a:t>
            </a:r>
            <a:r>
              <a:rPr lang="en-US" sz="2400" u="sng" dirty="0">
                <a:cs typeface="Calibri"/>
              </a:rPr>
              <a:t>c</a:t>
            </a:r>
            <a:r>
              <a:rPr lang="en-US" sz="2400" dirty="0">
                <a:cs typeface="Calibri"/>
              </a:rPr>
              <a:t>haracter counts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wc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[# of lines, words, and bytes]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wc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-l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[# of lines]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wc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-m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[# of characters]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431" y="3927576"/>
            <a:ext cx="7007138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How many lines in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r>
              <a:rPr lang="en-US" sz="2400" dirty="0">
                <a:latin typeface="Calibri"/>
                <a:cs typeface="Calibri"/>
              </a:rPr>
              <a:t>?</a:t>
            </a:r>
          </a:p>
          <a:p>
            <a:pPr marL="568325" lvl="1" indent="-342900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How many songs on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cowboy_carter.txt</a:t>
            </a:r>
            <a:r>
              <a:rPr lang="en-US" sz="2400" dirty="0">
                <a:latin typeface="Calibri"/>
                <a:cs typeface="Calibri"/>
              </a:rPr>
              <a:t>?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wc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7748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348" y="1519319"/>
            <a:ext cx="8203177" cy="4401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sort [sort lines of a text file]</a:t>
            </a:r>
            <a:endParaRPr lang="en-US" sz="2400" dirty="0">
              <a:cs typeface="Courier"/>
            </a:endParaRPr>
          </a:p>
          <a:p>
            <a:pPr marL="1092200" lvl="1">
              <a:spcAft>
                <a:spcPts val="1200"/>
              </a:spcAft>
            </a:pPr>
            <a:r>
              <a:rPr lang="en-US" sz="2400" dirty="0">
                <a:latin typeface="Courier"/>
                <a:cs typeface="Courier"/>
              </a:rPr>
              <a:t>-k </a:t>
            </a:r>
            <a:r>
              <a:rPr lang="en-US" sz="2400" dirty="0">
                <a:cs typeface="Courier"/>
              </a:rPr>
              <a:t>which column to sort by</a:t>
            </a:r>
          </a:p>
          <a:p>
            <a:pPr marL="1092200" lvl="1">
              <a:spcAft>
                <a:spcPts val="1200"/>
              </a:spcAft>
            </a:pPr>
            <a:r>
              <a:rPr lang="en-US" sz="2400" dirty="0">
                <a:latin typeface="Courier"/>
                <a:cs typeface="Courier"/>
              </a:rPr>
              <a:t>-g </a:t>
            </a:r>
            <a:r>
              <a:rPr lang="en-US" sz="2400" dirty="0">
                <a:cs typeface="Courier"/>
              </a:rPr>
              <a:t>general numeric sort</a:t>
            </a:r>
          </a:p>
          <a:p>
            <a:pPr marL="1092200" lvl="1">
              <a:spcAft>
                <a:spcPts val="1200"/>
              </a:spcAft>
            </a:pPr>
            <a:r>
              <a:rPr lang="en-US" sz="2400" dirty="0">
                <a:latin typeface="Courier"/>
                <a:cs typeface="Courier"/>
              </a:rPr>
              <a:t>-r </a:t>
            </a:r>
            <a:r>
              <a:rPr lang="en-US" sz="2400" dirty="0">
                <a:cs typeface="Courier"/>
              </a:rPr>
              <a:t>reverse the ordering (descending order)</a:t>
            </a:r>
          </a:p>
          <a:p>
            <a:pPr marL="1092200" lvl="1">
              <a:spcAft>
                <a:spcPts val="1200"/>
              </a:spcAft>
            </a:pPr>
            <a:endParaRPr lang="en-US" sz="2400" dirty="0">
              <a:cs typeface="Courier"/>
            </a:endParaRPr>
          </a:p>
          <a:p>
            <a:pPr marL="565150" lvl="1" indent="6350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sort -k2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dirty="0"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sort -k1gr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sort -k5gr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092200" lvl="1">
              <a:spcAft>
                <a:spcPts val="1200"/>
              </a:spcAft>
            </a:pPr>
            <a:endParaRPr lang="en-US" sz="24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2073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623" y="1619919"/>
            <a:ext cx="8723875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print lines matching a pattern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ourier"/>
                <a:cs typeface="Courier"/>
              </a:rPr>
              <a:t>g/re/p</a:t>
            </a:r>
            <a:r>
              <a:rPr lang="en-US" sz="2400" dirty="0">
                <a:cs typeface="Calibri"/>
              </a:rPr>
              <a:t> in the </a:t>
            </a:r>
            <a:r>
              <a:rPr lang="en-US" sz="2400" i="1" dirty="0" err="1">
                <a:cs typeface="Calibri"/>
              </a:rPr>
              <a:t>ed</a:t>
            </a:r>
            <a:r>
              <a:rPr lang="en-US" sz="2400" i="1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scripting language</a:t>
            </a:r>
          </a:p>
          <a:p>
            <a:pPr marL="2060575" lvl="5" indent="-287338">
              <a:spcAft>
                <a:spcPts val="400"/>
              </a:spcAft>
              <a:buFont typeface="Lucida Grande"/>
              <a:buChar char="–"/>
            </a:pPr>
            <a:r>
              <a:rPr lang="en-US" sz="2400" u="sng" dirty="0">
                <a:cs typeface="Calibri"/>
              </a:rPr>
              <a:t>g</a:t>
            </a:r>
            <a:r>
              <a:rPr lang="en-US" sz="2400" dirty="0">
                <a:cs typeface="Calibri"/>
              </a:rPr>
              <a:t>lobal/</a:t>
            </a:r>
            <a:r>
              <a:rPr lang="en-US" sz="2400" u="sng" dirty="0">
                <a:cs typeface="Calibri"/>
              </a:rPr>
              <a:t>r</a:t>
            </a:r>
            <a:r>
              <a:rPr lang="en-US" sz="2400" dirty="0">
                <a:cs typeface="Calibri"/>
              </a:rPr>
              <a:t>egular </a:t>
            </a:r>
            <a:r>
              <a:rPr lang="en-US" sz="2400" u="sng" dirty="0">
                <a:cs typeface="Calibri"/>
              </a:rPr>
              <a:t>e</a:t>
            </a:r>
            <a:r>
              <a:rPr lang="en-US" sz="2400" dirty="0">
                <a:cs typeface="Calibri"/>
              </a:rPr>
              <a:t>xpression/</a:t>
            </a:r>
            <a:r>
              <a:rPr lang="en-US" sz="2400" u="sng" dirty="0">
                <a:cs typeface="Calibri"/>
              </a:rPr>
              <a:t>p</a:t>
            </a:r>
            <a:r>
              <a:rPr lang="en-US" sz="2400" dirty="0">
                <a:cs typeface="Calibri"/>
              </a:rPr>
              <a:t>rint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alibri"/>
              </a:rPr>
              <a:t>EXTREMELY powerful – one of the more useful tools in the Unix bioinformatics toolbox</a:t>
            </a:r>
          </a:p>
          <a:p>
            <a:pPr marL="225425" lvl="1" indent="346075">
              <a:spcAft>
                <a:spcPts val="400"/>
              </a:spcAft>
            </a:pPr>
            <a:endParaRPr lang="en-US" sz="2400" dirty="0"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pattern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grep apple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grep –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mi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grep -v apple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454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563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[options]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9348" y="1318799"/>
            <a:ext cx="820317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endParaRPr lang="en-US" sz="2400" dirty="0">
              <a:cs typeface="Courier"/>
            </a:endParaRP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–c </a:t>
            </a:r>
            <a:r>
              <a:rPr lang="en-US" sz="2200" dirty="0">
                <a:cs typeface="Courier"/>
              </a:rPr>
              <a:t>Show only a count of the results in the file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–v </a:t>
            </a:r>
            <a:r>
              <a:rPr lang="en-US" sz="2200" dirty="0">
                <a:cs typeface="Courier"/>
              </a:rPr>
              <a:t>Show only the lines that do not match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</a:t>
            </a:r>
            <a:r>
              <a:rPr lang="en-US" sz="2200" dirty="0" err="1">
                <a:latin typeface="Courier"/>
                <a:cs typeface="Courier"/>
              </a:rPr>
              <a:t>i</a:t>
            </a:r>
            <a:r>
              <a:rPr lang="en-US" sz="2200" dirty="0">
                <a:latin typeface="Courier"/>
                <a:cs typeface="Courier"/>
              </a:rPr>
              <a:t> </a:t>
            </a:r>
            <a:r>
              <a:rPr lang="en-US" sz="2200" dirty="0">
                <a:cs typeface="Courier"/>
              </a:rPr>
              <a:t>Case insensitive matching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–E </a:t>
            </a:r>
            <a:r>
              <a:rPr lang="en-US" sz="2200" dirty="0">
                <a:cs typeface="Courier"/>
              </a:rPr>
              <a:t>Use regular expression syntax [more on this later]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–l </a:t>
            </a:r>
            <a:r>
              <a:rPr lang="en-US" sz="2200" dirty="0">
                <a:cs typeface="Courier"/>
              </a:rPr>
              <a:t>List only the file names containing matches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–n </a:t>
            </a:r>
            <a:r>
              <a:rPr lang="en-US" sz="2200" dirty="0">
                <a:cs typeface="Courier"/>
              </a:rPr>
              <a:t>Show the line numbers of the match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–h </a:t>
            </a:r>
            <a:r>
              <a:rPr lang="en-US" sz="2200" dirty="0">
                <a:cs typeface="Courier"/>
              </a:rPr>
              <a:t>Hide the filenames in the output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–o </a:t>
            </a:r>
            <a:r>
              <a:rPr lang="en-US" sz="2200" dirty="0">
                <a:cs typeface="Courier"/>
              </a:rPr>
              <a:t>Show the matches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–B </a:t>
            </a:r>
            <a:r>
              <a:rPr lang="en-US" sz="2200" dirty="0">
                <a:cs typeface="Courier"/>
              </a:rPr>
              <a:t>Print </a:t>
            </a:r>
            <a:r>
              <a:rPr lang="en-US" sz="2200" dirty="0">
                <a:latin typeface="Courier"/>
                <a:cs typeface="Courier"/>
              </a:rPr>
              <a:t>B</a:t>
            </a:r>
            <a:r>
              <a:rPr lang="en-US" sz="2200" dirty="0">
                <a:cs typeface="Courier"/>
              </a:rPr>
              <a:t> number of lines preceding the matching line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–A </a:t>
            </a:r>
            <a:r>
              <a:rPr lang="en-US" sz="2200" dirty="0">
                <a:cs typeface="Courier"/>
              </a:rPr>
              <a:t>Print </a:t>
            </a:r>
            <a:r>
              <a:rPr lang="en-US" sz="2200" dirty="0">
                <a:latin typeface="Courier"/>
                <a:cs typeface="Courier"/>
              </a:rPr>
              <a:t>A</a:t>
            </a:r>
            <a:r>
              <a:rPr lang="en-US" sz="2200" dirty="0">
                <a:cs typeface="Courier"/>
              </a:rPr>
              <a:t> number of lines after the matching line</a:t>
            </a:r>
          </a:p>
          <a:p>
            <a:pPr marL="1092200" lvl="1">
              <a:spcAft>
                <a:spcPts val="600"/>
              </a:spcAft>
            </a:pPr>
            <a:r>
              <a:rPr lang="en-US" sz="2200" dirty="0">
                <a:latin typeface="Courier"/>
                <a:cs typeface="Courier"/>
              </a:rPr>
              <a:t>–color </a:t>
            </a:r>
            <a:r>
              <a:rPr lang="en-US" sz="2200" dirty="0">
                <a:latin typeface="Calibri"/>
                <a:cs typeface="Calibri"/>
              </a:rPr>
              <a:t>Color the matches</a:t>
            </a:r>
          </a:p>
        </p:txBody>
      </p:sp>
    </p:spTree>
    <p:extLst>
      <p:ext uri="{BB962C8B-B14F-4D97-AF65-F5344CB8AC3E}">
        <p14:creationId xmlns:p14="http://schemas.microsoft.com/office/powerpoint/2010/main" val="368919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771" y="1808544"/>
            <a:ext cx="7987333" cy="2624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800" dirty="0">
                <a:latin typeface="Calibri"/>
                <a:cs typeface="Calibri"/>
              </a:rPr>
              <a:t>Shaver et al. example </a:t>
            </a:r>
            <a:r>
              <a:rPr lang="en-US" sz="2800" dirty="0">
                <a:latin typeface="Courier"/>
                <a:cs typeface="Courier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shaver_etal.csv</a:t>
            </a:r>
            <a:r>
              <a:rPr lang="en-US" sz="2800" dirty="0">
                <a:latin typeface="Courier"/>
                <a:cs typeface="Courier"/>
              </a:rPr>
              <a:t>)</a:t>
            </a:r>
          </a:p>
          <a:p>
            <a:pPr marL="1482725" lvl="3" indent="-342900">
              <a:spcAft>
                <a:spcPts val="400"/>
              </a:spcAft>
              <a:buFont typeface="Lucida Grande"/>
              <a:buChar char="–"/>
            </a:pPr>
            <a:r>
              <a:rPr lang="en-US" sz="2800" dirty="0">
                <a:cs typeface="Courier"/>
              </a:rPr>
              <a:t>find just the </a:t>
            </a:r>
            <a:r>
              <a:rPr lang="en-US" sz="2800" dirty="0" err="1">
                <a:cs typeface="Courier"/>
              </a:rPr>
              <a:t>Toolik</a:t>
            </a:r>
            <a:r>
              <a:rPr lang="en-US" sz="2800" dirty="0">
                <a:cs typeface="Courier"/>
              </a:rPr>
              <a:t> Lake data</a:t>
            </a:r>
          </a:p>
          <a:p>
            <a:pPr marL="1482725" lvl="3" indent="-342900">
              <a:spcAft>
                <a:spcPts val="400"/>
              </a:spcAft>
              <a:buFont typeface="Lucida Grande"/>
              <a:buChar char="–"/>
            </a:pPr>
            <a:r>
              <a:rPr lang="en-US" sz="2800" dirty="0">
                <a:cs typeface="Courier"/>
              </a:rPr>
              <a:t>find </a:t>
            </a:r>
            <a:r>
              <a:rPr lang="en-US" sz="2800" dirty="0" err="1">
                <a:cs typeface="Courier"/>
              </a:rPr>
              <a:t>Toolik</a:t>
            </a:r>
            <a:r>
              <a:rPr lang="en-US" sz="2800" dirty="0">
                <a:cs typeface="Courier"/>
              </a:rPr>
              <a:t> Lake data, August only</a:t>
            </a:r>
          </a:p>
          <a:p>
            <a:pPr marL="1482725" lvl="3" indent="-342900">
              <a:spcAft>
                <a:spcPts val="400"/>
              </a:spcAft>
              <a:buFont typeface="Lucida Grande"/>
              <a:buChar char="–"/>
            </a:pPr>
            <a:r>
              <a:rPr lang="en-US" sz="2800" dirty="0">
                <a:cs typeface="Courier"/>
              </a:rPr>
              <a:t>find everything BUT the </a:t>
            </a:r>
            <a:r>
              <a:rPr lang="en-US" sz="2800" dirty="0" err="1">
                <a:cs typeface="Courier"/>
              </a:rPr>
              <a:t>Toolik</a:t>
            </a:r>
            <a:r>
              <a:rPr lang="en-US" sz="2800" dirty="0">
                <a:cs typeface="Courier"/>
              </a:rPr>
              <a:t> Lake data</a:t>
            </a:r>
          </a:p>
          <a:p>
            <a:pPr marL="1482725" lvl="3" indent="-342900">
              <a:spcAft>
                <a:spcPts val="400"/>
              </a:spcAft>
              <a:buFont typeface="Lucida Grande"/>
              <a:buChar char="–"/>
            </a:pPr>
            <a:r>
              <a:rPr lang="en-US" sz="2800" dirty="0">
                <a:cs typeface="Courier"/>
              </a:rPr>
              <a:t>find only the June data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5064" y="176523"/>
            <a:ext cx="8436747" cy="862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11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6128" y="2022319"/>
            <a:ext cx="7518888" cy="16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lvl="1" indent="-457200">
              <a:lnSpc>
                <a:spcPct val="14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Make a single file with all the nucleotide sequences, call it </a:t>
            </a:r>
            <a:r>
              <a:rPr lang="en-US" sz="240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genes.fa</a:t>
            </a:r>
            <a:endParaRPr lang="en-US" sz="240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82625" lvl="1" indent="-457200">
              <a:lnSpc>
                <a:spcPct val="14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Count the header lines in </a:t>
            </a:r>
            <a:r>
              <a:rPr lang="en-US" sz="240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genes.fa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2400" dirty="0">
              <a:solidFill>
                <a:srgbClr val="0000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84770" y="390298"/>
            <a:ext cx="8574460" cy="862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  <a:cs typeface="Courier"/>
              </a:rPr>
              <a:t> Use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grep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to get the header line from a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FASTA</a:t>
            </a:r>
            <a:r>
              <a:rPr lang="en-US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347353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44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575" y="3028319"/>
            <a:ext cx="87238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200" dirty="0">
                <a:latin typeface="Courier"/>
                <a:cs typeface="Courier"/>
              </a:rPr>
              <a:t>$ 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command [options] </a:t>
            </a:r>
            <a:r>
              <a:rPr lang="en-US" sz="22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urier"/>
                <a:cs typeface="Courier"/>
              </a:rPr>
              <a:t>|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command [options]</a:t>
            </a:r>
            <a:endParaRPr lang="en-US" sz="2200" dirty="0">
              <a:solidFill>
                <a:srgbClr val="0000FF"/>
              </a:solidFill>
              <a:cs typeface="Calibri"/>
            </a:endParaRPr>
          </a:p>
          <a:p>
            <a:pPr marL="1146175" lvl="1" indent="-287338"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Channel (or "pipe") STDOUT to another Unix command</a:t>
            </a:r>
          </a:p>
          <a:p>
            <a:pPr marL="1146175" lvl="1" indent="-287338"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first command has an input file, the next command takes the output of the previous command as its input</a:t>
            </a:r>
          </a:p>
          <a:p>
            <a:pPr marL="1146175" lvl="1" indent="-287338"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No limit to the number of pipes per command </a:t>
            </a:r>
          </a:p>
          <a:p>
            <a:pPr marL="1146175" lvl="1" indent="-287338"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Pipes are amazing.</a:t>
            </a:r>
          </a:p>
        </p:txBody>
      </p:sp>
      <p:pic>
        <p:nvPicPr>
          <p:cNvPr id="3" name="Picture 2" descr="pip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044" y="294487"/>
            <a:ext cx="3041847" cy="2281386"/>
          </a:xfrm>
          <a:prstGeom prst="rect">
            <a:avLst/>
          </a:prstGeom>
        </p:spPr>
      </p:pic>
      <p:pic>
        <p:nvPicPr>
          <p:cNvPr id="7" name="Picture 6" descr="pip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78" y="294487"/>
            <a:ext cx="3041847" cy="228138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923422" y="855739"/>
            <a:ext cx="3324525" cy="115888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Piperalpha"/>
                <a:cs typeface="Piperalpha"/>
              </a:rPr>
              <a:t>PIPES</a:t>
            </a:r>
          </a:p>
        </p:txBody>
      </p:sp>
    </p:spTree>
    <p:extLst>
      <p:ext uri="{BB962C8B-B14F-4D97-AF65-F5344CB8AC3E}">
        <p14:creationId xmlns:p14="http://schemas.microsoft.com/office/powerpoint/2010/main" val="141867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2382" y="110643"/>
            <a:ext cx="3324525" cy="115888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Piperalpha"/>
                <a:cs typeface="Piperalpha"/>
              </a:rPr>
              <a:t>PIPES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514" y="1436983"/>
            <a:ext cx="83655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 indent="-225425"/>
            <a:r>
              <a:rPr lang="en-US" dirty="0">
                <a:latin typeface="Courier"/>
                <a:cs typeface="Courier"/>
              </a:rPr>
              <a:t># view directory contents with less</a:t>
            </a:r>
          </a:p>
          <a:p>
            <a:pPr marL="225425" lvl="1" indent="-225425"/>
            <a:endParaRPr lang="en-US" dirty="0">
              <a:latin typeface="Courier"/>
              <a:cs typeface="Courier"/>
            </a:endParaRPr>
          </a:p>
          <a:p>
            <a:pPr marL="225425" lvl="1" indent="-225425"/>
            <a:r>
              <a:rPr lang="en-US" dirty="0">
                <a:latin typeface="Courier"/>
                <a:cs typeface="Courier"/>
              </a:rPr>
              <a:t># find all the times I've used the </a:t>
            </a:r>
            <a:r>
              <a:rPr lang="en-US" dirty="0" err="1">
                <a:latin typeface="Courier"/>
                <a:cs typeface="Courier"/>
              </a:rPr>
              <a:t>pwd</a:t>
            </a:r>
            <a:r>
              <a:rPr lang="en-US" dirty="0">
                <a:latin typeface="Courier"/>
                <a:cs typeface="Courier"/>
              </a:rPr>
              <a:t> command</a:t>
            </a:r>
          </a:p>
          <a:p>
            <a:pPr marL="225425" lvl="1" indent="-225425"/>
            <a:endParaRPr lang="en-US" dirty="0">
              <a:latin typeface="Courier"/>
              <a:cs typeface="Courier"/>
            </a:endParaRPr>
          </a:p>
          <a:p>
            <a:pPr marL="225425" lvl="1" indent="-225425"/>
            <a:r>
              <a:rPr lang="en-US" dirty="0">
                <a:latin typeface="Courier"/>
                <a:cs typeface="Courier"/>
              </a:rPr>
              <a:t># in ‘</a:t>
            </a:r>
            <a:r>
              <a:rPr lang="en-US" dirty="0" err="1">
                <a:latin typeface="Courier"/>
                <a:cs typeface="Courier"/>
              </a:rPr>
              <a:t>nt</a:t>
            </a:r>
            <a:r>
              <a:rPr lang="en-US" dirty="0">
                <a:latin typeface="Courier"/>
                <a:cs typeface="Courier"/>
              </a:rPr>
              <a:t>’, print FASTA files to STDOUT and search for </a:t>
            </a:r>
            <a:r>
              <a:rPr lang="en-US" dirty="0" err="1">
                <a:latin typeface="Courier"/>
                <a:cs typeface="Courier"/>
              </a:rPr>
              <a:t>EcoRI</a:t>
            </a:r>
            <a:r>
              <a:rPr lang="en-US" dirty="0">
                <a:latin typeface="Courier"/>
                <a:cs typeface="Courier"/>
              </a:rPr>
              <a:t> (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GAATTC</a:t>
            </a:r>
            <a:r>
              <a:rPr lang="en-US" dirty="0">
                <a:latin typeface="Courier"/>
                <a:cs typeface="Courier"/>
              </a:rPr>
              <a:t>)</a:t>
            </a:r>
          </a:p>
          <a:p>
            <a:pPr marL="225425" lvl="1" indent="-225425"/>
            <a:endParaRPr lang="en-US" dirty="0">
              <a:latin typeface="Courier"/>
              <a:cs typeface="Courier"/>
            </a:endParaRPr>
          </a:p>
          <a:p>
            <a:pPr marL="225425" lvl="1" indent="-225425"/>
            <a:r>
              <a:rPr lang="en-US" dirty="0">
                <a:latin typeface="Courier"/>
                <a:cs typeface="Courier"/>
              </a:rPr>
              <a:t># get just the August </a:t>
            </a:r>
            <a:r>
              <a:rPr lang="en-US" dirty="0" err="1">
                <a:latin typeface="Courier"/>
                <a:cs typeface="Courier"/>
              </a:rPr>
              <a:t>Toolik</a:t>
            </a:r>
            <a:r>
              <a:rPr lang="en-US" dirty="0">
                <a:latin typeface="Courier"/>
                <a:cs typeface="Courier"/>
              </a:rPr>
              <a:t> Lake data</a:t>
            </a:r>
          </a:p>
          <a:p>
            <a:pPr marL="225425" lvl="1" indent="-225425"/>
            <a:endParaRPr lang="en-US" dirty="0">
              <a:latin typeface="Courier"/>
              <a:cs typeface="Courier"/>
            </a:endParaRPr>
          </a:p>
          <a:p>
            <a:pPr marL="225425" lvl="1" indent="-225425"/>
            <a:r>
              <a:rPr lang="en-US" dirty="0">
                <a:latin typeface="Courier"/>
                <a:cs typeface="Courier"/>
              </a:rPr>
              <a:t># get just the August </a:t>
            </a:r>
            <a:r>
              <a:rPr lang="en-US" u="sng" dirty="0">
                <a:latin typeface="Courier"/>
                <a:cs typeface="Courier"/>
              </a:rPr>
              <a:t>2003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err="1">
                <a:latin typeface="Courier"/>
                <a:cs typeface="Courier"/>
              </a:rPr>
              <a:t>Toolik</a:t>
            </a:r>
            <a:r>
              <a:rPr lang="en-US" dirty="0">
                <a:latin typeface="Courier"/>
                <a:cs typeface="Courier"/>
              </a:rPr>
              <a:t> Lake data</a:t>
            </a:r>
          </a:p>
          <a:p>
            <a:pPr marL="225425" lvl="1" indent="-225425"/>
            <a:endParaRPr lang="en-US" dirty="0">
              <a:latin typeface="Courier"/>
              <a:cs typeface="Courier"/>
            </a:endParaRPr>
          </a:p>
          <a:p>
            <a:pPr marL="225425" lvl="1" indent="-225425"/>
            <a:r>
              <a:rPr lang="en-US" dirty="0">
                <a:latin typeface="Courier"/>
                <a:cs typeface="Courier"/>
              </a:rPr>
              <a:t># get plastid-derived regions outside the plastid "IR"</a:t>
            </a:r>
          </a:p>
        </p:txBody>
      </p:sp>
    </p:spTree>
    <p:extLst>
      <p:ext uri="{BB962C8B-B14F-4D97-AF65-F5344CB8AC3E}">
        <p14:creationId xmlns:p14="http://schemas.microsoft.com/office/powerpoint/2010/main" val="625473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28843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cut</a:t>
            </a:r>
            <a:endParaRPr lang="en-US" sz="3600" dirty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575" y="1108250"/>
            <a:ext cx="872387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600" dirty="0">
                <a:cs typeface="Calibri"/>
              </a:rPr>
              <a:t>Extract columns of data separated by whitespace</a:t>
            </a:r>
          </a:p>
          <a:p>
            <a:pPr marL="225425" lvl="1"/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cut [options] filename</a:t>
            </a:r>
            <a:endParaRPr lang="en-US" sz="2000" dirty="0">
              <a:cs typeface="Courier"/>
            </a:endParaRPr>
          </a:p>
          <a:p>
            <a:pPr marL="1092200" lvl="1"/>
            <a:r>
              <a:rPr lang="en-US" sz="2000" dirty="0">
                <a:latin typeface="Courier"/>
                <a:cs typeface="Courier"/>
              </a:rPr>
              <a:t>-f </a:t>
            </a:r>
            <a:r>
              <a:rPr lang="en-US" sz="2000" dirty="0">
                <a:cs typeface="Courier"/>
              </a:rPr>
              <a:t>which fields to extract and print</a:t>
            </a:r>
          </a:p>
          <a:p>
            <a:pPr marL="1092200" lvl="1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-c </a:t>
            </a:r>
            <a:r>
              <a:rPr lang="en-US" sz="2000" dirty="0">
                <a:cs typeface="Courier"/>
              </a:rPr>
              <a:t>which characters to extract and print</a:t>
            </a: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extract the start coordinate of each feature in </a:t>
            </a:r>
            <a:r>
              <a:rPr lang="en-US" sz="2000" dirty="0" err="1">
                <a:latin typeface="Courier"/>
                <a:cs typeface="Courier"/>
              </a:rPr>
              <a:t>watermelon.gff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cut –f 4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extract the start and stop coordinates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cut –f 4-5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extract the start and stop coordinate and feature details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cut –f 4-5,9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extract a range of characters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cut –c 10-20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53396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28843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endParaRPr lang="en-US" sz="3600" dirty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575" y="1108250"/>
            <a:ext cx="8723875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600" dirty="0">
                <a:cs typeface="Calibri"/>
              </a:rPr>
              <a:t>Remove </a:t>
            </a:r>
            <a:r>
              <a:rPr lang="en-US" sz="2600" i="1" dirty="0">
                <a:cs typeface="Calibri"/>
              </a:rPr>
              <a:t>consecutive </a:t>
            </a:r>
            <a:r>
              <a:rPr lang="en-US" sz="2600" dirty="0">
                <a:cs typeface="Calibri"/>
              </a:rPr>
              <a:t>duplicate lines (keeping one)</a:t>
            </a:r>
          </a:p>
          <a:p>
            <a:pPr marL="225425" lvl="1"/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[options] filename</a:t>
            </a:r>
            <a:endParaRPr lang="en-US" sz="2000" dirty="0">
              <a:cs typeface="Courier"/>
            </a:endParaRPr>
          </a:p>
          <a:p>
            <a:pPr marL="1092200" lvl="1"/>
            <a:r>
              <a:rPr lang="en-US" sz="2000" dirty="0">
                <a:latin typeface="Courier"/>
                <a:cs typeface="Courier"/>
              </a:rPr>
              <a:t>-c </a:t>
            </a:r>
            <a:r>
              <a:rPr lang="en-US" sz="2000" dirty="0">
                <a:cs typeface="Courier"/>
              </a:rPr>
              <a:t>show counts of occurrences next to the unique lines</a:t>
            </a:r>
          </a:p>
          <a:p>
            <a:pPr marL="1092200" lvl="1"/>
            <a:r>
              <a:rPr lang="en-US" sz="2000" dirty="0">
                <a:latin typeface="Courier"/>
                <a:cs typeface="Courier"/>
              </a:rPr>
              <a:t>-d </a:t>
            </a:r>
            <a:r>
              <a:rPr lang="en-US" sz="2000" dirty="0">
                <a:cs typeface="Courier"/>
              </a:rPr>
              <a:t>output duplicated lines only</a:t>
            </a: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look at its default behavior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6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cat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letters.txt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letters.txt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return only unique values (can this be done with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sort</a:t>
            </a:r>
            <a:r>
              <a:rPr lang="en-US" sz="2000" dirty="0">
                <a:cs typeface="Courier"/>
              </a:rPr>
              <a:t> alone?)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sort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letters.txt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|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show number of occurrences of each line in the file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sort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letters.txt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|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endParaRPr lang="en-US" sz="20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573088" lvl="1" indent="-347663">
              <a:spcBef>
                <a:spcPts val="1200"/>
              </a:spcBef>
            </a:pPr>
            <a:r>
              <a:rPr lang="en-US" sz="2000" dirty="0">
                <a:cs typeface="Courier"/>
              </a:rPr>
              <a:t># number of features of each type in the watermelon mitochondrial genome</a:t>
            </a:r>
            <a:endParaRPr lang="en-US" sz="2000" dirty="0">
              <a:latin typeface="Courier"/>
              <a:cs typeface="Courier"/>
            </a:endParaRPr>
          </a:p>
          <a:p>
            <a:pPr marL="573088" lvl="1" indent="-347663">
              <a:spcAft>
                <a:spcPts val="1200"/>
              </a:spcAft>
            </a:pPr>
            <a:r>
              <a:rPr lang="en-US" sz="2000" dirty="0">
                <a:latin typeface="Courier"/>
                <a:cs typeface="Courier"/>
              </a:rPr>
              <a:t>$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cut –f3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| sort | </a:t>
            </a: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uniq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–c</a:t>
            </a:r>
          </a:p>
        </p:txBody>
      </p:sp>
    </p:spTree>
    <p:extLst>
      <p:ext uri="{BB962C8B-B14F-4D97-AF65-F5344CB8AC3E}">
        <p14:creationId xmlns:p14="http://schemas.microsoft.com/office/powerpoint/2010/main" val="4282780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602" y="1319207"/>
            <a:ext cx="8788802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lvl="1" indent="-344488">
              <a:spcAft>
                <a:spcPts val="1800"/>
              </a:spcAft>
              <a:buFont typeface="+mj-lt"/>
              <a:buAutoNum type="arabicPeriod"/>
            </a:pPr>
            <a:r>
              <a:rPr lang="en-US" sz="2400" dirty="0">
                <a:cs typeface="Courier"/>
              </a:rPr>
              <a:t>In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r>
              <a:rPr lang="en-US" sz="2400" dirty="0">
                <a:cs typeface="Courier"/>
              </a:rPr>
              <a:t>, extract the start, stop, and size of each intron; sort the list by intron size in descending order.</a:t>
            </a:r>
          </a:p>
          <a:p>
            <a:pPr marL="569913" lvl="1" indent="-344488">
              <a:spcAft>
                <a:spcPts val="1800"/>
              </a:spcAft>
              <a:buFont typeface="+mj-lt"/>
              <a:buAutoNum type="arabicPeriod"/>
            </a:pPr>
            <a:r>
              <a:rPr lang="en-US" sz="2400" dirty="0">
                <a:cs typeface="Courier"/>
              </a:rPr>
              <a:t>Get a list of all </a:t>
            </a:r>
            <a:r>
              <a:rPr lang="en-US" sz="2400" dirty="0" err="1">
                <a:cs typeface="Courier"/>
              </a:rPr>
              <a:t>tRNAs</a:t>
            </a:r>
            <a:r>
              <a:rPr lang="en-US" sz="2400" dirty="0">
                <a:cs typeface="Courier"/>
              </a:rPr>
              <a:t> on the '–' strand, extract and print the start coordinate, end coordinate, and 'group' field.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64627" y="176523"/>
            <a:ext cx="8436747" cy="862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Try it.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790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/>
                <a:cs typeface="Calibri"/>
              </a:rPr>
              <a:t>Doing multiple things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575" y="1360320"/>
            <a:ext cx="872387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 algn="ctr"/>
            <a:r>
              <a:rPr lang="en-US" sz="2600" dirty="0">
                <a:cs typeface="Calibri"/>
              </a:rPr>
              <a:t>There are lots of ways to run multiple commands in sequence</a:t>
            </a:r>
          </a:p>
          <a:p>
            <a:pPr marL="225425" lvl="1" algn="ctr"/>
            <a:endParaRPr lang="en-US" sz="2600" dirty="0">
              <a:cs typeface="Calibri"/>
            </a:endParaRPr>
          </a:p>
          <a:p>
            <a:pPr marL="1262063" lvl="1" indent="-347663"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cs typeface="Courier"/>
              </a:rPr>
              <a:t>Pipes</a:t>
            </a:r>
          </a:p>
          <a:p>
            <a:pPr marL="1262063" lvl="1" indent="-347663"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cs typeface="Courier"/>
              </a:rPr>
              <a:t>Semicolon-separated commands</a:t>
            </a:r>
          </a:p>
          <a:p>
            <a:pPr marL="1262063" lvl="1" indent="-347663">
              <a:spcAft>
                <a:spcPts val="1200"/>
              </a:spcAft>
            </a:pPr>
            <a:r>
              <a:rPr lang="en-US" sz="2200" dirty="0">
                <a:latin typeface="Courier"/>
                <a:cs typeface="Courier"/>
              </a:rPr>
              <a:t>			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command;command;command</a:t>
            </a: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207737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/>
                <a:cs typeface="Calibri"/>
              </a:rPr>
              <a:t>Doing multiple things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575" y="1360320"/>
            <a:ext cx="872387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 algn="ctr"/>
            <a:r>
              <a:rPr lang="en-US" sz="2600" dirty="0">
                <a:cs typeface="Calibri"/>
              </a:rPr>
              <a:t>There are lots of ways to run multiple commands in sequence</a:t>
            </a:r>
          </a:p>
          <a:p>
            <a:pPr marL="225425" lvl="1" algn="ctr"/>
            <a:endParaRPr lang="en-US" sz="2600" dirty="0">
              <a:cs typeface="Calibri"/>
            </a:endParaRPr>
          </a:p>
          <a:p>
            <a:pPr marL="1262063" lvl="1" indent="-347663"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cs typeface="Courier"/>
              </a:rPr>
              <a:t>Pipes</a:t>
            </a:r>
          </a:p>
          <a:p>
            <a:pPr marL="1262063" lvl="1" indent="-347663"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cs typeface="Courier"/>
              </a:rPr>
              <a:t>Semicolon-separated commands</a:t>
            </a:r>
          </a:p>
          <a:p>
            <a:pPr marL="1262063" lvl="1" indent="-347663">
              <a:spcAft>
                <a:spcPts val="1200"/>
              </a:spcAft>
            </a:pPr>
            <a:r>
              <a:rPr lang="en-US" sz="2200" dirty="0">
                <a:latin typeface="Courier"/>
                <a:cs typeface="Courier"/>
              </a:rPr>
              <a:t>			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command;command;command</a:t>
            </a:r>
          </a:p>
          <a:p>
            <a:pPr marL="1262063" lvl="1" indent="-347663">
              <a:spcAft>
                <a:spcPts val="1200"/>
              </a:spcAft>
              <a:buFont typeface="+mj-lt"/>
              <a:buAutoNum type="arabicPeriod" startAt="3"/>
            </a:pPr>
            <a:r>
              <a:rPr lang="en-US" sz="2200" dirty="0">
                <a:cs typeface="Courier"/>
              </a:rPr>
              <a:t>Bash scripts</a:t>
            </a:r>
          </a:p>
          <a:p>
            <a:pPr marL="2176463" lvl="3" indent="-347663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cs typeface="Courier"/>
              </a:rPr>
              <a:t>an executable text file with a set of commands</a:t>
            </a:r>
          </a:p>
          <a:p>
            <a:pPr marL="2176463" lvl="3" indent="-347663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cs typeface="Courier"/>
              </a:rPr>
              <a:t>i</a:t>
            </a:r>
            <a:r>
              <a:rPr lang="en-US" sz="2000" dirty="0"/>
              <a:t>n addition to automating your tasks, Bash scripts provide a permanent record of what you did*</a:t>
            </a:r>
          </a:p>
        </p:txBody>
      </p:sp>
    </p:spTree>
    <p:extLst>
      <p:ext uri="{BB962C8B-B14F-4D97-AF65-F5344CB8AC3E}">
        <p14:creationId xmlns:p14="http://schemas.microsoft.com/office/powerpoint/2010/main" val="2405516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/>
                <a:cs typeface="Calibri"/>
              </a:rPr>
              <a:t>Bash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7643" y="2223938"/>
            <a:ext cx="2955357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>
              <a:spcAft>
                <a:spcPts val="1200"/>
              </a:spcAft>
            </a:pPr>
            <a:r>
              <a:rPr lang="en-US" sz="2200" dirty="0">
                <a:latin typeface="Courier"/>
                <a:cs typeface="Courier"/>
              </a:rPr>
              <a:t>#! /bin/bash</a:t>
            </a:r>
          </a:p>
          <a:p>
            <a:pPr marL="0" lvl="1">
              <a:spcAft>
                <a:spcPts val="12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command</a:t>
            </a:r>
            <a:endParaRPr lang="en-US" sz="2200" dirty="0">
              <a:latin typeface="Courier"/>
              <a:cs typeface="Courier"/>
            </a:endParaRPr>
          </a:p>
          <a:p>
            <a:pPr marL="0" lvl="1">
              <a:spcAft>
                <a:spcPts val="12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command</a:t>
            </a:r>
          </a:p>
          <a:p>
            <a:pPr marL="0" lvl="1">
              <a:spcAft>
                <a:spcPts val="12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  .</a:t>
            </a:r>
          </a:p>
          <a:p>
            <a:pPr marL="0" lvl="1">
              <a:spcAft>
                <a:spcPts val="12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  .</a:t>
            </a:r>
          </a:p>
          <a:p>
            <a:pPr marL="0" lvl="1">
              <a:spcAft>
                <a:spcPts val="12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  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776165" y="2505962"/>
            <a:ext cx="1159934" cy="0"/>
          </a:xfrm>
          <a:prstGeom prst="straightConnector1">
            <a:avLst/>
          </a:prstGeom>
          <a:ln w="762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54578" y="1824181"/>
            <a:ext cx="38184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header line</a:t>
            </a:r>
            <a:r>
              <a:rPr lang="en-US" sz="2000" dirty="0"/>
              <a:t> – file header, the shell sees this and sends the rest of the commands to /bin/bash; can omit if executing generic system commands only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776165" y="4085621"/>
            <a:ext cx="1159934" cy="0"/>
          </a:xfrm>
          <a:prstGeom prst="straightConnector1">
            <a:avLst/>
          </a:prstGeom>
          <a:ln w="762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54578" y="3731678"/>
            <a:ext cx="3818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series of commands – Unix commands, scripts, programs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114779" y="4639743"/>
            <a:ext cx="3993401" cy="1398200"/>
            <a:chOff x="3962373" y="4309530"/>
            <a:chExt cx="3993401" cy="1398200"/>
          </a:xfrm>
        </p:grpSpPr>
        <p:sp>
          <p:nvSpPr>
            <p:cNvPr id="9" name="TextBox 8"/>
            <p:cNvSpPr txBox="1"/>
            <p:nvPr/>
          </p:nvSpPr>
          <p:spPr>
            <a:xfrm>
              <a:off x="3962373" y="4673601"/>
              <a:ext cx="3993401" cy="1034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/>
                <a:buChar char="•"/>
              </a:pPr>
              <a:r>
                <a:rPr lang="en-US" dirty="0"/>
                <a:t>The file must be executable</a:t>
              </a:r>
            </a:p>
            <a:p>
              <a:pPr marL="285750" indent="-285750">
                <a:lnSpc>
                  <a:spcPct val="120000"/>
                </a:lnSpc>
                <a:buFont typeface="Arial"/>
                <a:buChar char="•"/>
              </a:pPr>
              <a:r>
                <a:rPr lang="en-US" dirty="0"/>
                <a:t>Execute from the command line with:</a:t>
              </a:r>
            </a:p>
            <a:p>
              <a:pPr algn="ctr"/>
              <a:r>
                <a:rPr lang="en-US" dirty="0">
                  <a:latin typeface="Courier"/>
                  <a:cs typeface="Courier"/>
                </a:rPr>
                <a:t>	$ </a:t>
              </a:r>
              <a:r>
                <a:rPr lang="en-US" dirty="0">
                  <a:solidFill>
                    <a:srgbClr val="0000FF"/>
                  </a:solidFill>
                  <a:latin typeface="Courier"/>
                  <a:cs typeface="Courier"/>
                </a:rPr>
                <a:t>./bash_script1.sh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62373" y="4309530"/>
              <a:ext cx="9043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u="sng" dirty="0"/>
                <a:t>NOTE:</a:t>
              </a:r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>
            <a:off x="995985" y="1647187"/>
            <a:ext cx="1" cy="521034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874" y="1226635"/>
            <a:ext cx="1092222" cy="44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shebang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21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7422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185" y="1355844"/>
            <a:ext cx="8823220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change file permissions (</a:t>
            </a:r>
            <a:r>
              <a:rPr lang="en-US" sz="2400" u="sng" dirty="0">
                <a:cs typeface="Calibri"/>
              </a:rPr>
              <a:t>ch</a:t>
            </a:r>
            <a:r>
              <a:rPr lang="en-US" sz="2400" dirty="0">
                <a:cs typeface="Calibri"/>
              </a:rPr>
              <a:t>ange </a:t>
            </a:r>
            <a:r>
              <a:rPr lang="en-US" sz="2400" u="sng" dirty="0">
                <a:cs typeface="Calibri"/>
              </a:rPr>
              <a:t>mod</a:t>
            </a:r>
            <a:r>
              <a:rPr lang="en-US" sz="2400" dirty="0">
                <a:cs typeface="Calibri"/>
              </a:rPr>
              <a:t>e)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files have </a:t>
            </a:r>
            <a:r>
              <a:rPr lang="en-US" sz="2400" u="sng" dirty="0">
                <a:latin typeface="Calibri"/>
                <a:cs typeface="Calibri"/>
              </a:rPr>
              <a:t>r</a:t>
            </a:r>
            <a:r>
              <a:rPr lang="en-US" sz="2400" dirty="0">
                <a:latin typeface="Calibri"/>
                <a:cs typeface="Calibri"/>
              </a:rPr>
              <a:t>ead, </a:t>
            </a:r>
            <a:r>
              <a:rPr lang="en-US" sz="2400" u="sng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rite, and e</a:t>
            </a:r>
            <a:r>
              <a:rPr lang="en-US" sz="2400" u="sng" dirty="0">
                <a:latin typeface="Calibri"/>
                <a:cs typeface="Calibri"/>
              </a:rPr>
              <a:t>x</a:t>
            </a:r>
            <a:r>
              <a:rPr lang="en-US" sz="2400" dirty="0">
                <a:latin typeface="Calibri"/>
                <a:cs typeface="Calibri"/>
              </a:rPr>
              <a:t>ecute permissions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programs need to be executable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permissions are assigned to you (the </a:t>
            </a:r>
            <a:r>
              <a:rPr lang="en-US" sz="2400" u="sng" dirty="0">
                <a:latin typeface="Calibri"/>
                <a:cs typeface="Calibri"/>
              </a:rPr>
              <a:t>u</a:t>
            </a:r>
            <a:r>
              <a:rPr lang="en-US" sz="2400" dirty="0">
                <a:latin typeface="Calibri"/>
                <a:cs typeface="Calibri"/>
              </a:rPr>
              <a:t>ser), </a:t>
            </a:r>
            <a:r>
              <a:rPr lang="en-US" sz="2400" u="sng" dirty="0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roup, and </a:t>
            </a:r>
            <a:r>
              <a:rPr lang="en-US" sz="2400" u="sng" dirty="0">
                <a:latin typeface="Calibri"/>
                <a:cs typeface="Calibri"/>
              </a:rPr>
              <a:t>o</a:t>
            </a:r>
            <a:r>
              <a:rPr lang="en-US" sz="2400" dirty="0">
                <a:latin typeface="Calibri"/>
                <a:cs typeface="Calibri"/>
              </a:rPr>
              <a:t>ther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520695" y="3709733"/>
            <a:ext cx="2090201" cy="1324258"/>
            <a:chOff x="3478388" y="4837668"/>
            <a:chExt cx="2090201" cy="1324258"/>
          </a:xfrm>
        </p:grpSpPr>
        <p:sp>
          <p:nvSpPr>
            <p:cNvPr id="9" name="TextBox 8"/>
            <p:cNvSpPr txBox="1"/>
            <p:nvPr/>
          </p:nvSpPr>
          <p:spPr>
            <a:xfrm>
              <a:off x="3478388" y="4837668"/>
              <a:ext cx="20316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sz="2400" dirty="0" err="1">
                  <a:latin typeface="Courier"/>
                  <a:cs typeface="Courier"/>
                </a:rPr>
                <a:t>-</a:t>
              </a:r>
              <a:r>
                <a:rPr lang="fi-FI" sz="2400" dirty="0" err="1">
                  <a:solidFill>
                    <a:srgbClr val="FF0000"/>
                  </a:solidFill>
                  <a:latin typeface="Courier"/>
                  <a:cs typeface="Courier"/>
                </a:rPr>
                <a:t>rw-</a:t>
              </a:r>
              <a:r>
                <a:rPr lang="fi-FI" sz="2400" dirty="0" err="1">
                  <a:solidFill>
                    <a:schemeClr val="accent6">
                      <a:lumMod val="50000"/>
                    </a:schemeClr>
                  </a:solidFill>
                  <a:latin typeface="Courier"/>
                  <a:cs typeface="Courier"/>
                </a:rPr>
                <a:t>r--</a:t>
              </a:r>
              <a:r>
                <a:rPr lang="fi-FI" sz="2400" dirty="0" err="1">
                  <a:solidFill>
                    <a:srgbClr val="008000"/>
                  </a:solidFill>
                  <a:latin typeface="Courier"/>
                  <a:cs typeface="Courier"/>
                </a:rPr>
                <a:t>r--</a:t>
              </a:r>
              <a:endParaRPr lang="en-US" sz="2400" dirty="0">
                <a:solidFill>
                  <a:srgbClr val="008000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612444" y="5299333"/>
              <a:ext cx="591553" cy="862593"/>
              <a:chOff x="3626556" y="5299333"/>
              <a:chExt cx="591553" cy="862593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V="1">
                <a:off x="3922332" y="5299333"/>
                <a:ext cx="0" cy="5033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626556" y="5792594"/>
                <a:ext cx="591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user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167094" y="5303557"/>
              <a:ext cx="738078" cy="858369"/>
              <a:chOff x="4205087" y="5303557"/>
              <a:chExt cx="738078" cy="858369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V="1">
                <a:off x="4574126" y="5303557"/>
                <a:ext cx="0" cy="5033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4205087" y="5792594"/>
                <a:ext cx="7380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984807"/>
                    </a:solidFill>
                  </a:rPr>
                  <a:t>group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868270" y="5299333"/>
              <a:ext cx="700319" cy="862593"/>
              <a:chOff x="4755374" y="5299333"/>
              <a:chExt cx="700319" cy="862593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flipV="1">
                <a:off x="5106847" y="5299333"/>
                <a:ext cx="0" cy="5033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4755374" y="5792594"/>
                <a:ext cx="700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8000"/>
                    </a:solidFill>
                  </a:rPr>
                  <a:t>other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2506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7422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185" y="1355844"/>
            <a:ext cx="882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u="sng" dirty="0" err="1">
                <a:solidFill>
                  <a:srgbClr val="0000FF"/>
                </a:solidFill>
                <a:latin typeface="Courier"/>
                <a:cs typeface="Courier"/>
              </a:rPr>
              <a:t>ugo</a:t>
            </a:r>
            <a:r>
              <a:rPr lang="en-US" sz="2800" u="sng" dirty="0">
                <a:solidFill>
                  <a:srgbClr val="0000FF"/>
                </a:solidFill>
                <a:latin typeface="Courier"/>
                <a:cs typeface="Courier"/>
              </a:rPr>
              <a:t> +/- </a:t>
            </a:r>
            <a:r>
              <a:rPr lang="en-US" sz="2800" u="sng" dirty="0" err="1">
                <a:solidFill>
                  <a:srgbClr val="0000FF"/>
                </a:solidFill>
                <a:latin typeface="Courier"/>
                <a:cs typeface="Courier"/>
              </a:rPr>
              <a:t>rwx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endParaRPr lang="en-US" sz="2400" u="sng" dirty="0">
              <a:latin typeface="Calibri"/>
              <a:cs typeface="Calibri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474662" y="1905528"/>
            <a:ext cx="0" cy="5033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324779" y="1905528"/>
            <a:ext cx="0" cy="5033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188521" y="1905528"/>
            <a:ext cx="0" cy="5033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78322" y="2346051"/>
            <a:ext cx="592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3662" y="2346051"/>
            <a:ext cx="106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give/take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769" y="2346051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gets to do this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4185" y="3445109"/>
            <a:ext cx="8723875" cy="1786925"/>
            <a:chOff x="154185" y="3834591"/>
            <a:chExt cx="8723875" cy="1786925"/>
          </a:xfrm>
        </p:grpSpPr>
        <p:sp>
          <p:nvSpPr>
            <p:cNvPr id="32" name="TextBox 31"/>
            <p:cNvSpPr txBox="1"/>
            <p:nvPr/>
          </p:nvSpPr>
          <p:spPr>
            <a:xfrm>
              <a:off x="154185" y="3834591"/>
              <a:ext cx="8723875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1" indent="346075">
                <a:spcAft>
                  <a:spcPts val="400"/>
                </a:spcAft>
              </a:pPr>
              <a:r>
                <a:rPr lang="en-US" sz="2400" dirty="0">
                  <a:latin typeface="Courier"/>
                  <a:cs typeface="Courier"/>
                </a:rPr>
                <a:t>$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chmod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u+x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bash_script1.sh</a:t>
              </a:r>
              <a:endParaRPr lang="en-US" sz="2400" u="sng" dirty="0">
                <a:cs typeface="Courier"/>
              </a:endParaRPr>
            </a:p>
            <a:p>
              <a:pPr marL="225425" lvl="1" indent="346075">
                <a:spcAft>
                  <a:spcPts val="400"/>
                </a:spcAft>
              </a:pPr>
              <a:r>
                <a:rPr lang="en-US" sz="2400" dirty="0">
                  <a:latin typeface="Courier"/>
                  <a:cs typeface="Courier"/>
                </a:rPr>
                <a:t>$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chmod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u+x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*.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sh</a:t>
              </a:r>
              <a:endParaRPr lang="en-US" sz="2400" u="sng" dirty="0">
                <a:solidFill>
                  <a:srgbClr val="0000FF"/>
                </a:solidFill>
                <a:latin typeface="Courier"/>
                <a:cs typeface="Courier"/>
              </a:endParaRPr>
            </a:p>
            <a:p>
              <a:pPr marL="225425" lvl="1" indent="346075">
                <a:spcAft>
                  <a:spcPts val="400"/>
                </a:spcAft>
              </a:pPr>
              <a:r>
                <a:rPr lang="en-US" sz="2400" dirty="0">
                  <a:latin typeface="Courier"/>
                  <a:cs typeface="Courier"/>
                </a:rPr>
                <a:t>$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chmod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ugo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-x *.*</a:t>
              </a:r>
            </a:p>
            <a:p>
              <a:pPr marL="225425" lvl="1" indent="346075">
                <a:spcAft>
                  <a:spcPts val="400"/>
                </a:spcAft>
              </a:pPr>
              <a:r>
                <a:rPr lang="en-US" sz="2400" dirty="0">
                  <a:latin typeface="Courier"/>
                  <a:cs typeface="Courier"/>
                </a:rPr>
                <a:t>$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chmod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</a:t>
              </a:r>
              <a:r>
                <a:rPr lang="en-US" sz="2400" dirty="0" err="1">
                  <a:solidFill>
                    <a:srgbClr val="0000FF"/>
                  </a:solidFill>
                  <a:latin typeface="Courier"/>
                  <a:cs typeface="Courier"/>
                </a:rPr>
                <a:t>ugo+rwx</a:t>
              </a:r>
              <a:r>
                <a:rPr lang="en-US" sz="2400" dirty="0">
                  <a:solidFill>
                    <a:srgbClr val="0000FF"/>
                  </a:solidFill>
                  <a:latin typeface="Courier"/>
                  <a:cs typeface="Courier"/>
                </a:rPr>
                <a:t> *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H="1">
              <a:off x="4062791" y="5298176"/>
              <a:ext cx="6553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773601" y="4975185"/>
              <a:ext cx="31810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be careful – don't assign execute permissions willy </a:t>
              </a:r>
              <a:r>
                <a:rPr lang="en-US" dirty="0" err="1"/>
                <a:t>nilly</a:t>
              </a:r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384143" y="2268232"/>
            <a:ext cx="1600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[no spaces]</a:t>
            </a:r>
          </a:p>
        </p:txBody>
      </p:sp>
    </p:spTree>
    <p:extLst>
      <p:ext uri="{BB962C8B-B14F-4D97-AF65-F5344CB8AC3E}">
        <p14:creationId xmlns:p14="http://schemas.microsoft.com/office/powerpoint/2010/main" val="3247341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cs typeface="Calibri"/>
              </a:rPr>
              <a:t>Creating workflows and pipelines: </a:t>
            </a:r>
            <a:r>
              <a:rPr lang="en-US" sz="3600" i="1" dirty="0">
                <a:cs typeface="Calibri"/>
              </a:rPr>
              <a:t>Loops</a:t>
            </a:r>
            <a:endParaRPr lang="en-US" sz="3600" i="1" dirty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575" y="1738425"/>
            <a:ext cx="872387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7525" lvl="1">
              <a:spcAft>
                <a:spcPts val="1200"/>
              </a:spcAft>
            </a:pPr>
            <a:r>
              <a:rPr lang="en-US" sz="2200" b="1" dirty="0">
                <a:cs typeface="Courier"/>
              </a:rPr>
              <a:t>Loops</a:t>
            </a:r>
            <a:r>
              <a:rPr lang="en-US" sz="2200" dirty="0">
                <a:cs typeface="Courier"/>
              </a:rPr>
              <a:t> – a control structure that allows you to repeat the same command(s), e.g., on multiple files</a:t>
            </a:r>
          </a:p>
          <a:p>
            <a:pPr marL="1314450" lvl="3" indent="-347663">
              <a:spcAft>
                <a:spcPts val="600"/>
              </a:spcAft>
              <a:buFont typeface="Arial"/>
              <a:buChar char="•"/>
            </a:pPr>
            <a:r>
              <a:rPr lang="en-US" sz="2200" dirty="0">
                <a:cs typeface="Courier"/>
              </a:rPr>
              <a:t>change the file suffix for every file in a directory</a:t>
            </a:r>
          </a:p>
          <a:p>
            <a:pPr marL="1314450" lvl="3" indent="-347663">
              <a:spcAft>
                <a:spcPts val="600"/>
              </a:spcAft>
              <a:buFont typeface="Arial"/>
              <a:buChar char="•"/>
            </a:pPr>
            <a:r>
              <a:rPr lang="en-US" sz="2200" dirty="0">
                <a:cs typeface="Courier"/>
              </a:rPr>
              <a:t>run some program or analysis on lots of files</a:t>
            </a:r>
          </a:p>
          <a:p>
            <a:pPr marL="1314450" lvl="3" indent="-347663">
              <a:spcAft>
                <a:spcPts val="600"/>
              </a:spcAft>
              <a:buFont typeface="Arial"/>
              <a:buChar char="•"/>
            </a:pPr>
            <a:r>
              <a:rPr lang="en-US" sz="2200" dirty="0">
                <a:cs typeface="Courier"/>
              </a:rPr>
              <a:t>generate a list of commands for a Bash script</a:t>
            </a:r>
          </a:p>
        </p:txBody>
      </p:sp>
    </p:spTree>
    <p:extLst>
      <p:ext uri="{BB962C8B-B14F-4D97-AF65-F5344CB8AC3E}">
        <p14:creationId xmlns:p14="http://schemas.microsoft.com/office/powerpoint/2010/main" val="1158666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/>
                <a:cs typeface="Calibri"/>
              </a:rPr>
              <a:t>Bash </a:t>
            </a:r>
            <a:r>
              <a:rPr lang="en-US" sz="3600" i="1" dirty="0">
                <a:latin typeface="Calibri"/>
                <a:cs typeface="Calibri"/>
              </a:rPr>
              <a:t>For-Loops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067" y="1936060"/>
            <a:ext cx="5291666" cy="3272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#! /bin/bash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for VARIABLE in &lt;LIST&gt;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do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	command1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	command2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urier"/>
                <a:cs typeface="Courier"/>
              </a:rPr>
              <a:t>command</a:t>
            </a:r>
            <a:r>
              <a:rPr lang="en-US" sz="2000" i="1" dirty="0" err="1">
                <a:solidFill>
                  <a:srgbClr val="000000"/>
                </a:solidFill>
                <a:latin typeface="Courier"/>
                <a:cs typeface="Courier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000000"/>
                </a:solidFill>
                <a:latin typeface="Courier"/>
                <a:cs typeface="Courier"/>
              </a:rPr>
              <a:t>done</a:t>
            </a:r>
          </a:p>
          <a:p>
            <a:pPr marL="0" lvl="1">
              <a:spcAft>
                <a:spcPts val="400"/>
              </a:spcAft>
            </a:pPr>
            <a:endParaRPr lang="en-US" sz="20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lvl="1">
              <a:spcAft>
                <a:spcPts val="400"/>
              </a:spcAft>
            </a:pPr>
            <a:endParaRPr lang="en-US" sz="20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63088" y="1476990"/>
            <a:ext cx="1" cy="521034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911" y="1056438"/>
            <a:ext cx="1092222" cy="44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shebang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294115" y="1990489"/>
            <a:ext cx="2623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header line</a:t>
            </a:r>
            <a:endParaRPr lang="en-US" sz="20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651389" y="2220402"/>
            <a:ext cx="541835" cy="0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6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/>
                <a:cs typeface="Calibri"/>
              </a:rPr>
              <a:t>Bash </a:t>
            </a:r>
            <a:r>
              <a:rPr lang="en-US" sz="3600" i="1" dirty="0">
                <a:latin typeface="Calibri"/>
                <a:cs typeface="Calibri"/>
              </a:rPr>
              <a:t>For-Loops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067" y="1936060"/>
            <a:ext cx="5291666" cy="3272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#! /bin/bash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for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VARIABLE </a:t>
            </a:r>
            <a:r>
              <a:rPr lang="en-US" sz="2000" dirty="0">
                <a:solidFill>
                  <a:srgbClr val="FF0000"/>
                </a:solidFill>
                <a:latin typeface="Courier"/>
                <a:cs typeface="Courier"/>
              </a:rPr>
              <a:t>in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1 2 3 4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do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	command1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	command2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	</a:t>
            </a:r>
            <a:r>
              <a:rPr lang="en-US" sz="2000" dirty="0" err="1">
                <a:latin typeface="Courier"/>
                <a:cs typeface="Courier"/>
              </a:rPr>
              <a:t>command</a:t>
            </a:r>
            <a:r>
              <a:rPr lang="en-US" sz="2000" i="1" dirty="0" err="1">
                <a:latin typeface="Courier"/>
                <a:cs typeface="Courier"/>
              </a:rPr>
              <a:t>N</a:t>
            </a:r>
            <a:r>
              <a:rPr lang="en-US" sz="2000" dirty="0">
                <a:latin typeface="Courier"/>
                <a:cs typeface="Courier"/>
              </a:rPr>
              <a:t> on $VARIABLE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latin typeface="Courier"/>
                <a:cs typeface="Courier"/>
              </a:rPr>
              <a:t>done</a:t>
            </a:r>
          </a:p>
          <a:p>
            <a:pPr marL="0" lvl="1">
              <a:spcAft>
                <a:spcPts val="400"/>
              </a:spcAft>
            </a:pPr>
            <a:endParaRPr lang="en-US" sz="2000" dirty="0">
              <a:latin typeface="Courier"/>
              <a:cs typeface="Courier"/>
            </a:endParaRPr>
          </a:p>
          <a:p>
            <a:pPr marL="0" lvl="1">
              <a:spcAft>
                <a:spcPts val="400"/>
              </a:spcAft>
            </a:pPr>
            <a:endParaRPr lang="en-US" sz="2000" dirty="0">
              <a:latin typeface="Courier"/>
              <a:cs typeface="Courier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630365" y="2505962"/>
            <a:ext cx="541835" cy="0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31442" y="2285902"/>
            <a:ext cx="2734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indent="-287338"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this is a "for" loop</a:t>
            </a:r>
          </a:p>
          <a:p>
            <a:pPr marL="287338" indent="-287338">
              <a:buAutoNum type="arabicPeriod"/>
            </a:pPr>
            <a:r>
              <a:rPr lang="en-US" sz="2000" dirty="0">
                <a:solidFill>
                  <a:srgbClr val="0000FF"/>
                </a:solidFill>
              </a:rPr>
              <a:t>assign the name of your variable; the value of this variable will change with each iteration of the loop</a:t>
            </a:r>
          </a:p>
        </p:txBody>
      </p:sp>
    </p:spTree>
    <p:extLst>
      <p:ext uri="{BB962C8B-B14F-4D97-AF65-F5344CB8AC3E}">
        <p14:creationId xmlns:p14="http://schemas.microsoft.com/office/powerpoint/2010/main" val="32930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5" y="443559"/>
            <a:ext cx="9054872" cy="625867"/>
          </a:xfrm>
        </p:spPr>
        <p:txBody>
          <a:bodyPr>
            <a:noAutofit/>
          </a:bodyPr>
          <a:lstStyle/>
          <a:p>
            <a:r>
              <a:rPr lang="en-US" sz="4200" dirty="0">
                <a:latin typeface="Calibri Light" panose="020F0302020204030204" pitchFamily="34" charset="0"/>
                <a:cs typeface="Calibri Light" panose="020F0302020204030204" pitchFamily="34" charset="0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575" y="1513606"/>
            <a:ext cx="872387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lvl="1" indent="-457200">
              <a:spcAft>
                <a:spcPts val="1200"/>
              </a:spcAft>
              <a:buFont typeface="Arial"/>
              <a:buChar char="•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In essence, a variable is a name that holds a value</a:t>
            </a:r>
          </a:p>
          <a:p>
            <a:pPr marL="682625" lvl="1" indent="-457200">
              <a:spcAft>
                <a:spcPts val="1200"/>
              </a:spcAft>
              <a:buFont typeface="Arial"/>
              <a:buChar char="•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value can be virtually anything (e.g., numbers, file names, etc.)</a:t>
            </a:r>
          </a:p>
          <a:p>
            <a:pPr marL="682625" lvl="1" indent="-457200">
              <a:spcAft>
                <a:spcPts val="1200"/>
              </a:spcAft>
              <a:buFont typeface="Arial"/>
              <a:buChar char="•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As the name suggests, the value of a variable can vary, by changing what piece of information it holds or points to – this is what makes variables so flexible and useful.</a:t>
            </a:r>
          </a:p>
          <a:p>
            <a:pPr marL="682625" lvl="1" indent="-457200">
              <a:spcAft>
                <a:spcPts val="1200"/>
              </a:spcAft>
              <a:buFont typeface="Arial"/>
              <a:buChar char="•"/>
            </a:pPr>
            <a:r>
              <a:rPr lang="en-US" sz="2600" dirty="0">
                <a:latin typeface="Calibri Light" panose="020F0302020204030204" pitchFamily="34" charset="0"/>
                <a:cs typeface="Calibri Light" panose="020F0302020204030204" pitchFamily="34" charset="0"/>
              </a:rPr>
              <a:t>In Bash, no '$' when you declare the variable, but you need a '$' when you call the variable</a:t>
            </a:r>
          </a:p>
        </p:txBody>
      </p:sp>
    </p:spTree>
    <p:extLst>
      <p:ext uri="{BB962C8B-B14F-4D97-AF65-F5344CB8AC3E}">
        <p14:creationId xmlns:p14="http://schemas.microsoft.com/office/powerpoint/2010/main" val="2738217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A4F7-2C3D-41B3-67EE-2E4E897E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FYI</a:t>
            </a:r>
          </a:p>
        </p:txBody>
      </p:sp>
    </p:spTree>
    <p:extLst>
      <p:ext uri="{BB962C8B-B14F-4D97-AF65-F5344CB8AC3E}">
        <p14:creationId xmlns:p14="http://schemas.microsoft.com/office/powerpoint/2010/main" val="625312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348" y="1612895"/>
            <a:ext cx="820317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column [options] filename</a:t>
            </a:r>
            <a:endParaRPr lang="en-US" sz="2400" dirty="0">
              <a:cs typeface="Courier"/>
            </a:endParaRPr>
          </a:p>
          <a:p>
            <a:pPr marL="1092200" lvl="1">
              <a:spcAft>
                <a:spcPts val="1200"/>
              </a:spcAft>
            </a:pPr>
            <a:r>
              <a:rPr lang="en-US" sz="2400" dirty="0">
                <a:latin typeface="Courier"/>
                <a:cs typeface="Courier"/>
              </a:rPr>
              <a:t>-t </a:t>
            </a:r>
            <a:r>
              <a:rPr lang="en-US" sz="2400" dirty="0">
                <a:cs typeface="Courier"/>
              </a:rPr>
              <a:t>turn this file into a clean, viewable table</a:t>
            </a:r>
          </a:p>
          <a:p>
            <a:pPr marL="565150" lvl="1" indent="6350">
              <a:spcAft>
                <a:spcPts val="400"/>
              </a:spcAft>
            </a:pPr>
            <a:endParaRPr lang="en-US" sz="2400" dirty="0">
              <a:latin typeface="Courier"/>
              <a:cs typeface="Courier"/>
            </a:endParaRPr>
          </a:p>
          <a:p>
            <a:pPr marL="565150" lvl="1" indent="6350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column –t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endParaRPr lang="en-US" sz="2400" dirty="0"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column –t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watermelon.gff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092200" lvl="1">
              <a:spcAft>
                <a:spcPts val="1200"/>
              </a:spcAft>
            </a:pPr>
            <a:endParaRPr lang="en-US" sz="2400" dirty="0"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167411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File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623" y="1506744"/>
            <a:ext cx="87238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4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ln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make a link to a file (similar to an alias)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ln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-s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[link has same name as file]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ln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-s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filename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link-name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[link has new name]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ln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-s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directory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link-name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cs typeface="Calibri"/>
              </a:rPr>
              <a:t>[link has new name] </a:t>
            </a:r>
            <a:endParaRPr lang="en-US" sz="2400" u="sng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926" y="3603836"/>
            <a:ext cx="845859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Opening the "link" opens the actual file being linked to, likewise for editing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Can link to links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Helps you having lots of the same file sitting around, which becomes a problem when you start editing them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'FINAL_ANALYSES' example</a:t>
            </a:r>
          </a:p>
          <a:p>
            <a:pPr marL="568325" lvl="1" indent="-342900">
              <a:spcAft>
                <a:spcPts val="600"/>
              </a:spcAft>
              <a:buFont typeface="Arial"/>
              <a:buChar char="•"/>
            </a:pPr>
            <a:r>
              <a:rPr lang="en-US" sz="2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unlink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alibri"/>
                <a:cs typeface="Calibri"/>
              </a:rPr>
              <a:t>or </a:t>
            </a:r>
            <a:r>
              <a:rPr lang="en-US" sz="24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2400" b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 remove a link</a:t>
            </a:r>
          </a:p>
        </p:txBody>
      </p:sp>
    </p:spTree>
    <p:extLst>
      <p:ext uri="{BB962C8B-B14F-4D97-AF65-F5344CB8AC3E}">
        <p14:creationId xmlns:p14="http://schemas.microsoft.com/office/powerpoint/2010/main" val="319711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11533</TotalTime>
  <Words>2025</Words>
  <Application>Microsoft Macintosh PowerPoint</Application>
  <PresentationFormat>On-screen Show (4:3)</PresentationFormat>
  <Paragraphs>305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Courier</vt:lpstr>
      <vt:lpstr>Courier New</vt:lpstr>
      <vt:lpstr>Liberation Mono</vt:lpstr>
      <vt:lpstr>Lucida Grande</vt:lpstr>
      <vt:lpstr>Monaco</vt:lpstr>
      <vt:lpstr>Piperalpha</vt:lpstr>
      <vt:lpstr>Office Theme</vt:lpstr>
      <vt:lpstr>Text editors</vt:lpstr>
      <vt:lpstr>Quick aside about fonts</vt:lpstr>
      <vt:lpstr>Text files and line breaks</vt:lpstr>
      <vt:lpstr>Text files and line breaks</vt:lpstr>
      <vt:lpstr>Common Unix commands: Copying and moving files</vt:lpstr>
      <vt:lpstr>Really important warnings</vt:lpstr>
      <vt:lpstr>Really important warnings</vt:lpstr>
      <vt:lpstr>Common Unix commands: Directories</vt:lpstr>
      <vt:lpstr>Common Unix commands: Deleting stuff</vt:lpstr>
      <vt:lpstr>wc</vt:lpstr>
      <vt:lpstr>sort</vt:lpstr>
      <vt:lpstr>grep</vt:lpstr>
      <vt:lpstr>grep [options]</vt:lpstr>
      <vt:lpstr>PowerPoint Presentation</vt:lpstr>
      <vt:lpstr>PowerPoint Presentation</vt:lpstr>
      <vt:lpstr>PowerPoint Presentation</vt:lpstr>
      <vt:lpstr>PIPES</vt:lpstr>
      <vt:lpstr>PIPES</vt:lpstr>
      <vt:lpstr>cut</vt:lpstr>
      <vt:lpstr>uniq</vt:lpstr>
      <vt:lpstr>PowerPoint Presentation</vt:lpstr>
      <vt:lpstr>Doing multiple things at once</vt:lpstr>
      <vt:lpstr>Doing multiple things at once</vt:lpstr>
      <vt:lpstr>Bash scripts</vt:lpstr>
      <vt:lpstr>chmod</vt:lpstr>
      <vt:lpstr>chmod</vt:lpstr>
      <vt:lpstr>Creating workflows and pipelines: Loops</vt:lpstr>
      <vt:lpstr>Bash For-Loops</vt:lpstr>
      <vt:lpstr>Bash For-Loops</vt:lpstr>
      <vt:lpstr>Variables</vt:lpstr>
      <vt:lpstr>FYI</vt:lpstr>
      <vt:lpstr>column</vt:lpstr>
      <vt:lpstr>File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Alverson</dc:creator>
  <cp:lastModifiedBy>Andrew Alverson</cp:lastModifiedBy>
  <cp:revision>469</cp:revision>
  <cp:lastPrinted>2016-01-27T20:28:28Z</cp:lastPrinted>
  <dcterms:created xsi:type="dcterms:W3CDTF">2013-01-08T16:50:50Z</dcterms:created>
  <dcterms:modified xsi:type="dcterms:W3CDTF">2026-02-02T17:17:39Z</dcterms:modified>
</cp:coreProperties>
</file>