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7" r:id="rId2"/>
    <p:sldId id="265" r:id="rId3"/>
    <p:sldId id="317" r:id="rId4"/>
    <p:sldId id="320" r:id="rId5"/>
    <p:sldId id="318" r:id="rId6"/>
    <p:sldId id="272" r:id="rId7"/>
    <p:sldId id="314" r:id="rId8"/>
    <p:sldId id="260" r:id="rId9"/>
    <p:sldId id="262" r:id="rId10"/>
    <p:sldId id="263" r:id="rId11"/>
    <p:sldId id="271" r:id="rId12"/>
    <p:sldId id="273" r:id="rId13"/>
    <p:sldId id="274" r:id="rId14"/>
    <p:sldId id="319" r:id="rId15"/>
    <p:sldId id="309" r:id="rId16"/>
    <p:sldId id="275" r:id="rId17"/>
    <p:sldId id="352" r:id="rId18"/>
    <p:sldId id="267" r:id="rId19"/>
    <p:sldId id="285" r:id="rId20"/>
    <p:sldId id="292" r:id="rId21"/>
    <p:sldId id="278" r:id="rId22"/>
    <p:sldId id="295" r:id="rId23"/>
    <p:sldId id="290" r:id="rId24"/>
    <p:sldId id="300" r:id="rId25"/>
    <p:sldId id="279" r:id="rId26"/>
    <p:sldId id="280" r:id="rId27"/>
    <p:sldId id="281" r:id="rId28"/>
    <p:sldId id="294" r:id="rId29"/>
    <p:sldId id="313" r:id="rId30"/>
    <p:sldId id="335" r:id="rId31"/>
    <p:sldId id="336" r:id="rId32"/>
    <p:sldId id="337" r:id="rId33"/>
    <p:sldId id="350" r:id="rId34"/>
    <p:sldId id="338" r:id="rId35"/>
    <p:sldId id="339" r:id="rId36"/>
    <p:sldId id="351" r:id="rId37"/>
    <p:sldId id="283" r:id="rId38"/>
    <p:sldId id="284" r:id="rId39"/>
    <p:sldId id="308" r:id="rId40"/>
    <p:sldId id="282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48"/>
    <p:restoredTop sz="95588" autoAdjust="0"/>
  </p:normalViewPr>
  <p:slideViewPr>
    <p:cSldViewPr snapToGrid="0" snapToObjects="1">
      <p:cViewPr varScale="1">
        <p:scale>
          <a:sx n="218" d="100"/>
          <a:sy n="218" d="100"/>
        </p:scale>
        <p:origin x="6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8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3B117-C548-C24D-B5EC-9EEE3D79DFC1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CD0FA-6A7B-8444-A447-3B5AA0B24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7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8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8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7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88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5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2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2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7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1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0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3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9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7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39F5D-AA60-3342-98DF-B6AF9FAAD332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3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pc.uark.edu/hpc-support/user-account-requests/internal.php" TargetMode="External"/><Relationship Id="rId2" Type="http://schemas.openxmlformats.org/officeDocument/2006/relationships/hyperlink" Target="https://www.datacamp.com/groups/shared_links/a84f73bdb85e70197f83520ee390e538c16815a1c5b5453db88a14225cfd1ca2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drewalverson/BIOL51573-2026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ndowscentral.com/how-install-wsl2-windows-10" TargetMode="External"/><Relationship Id="rId2" Type="http://schemas.openxmlformats.org/officeDocument/2006/relationships/hyperlink" Target="https://uark-my.sharepoint.com/:f:/g/personal/datasci_uark_edu/EjgLZ3UcpBtPlcSOrL9TP8IBIFjWxif-0w7uTY900w8RjQ?e=A4VctH&amp;xsdata=MDV8MDJ8YWphQHVhcmsuZWR1fDU1NTU4Yzk5OGMwOTQ2OTJhOTY4MDhkZGRiNTZiYzhmfDc5Yzc0MmM0ZTYxYzRmYTViZTg5YTNjYjU2NmE4MGQxfDB8MHw2Mzg5MDc4ODc4MzUwNzI1MjF8VW5rbm93bnxUV0ZwYkdac2IzZDhleUpGYlhCMGVVMWhjR2tpT25SeWRXVXNJbFlpT2lJd0xqQXVNREF3TUNJc0lsQWlPaUpYYVc0ek1pSXNJa0ZPSWpvaVRXRnBiQ0lzSWxkVUlqb3lmUT09fDB8fHw%3d&amp;sdata=TncvekR2Yy9HZFNaOWY5TXdzV1ZQWVl2YTd0NStaVlgrR1Z1Y3Fva0RDYz0%3d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unetbootin.sourceforge.net/" TargetMode="External"/><Relationship Id="rId4" Type="http://schemas.openxmlformats.org/officeDocument/2006/relationships/hyperlink" Target="https://www.putty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drewalverson/BIOL51573-2026S/blob/main/readings/file-not-found-quiz-01-reading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614315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Practical Programming for Biologists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2FBA8C-9061-764A-9B23-643C2CA8F50F}"/>
              </a:ext>
            </a:extLst>
          </p:cNvPr>
          <p:cNvGrpSpPr/>
          <p:nvPr/>
        </p:nvGrpSpPr>
        <p:grpSpPr>
          <a:xfrm>
            <a:off x="1799676" y="2071577"/>
            <a:ext cx="5544648" cy="3309723"/>
            <a:chOff x="1933935" y="2790916"/>
            <a:chExt cx="5544648" cy="33097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A2B13E-EE3B-4741-8ED2-6FA8943C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3783" y="2790916"/>
              <a:ext cx="2844800" cy="1600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AA15FE-774D-084D-B71F-99BD7A905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3935" y="2790917"/>
              <a:ext cx="2588767" cy="1600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C03E764-396D-6143-989E-7729F00DE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3796" y="4466712"/>
              <a:ext cx="2064774" cy="16002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2DA60E-A9D7-1846-AB7A-9AD7B65FC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4492" y="4432986"/>
              <a:ext cx="1667653" cy="16676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273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470525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Course structure and grading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628" y="1707299"/>
            <a:ext cx="843674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0375" indent="-460375">
              <a:lnSpc>
                <a:spcPct val="130000"/>
              </a:lnSpc>
              <a:buFont typeface="Arial"/>
              <a:buAutoNum type="arabicPeriod"/>
            </a:pP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Structure</a:t>
            </a:r>
          </a:p>
          <a:p>
            <a:pPr algn="ctr">
              <a:lnSpc>
                <a:spcPct val="130000"/>
              </a:lnSpc>
            </a:pPr>
            <a:r>
              <a:rPr 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Lecture.</a:t>
            </a: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  Demonstrate.  </a:t>
            </a:r>
            <a:r>
              <a:rPr lang="en-US" sz="4200" dirty="0">
                <a:latin typeface="Calibri Light" panose="020F0302020204030204" pitchFamily="34" charset="0"/>
                <a:cs typeface="Calibri Light" panose="020F0302020204030204" pitchFamily="34" charset="0"/>
              </a:rPr>
              <a:t>Practice.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 startAt="2"/>
            </a:pP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Grading</a:t>
            </a:r>
          </a:p>
          <a:p>
            <a:pPr>
              <a:lnSpc>
                <a:spcPct val="130000"/>
              </a:lnSpc>
            </a:pPr>
            <a:endParaRPr lang="en-US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173152"/>
              </p:ext>
            </p:extLst>
          </p:nvPr>
        </p:nvGraphicFramePr>
        <p:xfrm>
          <a:off x="2694869" y="4488323"/>
          <a:ext cx="3754263" cy="120599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514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995">
                <a:tc>
                  <a:txBody>
                    <a:bodyPr/>
                    <a:lstStyle/>
                    <a:p>
                      <a:r>
                        <a:rPr lang="en-US" sz="2200" dirty="0"/>
                        <a:t>Exercises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60%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995">
                <a:tc>
                  <a:txBody>
                    <a:bodyPr/>
                    <a:lstStyle/>
                    <a:p>
                      <a:r>
                        <a:rPr lang="en-US" sz="2200" dirty="0" err="1"/>
                        <a:t>DataCamp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50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054" y="229386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Calibri Light" panose="020F0302020204030204" pitchFamily="34" charset="0"/>
                <a:cs typeface="Calibri Light" panose="020F0302020204030204" pitchFamily="34" charset="0"/>
              </a:rPr>
              <a:t>To-do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054" y="1373402"/>
            <a:ext cx="8312963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indent="-346075">
              <a:spcAft>
                <a:spcPts val="1200"/>
              </a:spcAft>
              <a:buFont typeface="Arial"/>
              <a:buAutoNum type="arabicPeriod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Enroll in the </a:t>
            </a: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DataCamp class</a:t>
            </a:r>
            <a:endParaRPr lang="en-US" sz="2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6075" indent="-346075">
              <a:spcAft>
                <a:spcPts val="1200"/>
              </a:spcAft>
              <a:buFont typeface="Arial"/>
              <a:buAutoNum type="arabicPeriod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Register for an AHPCC user account (</a:t>
            </a: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link</a:t>
            </a: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1322388" lvl="2" indent="-407988"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your advisor is your sponsor, not me</a:t>
            </a:r>
          </a:p>
          <a:p>
            <a:pPr marL="349250" indent="-3492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Find and bookmark the class </a:t>
            </a: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GitHub page</a:t>
            </a:r>
            <a:endParaRPr lang="en-US" sz="2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Download </a:t>
            </a:r>
            <a:r>
              <a:rPr lang="en-US" sz="2600" dirty="0">
                <a:solidFill>
                  <a:srgbClr val="0432FF"/>
                </a:solidFill>
                <a:latin typeface="Courier" charset="0"/>
                <a:ea typeface="Courier" charset="0"/>
                <a:cs typeface="Courier" charset="0"/>
              </a:rPr>
              <a:t>biol51573.tgz</a:t>
            </a:r>
          </a:p>
          <a:p>
            <a:pPr>
              <a:spcAft>
                <a:spcPts val="1200"/>
              </a:spcAft>
            </a:pPr>
            <a:endParaRPr lang="en-US" sz="2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69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627" y="849872"/>
            <a:ext cx="8436747" cy="86238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libri Light" panose="020F0302020204030204" pitchFamily="34" charset="0"/>
                <a:cs typeface="Calibri Light" panose="020F0302020204030204" pitchFamily="34" charset="0"/>
              </a:rPr>
              <a:t>Good books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E55646-0404-29C4-79E1-905EC402E225}"/>
              </a:ext>
            </a:extLst>
          </p:cNvPr>
          <p:cNvGrpSpPr/>
          <p:nvPr/>
        </p:nvGrpSpPr>
        <p:grpSpPr>
          <a:xfrm>
            <a:off x="142444" y="2290981"/>
            <a:ext cx="8859113" cy="1835166"/>
            <a:chOff x="178751" y="2290981"/>
            <a:chExt cx="8859113" cy="183516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751" y="2294164"/>
              <a:ext cx="1525219" cy="18288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5931" y="2294164"/>
              <a:ext cx="1396338" cy="182880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4230" y="2294164"/>
              <a:ext cx="1393902" cy="18288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0093" y="2294164"/>
              <a:ext cx="1396338" cy="18288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8392" y="2294164"/>
              <a:ext cx="1406769" cy="1828800"/>
            </a:xfrm>
            <a:prstGeom prst="rect">
              <a:avLst/>
            </a:prstGeom>
          </p:spPr>
        </p:pic>
        <p:pic>
          <p:nvPicPr>
            <p:cNvPr id="8" name="Picture 7" descr="A book cover of a robot using a lawnmower&#10;&#10;AI-generated content may be incorrect.">
              <a:extLst>
                <a:ext uri="{FF2B5EF4-FFF2-40B4-BE49-F238E27FC236}">
                  <a16:creationId xmlns:a16="http://schemas.microsoft.com/office/drawing/2014/main" id="{64630023-E306-9314-2689-D40FDC478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57120" y="2290981"/>
              <a:ext cx="1380744" cy="18351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947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51094"/>
            <a:ext cx="8436747" cy="86238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Choosing an Operating System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903" y="1230972"/>
            <a:ext cx="8663865" cy="4322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0375" indent="-460375">
              <a:lnSpc>
                <a:spcPct val="130000"/>
              </a:lnSpc>
              <a:buFont typeface="Arial"/>
              <a:buAutoNum type="arabicPeriod"/>
            </a:pPr>
            <a:r>
              <a:rPr lang="en-US" sz="2600" b="1" dirty="0"/>
              <a:t>Mac OS X</a:t>
            </a:r>
          </a:p>
          <a:p>
            <a:pPr marL="687388" indent="-333375">
              <a:lnSpc>
                <a:spcPct val="130000"/>
              </a:lnSpc>
            </a:pPr>
            <a:r>
              <a:rPr lang="en-US" sz="2400" u="sng" dirty="0"/>
              <a:t>Pros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Unix is fully and naturally integrated into the OS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Python pre-installed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Can still use Microsoft Office, Adobe, etc.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Easiest transition to make – the choice of many data scientists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Can run almost all Linux-based software</a:t>
            </a:r>
          </a:p>
          <a:p>
            <a:pPr marL="687388" lvl="1" indent="-333375">
              <a:lnSpc>
                <a:spcPct val="110000"/>
              </a:lnSpc>
            </a:pPr>
            <a:r>
              <a:rPr lang="en-US" sz="2400" u="sng" dirty="0"/>
              <a:t>Cons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The hardware is expensive, and the OS is proprietary</a:t>
            </a:r>
          </a:p>
          <a:p>
            <a:pPr marL="806450" lvl="1" indent="-333375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Does not have the full set of U/Li-</a:t>
            </a:r>
            <a:r>
              <a:rPr lang="en-US" sz="2400" dirty="0" err="1"/>
              <a:t>nux</a:t>
            </a:r>
            <a:r>
              <a:rPr lang="en-US" sz="2400" dirty="0"/>
              <a:t> commands</a:t>
            </a:r>
          </a:p>
        </p:txBody>
      </p:sp>
    </p:spTree>
    <p:extLst>
      <p:ext uri="{BB962C8B-B14F-4D97-AF65-F5344CB8AC3E}">
        <p14:creationId xmlns:p14="http://schemas.microsoft.com/office/powerpoint/2010/main" val="220210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248789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An aside: Unix vs. Linux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95188"/>
              </p:ext>
            </p:extLst>
          </p:nvPr>
        </p:nvGraphicFramePr>
        <p:xfrm>
          <a:off x="631739" y="1480969"/>
          <a:ext cx="7821898" cy="29514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910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0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Linux (</a:t>
                      </a:r>
                      <a:r>
                        <a:rPr lang="en-US" sz="2400" u="sng" dirty="0"/>
                        <a:t>Linu</a:t>
                      </a:r>
                      <a:r>
                        <a:rPr lang="en-US" sz="2400" dirty="0"/>
                        <a:t>s' Uni</a:t>
                      </a:r>
                      <a:r>
                        <a:rPr lang="en-US" sz="2400" u="sng" dirty="0"/>
                        <a:t>x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proprietary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open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targeted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diverse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more consistency b/n versions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less</a:t>
                      </a:r>
                      <a:r>
                        <a:rPr lang="en-US" baseline="0" dirty="0"/>
                        <a:t> consistency b/n versions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development restrictions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restrictions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patches are highly tested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as much beta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more slowly evolving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huge open-source community</a:t>
                      </a:r>
                      <a:r>
                        <a:rPr lang="en-US" baseline="0" dirty="0"/>
                        <a:t> identifies and fixes problems quickly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669" y="4650205"/>
            <a:ext cx="3264408" cy="18311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40" y="4650205"/>
            <a:ext cx="36576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55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23DC9A-F709-6944-B210-B6C907FF2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0"/>
            <a:ext cx="5303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6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51094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Choosing an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903" y="1230972"/>
            <a:ext cx="8663865" cy="474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lt"/>
              <a:buAutoNum type="arabicPeriod" startAt="2"/>
            </a:pPr>
            <a:r>
              <a:rPr lang="en-US" sz="2600" b="1" dirty="0"/>
              <a:t>Linux</a:t>
            </a:r>
          </a:p>
          <a:p>
            <a:pPr marL="631825">
              <a:lnSpc>
                <a:spcPct val="130000"/>
              </a:lnSpc>
            </a:pPr>
            <a:r>
              <a:rPr lang="en-US" sz="2400" u="sng" dirty="0"/>
              <a:t>Pros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You can install as the OS on any PC – a Linux box is a fraction of the price of a comparably outfitted Mac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Compatible with all the important bioinformatics software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People will think you're smart; you can snub Mac users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Open source</a:t>
            </a:r>
          </a:p>
          <a:p>
            <a:pPr marL="685800" lvl="1">
              <a:lnSpc>
                <a:spcPct val="110000"/>
              </a:lnSpc>
            </a:pPr>
            <a:r>
              <a:rPr lang="en-US" sz="2400" u="sng" dirty="0"/>
              <a:t>Cons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Open source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You've probably never used it; steeper learning curve</a:t>
            </a:r>
          </a:p>
          <a:p>
            <a:pPr marL="1028700" lvl="1" indent="-342900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Maintaining a Linux box requires some time investment</a:t>
            </a:r>
          </a:p>
        </p:txBody>
      </p:sp>
    </p:spTree>
    <p:extLst>
      <p:ext uri="{BB962C8B-B14F-4D97-AF65-F5344CB8AC3E}">
        <p14:creationId xmlns:p14="http://schemas.microsoft.com/office/powerpoint/2010/main" val="2213640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51094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Choosing an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903" y="1230972"/>
            <a:ext cx="8663865" cy="393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lt"/>
              <a:buAutoNum type="arabicPeriod" startAt="3"/>
            </a:pPr>
            <a:r>
              <a:rPr lang="en-US" sz="2600" b="1" dirty="0"/>
              <a:t>Microsoft Windows</a:t>
            </a:r>
          </a:p>
          <a:p>
            <a:pPr marL="631825">
              <a:lnSpc>
                <a:spcPct val="130000"/>
              </a:lnSpc>
            </a:pPr>
            <a:r>
              <a:rPr lang="en-US" sz="2400" u="sng" dirty="0"/>
              <a:t>Pros</a:t>
            </a:r>
          </a:p>
          <a:p>
            <a:pPr marL="1144588" lvl="1" indent="-2333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None</a:t>
            </a:r>
          </a:p>
          <a:p>
            <a:pPr marL="685800" lvl="1">
              <a:lnSpc>
                <a:spcPct val="110000"/>
              </a:lnSpc>
            </a:pPr>
            <a:r>
              <a:rPr lang="en-US" sz="2400" u="sng" dirty="0"/>
              <a:t>Cons</a:t>
            </a:r>
          </a:p>
          <a:p>
            <a:pPr marL="1144588" lvl="1" indent="-2333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Too many to name</a:t>
            </a:r>
          </a:p>
          <a:p>
            <a:pPr marL="1144588" lvl="1" indent="-2333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Windows is not designed for programming and bioinformatics applications</a:t>
            </a:r>
          </a:p>
          <a:p>
            <a:pPr marL="1144588" lvl="1" indent="-2333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But there are some workarounds.  </a:t>
            </a:r>
          </a:p>
          <a:p>
            <a:pPr marL="1143000" lvl="1" indent="-457200">
              <a:lnSpc>
                <a:spcPct val="110000"/>
              </a:lnSpc>
              <a:buFont typeface="Arial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109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903" y="151094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Running Linux alongside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903" y="1225513"/>
            <a:ext cx="8663865" cy="3065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lvl="1" indent="-339725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VMWare is the best solution: 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follow these instructions </a:t>
            </a:r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6075" lvl="1" indent="-339725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Windows Subsystem for Linux 2 (WSL2) (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link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346075" lvl="1" indent="-339725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PuTTY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, an SSH client that will allow you to just log into and use a remote computer</a:t>
            </a:r>
          </a:p>
          <a:p>
            <a:pPr marL="346075" lvl="1" indent="-339725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Boot into Linux from a flash drive</a:t>
            </a:r>
          </a:p>
          <a:p>
            <a:pPr marL="1081088" lvl="1" indent="-225425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  <a:hlinkClick r:id="rId5"/>
              </a:rPr>
              <a:t>http://unetbootin.sourceforge.net/</a:t>
            </a:r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081088" lvl="1" indent="-225425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Need to start and restart your computer to switch the OS</a:t>
            </a:r>
          </a:p>
        </p:txBody>
      </p:sp>
    </p:spTree>
    <p:extLst>
      <p:ext uri="{BB962C8B-B14F-4D97-AF65-F5344CB8AC3E}">
        <p14:creationId xmlns:p14="http://schemas.microsoft.com/office/powerpoint/2010/main" val="359160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289419"/>
            <a:ext cx="8436747" cy="862385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3600" b="1" cap="all" dirty="0">
                <a:ln/>
                <a:solidFill>
                  <a:srgbClr val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"/>
                <a:cs typeface="Arial"/>
              </a:rPr>
              <a:t>The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381872"/>
            <a:ext cx="8663865" cy="505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3088" lvl="1" indent="-3476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Why not just use a </a:t>
            </a:r>
            <a:r>
              <a:rPr lang="en-US" sz="2400" u="sng" dirty="0"/>
              <a:t>G</a:t>
            </a:r>
            <a:r>
              <a:rPr lang="en-US" sz="2400" dirty="0"/>
              <a:t>raphical </a:t>
            </a:r>
            <a:r>
              <a:rPr lang="en-US" sz="2400" u="sng" dirty="0"/>
              <a:t>U</a:t>
            </a:r>
            <a:r>
              <a:rPr lang="en-US" sz="2400" dirty="0"/>
              <a:t>ser </a:t>
            </a:r>
            <a:r>
              <a:rPr lang="en-US" sz="2400" u="sng" dirty="0"/>
              <a:t>I</a:t>
            </a:r>
            <a:r>
              <a:rPr lang="en-US" sz="2400" dirty="0"/>
              <a:t>nterface (GUI)?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Not good for long sequences of operations that need to be repeated on multiple datasets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No log of what you did and what commands you executed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Not conducive to executing jobs remotely on a cluster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Labor intensive to develop and generally restricted to a single OS</a:t>
            </a:r>
          </a:p>
          <a:p>
            <a:pPr marL="573088" lvl="1" indent="-3476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Use the command line!</a:t>
            </a:r>
          </a:p>
          <a:p>
            <a:pPr marL="1027113" lvl="1" indent="-342900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Extremely, extremely powerful – NOT a primitive interface</a:t>
            </a:r>
          </a:p>
          <a:p>
            <a:pPr marL="1027113" lvl="1" indent="-342900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Up-front investment with ENORMOUS long-term payoff</a:t>
            </a:r>
          </a:p>
          <a:p>
            <a:pPr marL="1027113" lvl="1" indent="-342900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Absolute necessity for big datasets, which characterize modern biology</a:t>
            </a:r>
          </a:p>
          <a:p>
            <a:pPr marL="1027113" lvl="1" indent="-342900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Automate tasks</a:t>
            </a:r>
          </a:p>
          <a:p>
            <a:pPr marL="1027113" lvl="1" indent="-342900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Do and re-do and re-do and re-do analyses with minimal added effort</a:t>
            </a:r>
          </a:p>
          <a:p>
            <a:pPr marL="1027113" lvl="1" indent="-342900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Easy to record what you did, minimizing mistakes while enhancing repeatability and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255604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289419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What's a Shell?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306422"/>
            <a:ext cx="8663865" cy="4704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3088" lvl="1" indent="-3476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Interact within a SHELL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Intermediary between user and inner workings of the OS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u="sng" dirty="0"/>
              <a:t>A command interpreter</a:t>
            </a:r>
            <a:r>
              <a:rPr lang="en-US" sz="2000" dirty="0"/>
              <a:t>, providing an interface with programs &amp; utilities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u="sng" dirty="0"/>
              <a:t>A programming language</a:t>
            </a:r>
            <a:r>
              <a:rPr lang="en-US" sz="2000" dirty="0"/>
              <a:t>, combining utilities in different ways to carry out some function(s)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May be used interactively or non-interactively</a:t>
            </a:r>
          </a:p>
          <a:p>
            <a:pPr marL="1887537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000" dirty="0"/>
              <a:t>accepts input from the keyboard</a:t>
            </a:r>
          </a:p>
          <a:p>
            <a:pPr marL="1887537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000" dirty="0"/>
              <a:t>accepts commands from a file</a:t>
            </a:r>
          </a:p>
          <a:p>
            <a:pPr marL="973138" lvl="1" indent="-288925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Execute </a:t>
            </a:r>
            <a:r>
              <a:rPr lang="en-US" sz="2000" i="1" dirty="0" err="1">
                <a:cs typeface="Courier"/>
              </a:rPr>
              <a:t>builtin</a:t>
            </a:r>
            <a:r>
              <a:rPr lang="en-US" sz="2000" i="1" dirty="0">
                <a:cs typeface="Courier"/>
              </a:rPr>
              <a:t> </a:t>
            </a:r>
            <a:r>
              <a:rPr lang="en-US" sz="2000" dirty="0"/>
              <a:t>commands</a:t>
            </a:r>
            <a:r>
              <a:rPr lang="en-US" sz="2000" dirty="0">
                <a:latin typeface="+mj-lt"/>
              </a:rPr>
              <a:t>, implemented internally by the shell</a:t>
            </a:r>
          </a:p>
          <a:p>
            <a:pPr marL="1884363" lvl="1" indent="-339725">
              <a:spcAft>
                <a:spcPts val="400"/>
              </a:spcAft>
              <a:buFont typeface="Wingdings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cd,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pwd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, exit</a:t>
            </a:r>
          </a:p>
          <a:p>
            <a:pPr marL="973138" lvl="1" indent="-288925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Execute programs installed elsewhere on the file system</a:t>
            </a:r>
          </a:p>
          <a:p>
            <a:pPr marL="1884363" lvl="1" indent="-339725">
              <a:spcAft>
                <a:spcPts val="400"/>
              </a:spcAft>
              <a:buFont typeface="Wingdings" charset="2"/>
              <a:buChar char="Ø"/>
            </a:pPr>
            <a:r>
              <a:rPr lang="en-US" sz="2000" dirty="0">
                <a:cs typeface="Courier"/>
              </a:rPr>
              <a:t>GNU Core Utilities (</a:t>
            </a:r>
            <a:r>
              <a:rPr lang="en-US" sz="2000" i="1" dirty="0" err="1">
                <a:cs typeface="Courier"/>
              </a:rPr>
              <a:t>coreutils</a:t>
            </a:r>
            <a:r>
              <a:rPr lang="en-US" sz="2000" dirty="0">
                <a:cs typeface="Courier"/>
              </a:rPr>
              <a:t>)</a:t>
            </a:r>
          </a:p>
          <a:p>
            <a:pPr marL="1884363" lvl="1" indent="-339725">
              <a:spcAft>
                <a:spcPts val="400"/>
              </a:spcAft>
              <a:buFont typeface="Wingdings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, mv,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rm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,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mkdir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,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,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pwd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9388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042626"/>
            <a:ext cx="8663865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3088" lvl="1" indent="-347663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Lots of different shells</a:t>
            </a:r>
          </a:p>
          <a:p>
            <a:pPr marL="573088" lvl="1" indent="-347663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We'll use Bash or </a:t>
            </a:r>
            <a:r>
              <a:rPr lang="en-US" sz="2400" dirty="0" err="1"/>
              <a:t>Zsh</a:t>
            </a:r>
            <a:r>
              <a:rPr lang="en-US" sz="2400" dirty="0"/>
              <a:t>, the new default Shell in Mac OS X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Run from a text window, e.g., Terminal in Mac OS X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r>
              <a:rPr lang="en-US" sz="2000" dirty="0"/>
              <a:t>Could also use X11 (aka, "X"), which has GUI capabilities</a:t>
            </a:r>
          </a:p>
          <a:p>
            <a:pPr marL="969963" lvl="2" indent="-287338">
              <a:spcAft>
                <a:spcPts val="400"/>
              </a:spcAft>
              <a:buFont typeface="Lucida Grande"/>
              <a:buChar char="–"/>
            </a:pPr>
            <a:endParaRPr lang="en-US" sz="2000" dirty="0"/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Launch Terminal (Finder &gt; Go &gt; Utilities &gt; Terminal)</a:t>
            </a:r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Add Terminal to your dock by dragging and dropping</a:t>
            </a:r>
          </a:p>
        </p:txBody>
      </p:sp>
    </p:spTree>
    <p:extLst>
      <p:ext uri="{BB962C8B-B14F-4D97-AF65-F5344CB8AC3E}">
        <p14:creationId xmlns:p14="http://schemas.microsoft.com/office/powerpoint/2010/main" val="252861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49E33-4CC0-7134-F31B-C942598261AE}"/>
              </a:ext>
            </a:extLst>
          </p:cNvPr>
          <p:cNvSpPr txBox="1"/>
          <p:nvPr/>
        </p:nvSpPr>
        <p:spPr>
          <a:xfrm>
            <a:off x="3969912" y="3244334"/>
            <a:ext cx="1204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Courier" pitchFamily="2" charset="0"/>
              </a:rPr>
              <a:t>whoami</a:t>
            </a:r>
            <a:endParaRPr lang="en-US" sz="2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064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627" y="1484305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The File System</a:t>
            </a:r>
          </a:p>
        </p:txBody>
      </p:sp>
      <p:pic>
        <p:nvPicPr>
          <p:cNvPr id="3" name="Picture 2" descr="filecabshelfcomb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961662"/>
            <a:ext cx="5486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02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rectory_structu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76" y="173576"/>
            <a:ext cx="8625192" cy="640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9537" y="6590818"/>
            <a:ext cx="1845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modified from Haddock &amp; Dunn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91728" y="2276521"/>
            <a:ext cx="1492716" cy="743277"/>
            <a:chOff x="56448" y="2318857"/>
            <a:chExt cx="1492716" cy="743277"/>
          </a:xfrm>
        </p:grpSpPr>
        <p:sp>
          <p:nvSpPr>
            <p:cNvPr id="7" name="Down Arrow 6"/>
            <p:cNvSpPr/>
            <p:nvPr/>
          </p:nvSpPr>
          <p:spPr>
            <a:xfrm>
              <a:off x="679334" y="2688189"/>
              <a:ext cx="246945" cy="373945"/>
            </a:xfrm>
            <a:prstGeom prst="down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448" y="2318857"/>
              <a:ext cx="149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root directory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3158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F2A7-FB29-9CE2-7016-2FCE562E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C809B-F86D-EE71-1A77-851ADE91FDA7}"/>
              </a:ext>
            </a:extLst>
          </p:cNvPr>
          <p:cNvSpPr txBox="1"/>
          <p:nvPr/>
        </p:nvSpPr>
        <p:spPr>
          <a:xfrm>
            <a:off x="1277815" y="1902041"/>
            <a:ext cx="56329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" pitchFamily="2" charset="0"/>
              </a:rPr>
              <a:t>Reading</a:t>
            </a:r>
          </a:p>
          <a:p>
            <a:r>
              <a:rPr lang="en-US" sz="2200" dirty="0">
                <a:latin typeface="Courier" pitchFamily="2" charset="0"/>
                <a:hlinkClick r:id="rId2"/>
              </a:rPr>
              <a:t>File not found</a:t>
            </a:r>
            <a:r>
              <a:rPr lang="en-US" sz="2200" dirty="0">
                <a:latin typeface="Courier" pitchFamily="2" charset="0"/>
              </a:rPr>
              <a:t> by Monica Chin</a:t>
            </a:r>
          </a:p>
        </p:txBody>
      </p:sp>
    </p:spTree>
    <p:extLst>
      <p:ext uri="{BB962C8B-B14F-4D97-AF65-F5344CB8AC3E}">
        <p14:creationId xmlns:p14="http://schemas.microsoft.com/office/powerpoint/2010/main" val="3860693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289419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Your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155522"/>
            <a:ext cx="8663865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1" indent="-287338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path</a:t>
            </a:r>
            <a:r>
              <a:rPr lang="en-US" sz="2400" dirty="0"/>
              <a:t> is a written description of a location in the </a:t>
            </a:r>
            <a:r>
              <a:rPr lang="en-US" sz="2400" dirty="0" err="1"/>
              <a:t>filesystem</a:t>
            </a:r>
            <a:endParaRPr lang="en-US" sz="2400" dirty="0"/>
          </a:p>
          <a:p>
            <a:pPr marL="512763" lvl="1" indent="-287338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Both directories and files have paths</a:t>
            </a:r>
          </a:p>
          <a:p>
            <a:pPr marL="512763" lvl="1" indent="-287338">
              <a:lnSpc>
                <a:spcPct val="110000"/>
              </a:lnSpc>
              <a:buFont typeface="Arial"/>
              <a:buChar char="•"/>
            </a:pPr>
            <a:r>
              <a:rPr lang="en-US" sz="2400" dirty="0"/>
              <a:t>Consists of directory names separated by forward slashes (/)</a:t>
            </a:r>
          </a:p>
          <a:p>
            <a:pPr marL="512763" lvl="1" indent="-287338">
              <a:lnSpc>
                <a:spcPct val="110000"/>
              </a:lnSpc>
              <a:buFont typeface="Arial"/>
              <a:buChar char="•"/>
            </a:pPr>
            <a:r>
              <a:rPr lang="en-US" sz="2400" b="1" dirty="0"/>
              <a:t>Absolute path</a:t>
            </a:r>
            <a:r>
              <a:rPr lang="en-US" sz="2400" dirty="0"/>
              <a:t> – complete and unambiguous location starting from root; always starts with a forward slash (/)</a:t>
            </a:r>
          </a:p>
          <a:p>
            <a:pPr marL="225425" lvl="1" algn="ctr">
              <a:lnSpc>
                <a:spcPct val="110000"/>
              </a:lnSpc>
            </a:pPr>
            <a:endParaRPr lang="en-US" sz="1000" b="1" dirty="0">
              <a:solidFill>
                <a:srgbClr val="008000"/>
              </a:solidFill>
              <a:cs typeface="Courier"/>
            </a:endParaRPr>
          </a:p>
          <a:p>
            <a:pPr marL="225425" lvl="1" algn="ctr">
              <a:lnSpc>
                <a:spcPct val="110000"/>
              </a:lnSpc>
            </a:pPr>
            <a:r>
              <a:rPr lang="en-US" sz="2100" b="1" dirty="0">
                <a:solidFill>
                  <a:srgbClr val="FF0000"/>
                </a:solidFill>
                <a:latin typeface="Courier"/>
                <a:cs typeface="Courier"/>
              </a:rPr>
              <a:t>/Users/</a:t>
            </a:r>
            <a:r>
              <a:rPr lang="en-US" sz="2100" b="1" dirty="0" err="1">
                <a:solidFill>
                  <a:srgbClr val="FF0000"/>
                </a:solidFill>
                <a:latin typeface="Courier"/>
                <a:cs typeface="Courier"/>
              </a:rPr>
              <a:t>aja</a:t>
            </a:r>
            <a:r>
              <a:rPr lang="en-US" sz="2100" b="1" dirty="0">
                <a:solidFill>
                  <a:srgbClr val="FF0000"/>
                </a:solidFill>
                <a:latin typeface="Courier"/>
                <a:cs typeface="Courier"/>
              </a:rPr>
              <a:t>/Desktop/</a:t>
            </a:r>
            <a:r>
              <a:rPr lang="en-US" sz="2100" b="1" dirty="0" err="1">
                <a:solidFill>
                  <a:srgbClr val="FF0000"/>
                </a:solidFill>
                <a:latin typeface="Courier"/>
                <a:cs typeface="Courier"/>
              </a:rPr>
              <a:t>watermelon_files</a:t>
            </a:r>
            <a:r>
              <a:rPr lang="en-US" sz="2100" b="1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  <a:r>
              <a:rPr lang="en-US" sz="2100" b="1" dirty="0" err="1">
                <a:solidFill>
                  <a:srgbClr val="FF0000"/>
                </a:solidFill>
                <a:latin typeface="Courier"/>
                <a:cs typeface="Courier"/>
              </a:rPr>
              <a:t>watermelon.fsa</a:t>
            </a:r>
            <a:endParaRPr lang="en-US" sz="2100" b="1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algn="ctr">
              <a:lnSpc>
                <a:spcPct val="110000"/>
              </a:lnSpc>
            </a:pPr>
            <a:endParaRPr lang="en-US" sz="1000" b="1" dirty="0">
              <a:solidFill>
                <a:srgbClr val="008000"/>
              </a:solidFill>
              <a:cs typeface="Courier"/>
            </a:endParaRPr>
          </a:p>
          <a:p>
            <a:pPr marL="512763" lvl="1" indent="-287338">
              <a:lnSpc>
                <a:spcPct val="110000"/>
              </a:lnSpc>
              <a:buFont typeface="Arial"/>
              <a:buChar char="•"/>
            </a:pPr>
            <a:r>
              <a:rPr lang="en-US" sz="2400" b="1" dirty="0"/>
              <a:t>Relative path</a:t>
            </a:r>
            <a:r>
              <a:rPr lang="en-US" sz="2400" dirty="0"/>
              <a:t> – describes where a file or folder is in relation to another folder, usually the working directory</a:t>
            </a:r>
          </a:p>
          <a:p>
            <a:pPr marL="512763" lvl="1" indent="-287338">
              <a:lnSpc>
                <a:spcPct val="110000"/>
              </a:lnSpc>
              <a:buFont typeface="Arial"/>
              <a:buChar char="•"/>
            </a:pPr>
            <a:r>
              <a:rPr lang="en-US" sz="2400" b="1" dirty="0"/>
              <a:t>Working directory</a:t>
            </a:r>
            <a:r>
              <a:rPr lang="en-US" sz="2400" dirty="0"/>
              <a:t> – where you're at right now; if you're in the Desktop, the relative path to </a:t>
            </a:r>
            <a:r>
              <a:rPr lang="en-US" sz="2100" dirty="0" err="1">
                <a:latin typeface="Courier"/>
                <a:cs typeface="Courier"/>
              </a:rPr>
              <a:t>watermelon.fsa</a:t>
            </a:r>
            <a:r>
              <a:rPr lang="en-US" sz="2400" dirty="0"/>
              <a:t> is:</a:t>
            </a:r>
          </a:p>
          <a:p>
            <a:pPr marL="225425" lvl="1" algn="ctr">
              <a:lnSpc>
                <a:spcPct val="110000"/>
              </a:lnSpc>
            </a:pPr>
            <a:endParaRPr lang="en-US" sz="1050" b="1" dirty="0">
              <a:solidFill>
                <a:srgbClr val="008000"/>
              </a:solidFill>
              <a:cs typeface="Courier"/>
            </a:endParaRPr>
          </a:p>
          <a:p>
            <a:pPr marL="225425" lvl="1" algn="ctr">
              <a:lnSpc>
                <a:spcPct val="110000"/>
              </a:lnSpc>
            </a:pPr>
            <a:r>
              <a:rPr lang="en-US" sz="2100" b="1" dirty="0" err="1">
                <a:solidFill>
                  <a:srgbClr val="FF0000"/>
                </a:solidFill>
                <a:latin typeface="Courier"/>
                <a:cs typeface="Courier"/>
              </a:rPr>
              <a:t>watermelon_files</a:t>
            </a:r>
            <a:r>
              <a:rPr lang="en-US" sz="2100" b="1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  <a:r>
              <a:rPr lang="en-US" sz="2100" b="1" dirty="0" err="1">
                <a:solidFill>
                  <a:srgbClr val="FF0000"/>
                </a:solidFill>
                <a:latin typeface="Courier"/>
                <a:cs typeface="Courier"/>
              </a:rPr>
              <a:t>watermelon.fsa</a:t>
            </a:r>
            <a:endParaRPr lang="en-US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649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56" y="1437708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b="1" dirty="0"/>
              <a:t>*MAC SHORTCUT*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123" y="2896924"/>
            <a:ext cx="7570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 can enter a long path to a file by dragging and dropping that file from Finder into the Terminal window.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733" y="4640109"/>
            <a:ext cx="78853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b="1" dirty="0">
                <a:solidFill>
                  <a:srgbClr val="FF0000"/>
                </a:solidFill>
              </a:rPr>
              <a:t>Drag </a:t>
            </a:r>
            <a:r>
              <a:rPr lang="en-US" sz="2400" b="1" dirty="0">
                <a:solidFill>
                  <a:srgbClr val="0000FF"/>
                </a:solidFill>
                <a:latin typeface="Courier"/>
                <a:cs typeface="Courier"/>
              </a:rPr>
              <a:t>~/Desktop/Don't do </a:t>
            </a:r>
            <a:r>
              <a:rPr lang="en-US" sz="2400" b="1" dirty="0" err="1">
                <a:solidFill>
                  <a:srgbClr val="0000FF"/>
                </a:solidFill>
                <a:latin typeface="Courier"/>
                <a:cs typeface="Courier"/>
              </a:rPr>
              <a:t>this.txt</a:t>
            </a:r>
            <a:r>
              <a:rPr lang="en-US" sz="2400" b="1" dirty="0">
                <a:solidFill>
                  <a:srgbClr val="FF0000"/>
                </a:solidFill>
              </a:rPr>
              <a:t> to the Terminal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19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356258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b="1" dirty="0"/>
              <a:t>*NEW RULE*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4380" y="2279789"/>
            <a:ext cx="661524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You will no longer include spaces in your file names.</a:t>
            </a:r>
          </a:p>
          <a:p>
            <a:pPr marL="968375" indent="-339725">
              <a:buFont typeface="Arial"/>
              <a:buChar char="•"/>
            </a:pPr>
            <a:r>
              <a:rPr lang="en-US" sz="2400" dirty="0"/>
              <a:t>use underscores or dashes – </a:t>
            </a:r>
            <a:r>
              <a:rPr lang="en-US" sz="2400" dirty="0" err="1">
                <a:solidFill>
                  <a:srgbClr val="FF0000"/>
                </a:solidFill>
              </a:rPr>
              <a:t>my_file.txt</a:t>
            </a:r>
            <a:endParaRPr lang="en-US" sz="2400" dirty="0">
              <a:solidFill>
                <a:srgbClr val="FF0000"/>
              </a:solidFill>
            </a:endParaRPr>
          </a:p>
          <a:p>
            <a:pPr marL="968375" indent="-339725">
              <a:buFont typeface="Arial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my-</a:t>
            </a:r>
            <a:r>
              <a:rPr lang="en-US" sz="2400" dirty="0" err="1">
                <a:solidFill>
                  <a:srgbClr val="FF0000"/>
                </a:solidFill>
              </a:rPr>
              <a:t>file.txt</a:t>
            </a:r>
            <a:endParaRPr lang="en-US" sz="2400" dirty="0">
              <a:solidFill>
                <a:srgbClr val="FF0000"/>
              </a:solidFill>
            </a:endParaRPr>
          </a:p>
          <a:p>
            <a:pPr marL="968375" indent="-339725">
              <a:buFont typeface="Arial"/>
              <a:buChar char="•"/>
            </a:pPr>
            <a:r>
              <a:rPr lang="en-US" sz="2400" dirty="0"/>
              <a:t>or, mixed upper/lowercase – </a:t>
            </a:r>
            <a:r>
              <a:rPr lang="en-US" sz="2400" dirty="0" err="1">
                <a:solidFill>
                  <a:srgbClr val="FF0000"/>
                </a:solidFill>
              </a:rPr>
              <a:t>myFile.txt</a:t>
            </a:r>
            <a:endParaRPr lang="en-US" sz="2400" dirty="0">
              <a:solidFill>
                <a:srgbClr val="FF0000"/>
              </a:solidFill>
            </a:endParaRPr>
          </a:p>
          <a:p>
            <a:pPr marL="968375" indent="-339725">
              <a:buFont typeface="Arial"/>
              <a:buChar char="•"/>
            </a:pPr>
            <a:r>
              <a:rPr lang="en-US" sz="2400" dirty="0"/>
              <a:t>or, dots – </a:t>
            </a:r>
            <a:r>
              <a:rPr lang="en-US" sz="2400" dirty="0" err="1">
                <a:solidFill>
                  <a:srgbClr val="FF0000"/>
                </a:solidFill>
              </a:rPr>
              <a:t>my.file.txt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67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042626"/>
            <a:ext cx="8663865" cy="5560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pwd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latin typeface="Calibri"/>
                <a:cs typeface="Calibri"/>
              </a:rPr>
              <a:t>–   </a:t>
            </a:r>
            <a:r>
              <a:rPr lang="en-US" sz="2400" u="sng" dirty="0">
                <a:cs typeface="Calibri"/>
              </a:rPr>
              <a:t>p</a:t>
            </a:r>
            <a:r>
              <a:rPr lang="en-US" sz="2400" dirty="0">
                <a:cs typeface="Calibri"/>
              </a:rPr>
              <a:t>rints path of </a:t>
            </a:r>
            <a:r>
              <a:rPr lang="en-US" sz="2400" u="sng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orking </a:t>
            </a:r>
            <a:r>
              <a:rPr lang="en-US" sz="2400" u="sng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irectory </a:t>
            </a:r>
            <a:r>
              <a:rPr lang="en-US" sz="2400" dirty="0">
                <a:cs typeface="Calibri"/>
              </a:rPr>
              <a:t>[absolute or relative?]</a:t>
            </a:r>
            <a:endParaRPr lang="en-US" sz="2400" dirty="0">
              <a:latin typeface="Calibri"/>
              <a:cs typeface="Calibri"/>
            </a:endParaRPr>
          </a:p>
          <a:p>
            <a:pPr marL="225425" lvl="1">
              <a:spcAft>
                <a:spcPts val="400"/>
              </a:spcAft>
            </a:pPr>
            <a:endParaRPr lang="en-US" sz="12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</a:t>
            </a:r>
            <a:r>
              <a:rPr lang="en-US" sz="2400" dirty="0">
                <a:cs typeface="Calibri"/>
              </a:rPr>
              <a:t>–   </a:t>
            </a:r>
            <a:r>
              <a:rPr lang="en-US" sz="2400" u="sng" dirty="0">
                <a:cs typeface="Calibri"/>
              </a:rPr>
              <a:t>c</a:t>
            </a:r>
            <a:r>
              <a:rPr lang="en-US" sz="2400" dirty="0">
                <a:cs typeface="Calibri"/>
              </a:rPr>
              <a:t>hange </a:t>
            </a:r>
            <a:r>
              <a:rPr lang="en-US" sz="2400" u="sng" dirty="0">
                <a:cs typeface="Calibri"/>
              </a:rPr>
              <a:t>d</a:t>
            </a:r>
            <a:r>
              <a:rPr lang="en-US" sz="2400" dirty="0">
                <a:cs typeface="Calibri"/>
              </a:rPr>
              <a:t>irectory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alibri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.. </a:t>
            </a:r>
            <a:r>
              <a:rPr lang="en-US" sz="2400" dirty="0">
                <a:cs typeface="Courier"/>
              </a:rPr>
              <a:t>[move up one directory]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alibri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../../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ourier"/>
              </a:rPr>
              <a:t>[move up two directories]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alibri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   </a:t>
            </a:r>
            <a:r>
              <a:rPr lang="en-US" sz="2400" dirty="0">
                <a:cs typeface="Courier"/>
              </a:rPr>
              <a:t>[go home]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~  </a:t>
            </a:r>
            <a:r>
              <a:rPr lang="en-US" sz="2400" dirty="0">
                <a:cs typeface="Courier"/>
              </a:rPr>
              <a:t>[go home]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~/Desktop/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/Users/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aja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/Desktop/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endParaRPr lang="en-US" sz="12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echo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argument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. . .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 write arguments to STDOUT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alibri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alibri"/>
              </a:rPr>
              <a:t>echo $HOME </a:t>
            </a:r>
            <a:r>
              <a:rPr lang="en-US" sz="2400" dirty="0">
                <a:cs typeface="Courier"/>
              </a:rPr>
              <a:t>[where's my home directory?]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alibri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alibri"/>
              </a:rPr>
              <a:t>echo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crazy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echo crazy horse</a:t>
            </a:r>
          </a:p>
        </p:txBody>
      </p:sp>
    </p:spTree>
    <p:extLst>
      <p:ext uri="{BB962C8B-B14F-4D97-AF65-F5344CB8AC3E}">
        <p14:creationId xmlns:p14="http://schemas.microsoft.com/office/powerpoint/2010/main" val="1944105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240194"/>
            <a:ext cx="8723875" cy="4267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clear </a:t>
            </a:r>
            <a:r>
              <a:rPr lang="en-US" sz="2800" dirty="0">
                <a:cs typeface="Calibri"/>
              </a:rPr>
              <a:t>–   </a:t>
            </a:r>
            <a:r>
              <a:rPr lang="en-US" sz="2800" u="sng" dirty="0">
                <a:cs typeface="Calibri"/>
              </a:rPr>
              <a:t>cl</a:t>
            </a:r>
            <a:r>
              <a:rPr lang="en-US" sz="2800" dirty="0">
                <a:cs typeface="Calibri"/>
              </a:rPr>
              <a:t>ear the Terminal screen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clear</a:t>
            </a:r>
          </a:p>
          <a:p>
            <a:pPr marL="225425" lvl="1">
              <a:spcAft>
                <a:spcPts val="400"/>
              </a:spcAft>
            </a:pPr>
            <a:endParaRPr lang="en-US" sz="24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endParaRPr lang="en-US" sz="24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exit </a:t>
            </a:r>
            <a:r>
              <a:rPr lang="en-US" sz="2800" dirty="0">
                <a:cs typeface="Calibri"/>
              </a:rPr>
              <a:t>–   exit the session</a:t>
            </a:r>
            <a:endParaRPr lang="en-US" sz="2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1193800" lvl="1" indent="-276225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always exit your session before closing the Terminal window and quitting Terminal</a:t>
            </a:r>
          </a:p>
          <a:p>
            <a:pPr marL="1193800" lvl="1" indent="-276225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not doing so is </a:t>
            </a:r>
            <a:r>
              <a:rPr lang="en-US" sz="2400" dirty="0" err="1">
                <a:cs typeface="Courier"/>
              </a:rPr>
              <a:t>analagous</a:t>
            </a:r>
            <a:r>
              <a:rPr lang="en-US" sz="2400" dirty="0">
                <a:cs typeface="Courier"/>
              </a:rPr>
              <a:t> to </a:t>
            </a:r>
            <a:r>
              <a:rPr lang="en-US" sz="2400" dirty="0" err="1">
                <a:cs typeface="Courier"/>
              </a:rPr>
              <a:t>uplugging</a:t>
            </a:r>
            <a:r>
              <a:rPr lang="en-US" sz="2400" dirty="0">
                <a:cs typeface="Courier"/>
              </a:rPr>
              <a:t> your computer – unceremonious end to all your programs and processes</a:t>
            </a:r>
          </a:p>
          <a:p>
            <a:pPr marL="1193800" lvl="1" indent="-276225">
              <a:spcAft>
                <a:spcPts val="400"/>
              </a:spcAft>
              <a:buFont typeface="Arial"/>
              <a:buChar char="•"/>
            </a:pPr>
            <a:endParaRPr lang="en-US" sz="2400" dirty="0"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055901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82753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b="1" dirty="0"/>
              <a:t>*AWESOME SHORTCUTS*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893" y="3060607"/>
            <a:ext cx="7840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cs typeface="Calibri"/>
              </a:rPr>
              <a:t>Auto</a:t>
            </a:r>
            <a:r>
              <a:rPr lang="en-US" sz="2400" dirty="0">
                <a:latin typeface="Calibri"/>
                <a:cs typeface="Calibri"/>
              </a:rPr>
              <a:t>-complete with </a:t>
            </a:r>
            <a:r>
              <a:rPr lang="en-US" sz="2400" u="sng" dirty="0">
                <a:latin typeface="Calibri"/>
                <a:cs typeface="Calibri"/>
              </a:rPr>
              <a:t>tab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/>
                <a:cs typeface="Calibri"/>
              </a:rPr>
              <a:t>Re-run a previous command with </a:t>
            </a:r>
            <a:r>
              <a:rPr lang="en-US" sz="2400" u="sng" dirty="0">
                <a:latin typeface="Calibri"/>
                <a:cs typeface="Calibri"/>
              </a:rPr>
              <a:t>Up [and down] arrow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/>
                <a:cs typeface="Calibri"/>
              </a:rPr>
              <a:t>Find an old command with </a:t>
            </a:r>
            <a:r>
              <a:rPr lang="en-US" sz="2400" dirty="0" err="1">
                <a:solidFill>
                  <a:srgbClr val="0432FF"/>
                </a:solidFill>
                <a:latin typeface="Courier" charset="0"/>
                <a:ea typeface="Courier" charset="0"/>
                <a:cs typeface="Courier" charset="0"/>
              </a:rPr>
              <a:t>Ctrl+r</a:t>
            </a:r>
            <a:endParaRPr lang="en-US" sz="2400" dirty="0">
              <a:solidFill>
                <a:srgbClr val="0432FF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cs typeface="Calibri"/>
              </a:rPr>
              <a:t>Find an old command with 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history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/>
                <a:cs typeface="Calibri"/>
              </a:rPr>
              <a:t>Mac OS: open working directory in Finder with 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open .</a:t>
            </a:r>
          </a:p>
        </p:txBody>
      </p:sp>
    </p:spTree>
    <p:extLst>
      <p:ext uri="{BB962C8B-B14F-4D97-AF65-F5344CB8AC3E}">
        <p14:creationId xmlns:p14="http://schemas.microsoft.com/office/powerpoint/2010/main" val="2076066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82753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b="1" dirty="0"/>
              <a:t>*MORE SHORTCUTS*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964" y="3060607"/>
            <a:ext cx="7940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Ctrl+a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go to beginning of command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Ctrl+e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go to end of command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Ctrl+u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erase command from cursor to start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Ctrl+l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clear the screen (executes </a:t>
            </a:r>
            <a:r>
              <a:rPr lang="en-US" sz="2400" dirty="0">
                <a:solidFill>
                  <a:srgbClr val="0432FF"/>
                </a:solidFill>
                <a:latin typeface="Courier" charset="0"/>
                <a:ea typeface="Courier" charset="0"/>
                <a:cs typeface="Courier" charset="0"/>
              </a:rPr>
              <a:t>clear</a:t>
            </a:r>
            <a:r>
              <a:rPr lang="en-US" sz="2400" dirty="0">
                <a:cs typeface="Calibri"/>
              </a:rPr>
              <a:t> command)</a:t>
            </a:r>
          </a:p>
        </p:txBody>
      </p:sp>
    </p:spTree>
    <p:extLst>
      <p:ext uri="{BB962C8B-B14F-4D97-AF65-F5344CB8AC3E}">
        <p14:creationId xmlns:p14="http://schemas.microsoft.com/office/powerpoint/2010/main" val="3761394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243826"/>
            <a:ext cx="8723875" cy="44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which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argument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latin typeface="Calibri"/>
                <a:cs typeface="Calibri"/>
              </a:rPr>
              <a:t>–   </a:t>
            </a:r>
            <a:r>
              <a:rPr lang="en-US" sz="2400" dirty="0">
                <a:cs typeface="Calibri"/>
              </a:rPr>
              <a:t>locate a command</a:t>
            </a:r>
            <a:endParaRPr lang="en-US" sz="2400" dirty="0">
              <a:latin typeface="Calibri"/>
              <a:cs typeface="Calibri"/>
            </a:endParaRP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latin typeface="Courier"/>
                <a:cs typeface="Courier"/>
              </a:rPr>
              <a:t>  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which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pwd</a:t>
            </a:r>
            <a:endParaRPr lang="en-US" sz="2200" dirty="0">
              <a:solidFill>
                <a:srgbClr val="0000FF"/>
              </a:solidFill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latin typeface="Courier"/>
                <a:cs typeface="Courier"/>
              </a:rPr>
              <a:t>  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which cd</a:t>
            </a: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latin typeface="Courier"/>
                <a:cs typeface="Courier"/>
              </a:rPr>
              <a:t>  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which python3</a:t>
            </a:r>
            <a:endParaRPr lang="en-US" sz="2200" dirty="0">
              <a:solidFill>
                <a:srgbClr val="0000FF"/>
              </a:solidFill>
              <a:cs typeface="Courier"/>
            </a:endParaRPr>
          </a:p>
          <a:p>
            <a:pPr marL="225425" lvl="1">
              <a:spcAft>
                <a:spcPts val="400"/>
              </a:spcAft>
            </a:pPr>
            <a:endParaRPr lang="en-US" sz="24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</a:t>
            </a:r>
            <a:r>
              <a:rPr lang="en-US" sz="2400" u="sng" dirty="0">
                <a:cs typeface="Calibri"/>
              </a:rPr>
              <a:t>l</a:t>
            </a:r>
            <a:r>
              <a:rPr lang="en-US" sz="2400" dirty="0">
                <a:cs typeface="Calibri"/>
              </a:rPr>
              <a:t>i</a:t>
            </a:r>
            <a:r>
              <a:rPr lang="en-US" sz="2400" u="sng" dirty="0">
                <a:cs typeface="Calibri"/>
              </a:rPr>
              <a:t>s</a:t>
            </a:r>
            <a:r>
              <a:rPr lang="en-US" sz="2400" dirty="0">
                <a:cs typeface="Calibri"/>
              </a:rPr>
              <a:t>t directory contents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alibri"/>
              </a:rPr>
              <a:t>  </a:t>
            </a: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200" dirty="0">
                <a:cs typeface="Courier"/>
              </a:rPr>
              <a:t>[list contents of working directory]</a:t>
            </a: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solidFill>
                  <a:srgbClr val="3366FF"/>
                </a:solidFill>
                <a:latin typeface="Courier"/>
                <a:cs typeface="Courier"/>
              </a:rPr>
              <a:t>  </a:t>
            </a: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~/Desktop </a:t>
            </a:r>
            <a:r>
              <a:rPr lang="en-US" sz="2200" dirty="0">
                <a:cs typeface="Courier"/>
              </a:rPr>
              <a:t>[list Desktop contents]</a:t>
            </a: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solidFill>
                  <a:srgbClr val="3366FF"/>
                </a:solidFill>
                <a:latin typeface="Courier"/>
                <a:cs typeface="Courier"/>
              </a:rPr>
              <a:t>  </a:t>
            </a: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~/Desktop/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solidFill>
                  <a:srgbClr val="3366FF"/>
                </a:solidFill>
                <a:latin typeface="Courier"/>
                <a:cs typeface="Courier"/>
              </a:rPr>
              <a:t>  </a:t>
            </a: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/Users/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aja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/Desktop/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</a:p>
          <a:p>
            <a:pPr marL="225425" lvl="1">
              <a:spcAft>
                <a:spcPts val="400"/>
              </a:spcAft>
            </a:pPr>
            <a:r>
              <a:rPr lang="en-US" sz="2200" dirty="0">
                <a:solidFill>
                  <a:srgbClr val="3366FF"/>
                </a:solidFill>
                <a:latin typeface="Courier"/>
                <a:cs typeface="Courier"/>
              </a:rPr>
              <a:t>  </a:t>
            </a:r>
            <a:r>
              <a:rPr lang="en-US" sz="2200" dirty="0">
                <a:latin typeface="Courier"/>
                <a:cs typeface="Courier"/>
              </a:rPr>
              <a:t>$</a:t>
            </a:r>
            <a:r>
              <a:rPr lang="en-US" sz="2200" dirty="0">
                <a:cs typeface="Courier"/>
              </a:rPr>
              <a:t>	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~/Desktop/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endParaRPr lang="en-US" sz="22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9477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ourier"/>
                <a:cs typeface="Courier"/>
              </a:rPr>
              <a:t>ls</a:t>
            </a:r>
            <a:r>
              <a:rPr lang="en-US" sz="3600" dirty="0"/>
              <a:t> with 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319276"/>
            <a:ext cx="8723875" cy="466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-a </a:t>
            </a:r>
            <a:r>
              <a:rPr lang="en-US" sz="2400" dirty="0">
                <a:cs typeface="Courier"/>
              </a:rPr>
              <a:t>: list </a:t>
            </a:r>
            <a:r>
              <a:rPr lang="en-US" sz="2400" u="sng" dirty="0">
                <a:cs typeface="Courier"/>
              </a:rPr>
              <a:t>a</a:t>
            </a:r>
            <a:r>
              <a:rPr lang="en-US" sz="2400" dirty="0">
                <a:cs typeface="Courier"/>
              </a:rPr>
              <a:t>ll directory contents, including hidden files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-l </a:t>
            </a:r>
            <a:r>
              <a:rPr lang="en-US" sz="2400" dirty="0">
                <a:cs typeface="Courier"/>
              </a:rPr>
              <a:t>: list in </a:t>
            </a:r>
            <a:r>
              <a:rPr lang="en-US" sz="2400" u="sng" dirty="0">
                <a:cs typeface="Courier"/>
              </a:rPr>
              <a:t>l</a:t>
            </a:r>
            <a:r>
              <a:rPr lang="en-US" sz="2400" dirty="0">
                <a:cs typeface="Courier"/>
              </a:rPr>
              <a:t>ong format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-h </a:t>
            </a:r>
            <a:r>
              <a:rPr lang="en-US" sz="2400" dirty="0">
                <a:cs typeface="Courier"/>
              </a:rPr>
              <a:t>: make file sizes </a:t>
            </a:r>
            <a:r>
              <a:rPr lang="en-US" sz="2400" u="sng" dirty="0">
                <a:cs typeface="Courier"/>
              </a:rPr>
              <a:t>h</a:t>
            </a:r>
            <a:r>
              <a:rPr lang="en-US" sz="2400" dirty="0">
                <a:cs typeface="Courier"/>
              </a:rPr>
              <a:t>uman readable (only with 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-l</a:t>
            </a:r>
            <a:r>
              <a:rPr lang="en-US" sz="2400" dirty="0">
                <a:cs typeface="Courier"/>
              </a:rPr>
              <a:t>)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-t </a:t>
            </a:r>
            <a:r>
              <a:rPr lang="en-US" sz="2400" dirty="0">
                <a:cs typeface="Courier"/>
              </a:rPr>
              <a:t>: sort by time modified (most recently modified first)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-S </a:t>
            </a:r>
            <a:r>
              <a:rPr lang="en-US" sz="2400" dirty="0">
                <a:cs typeface="Courier"/>
              </a:rPr>
              <a:t>: sort files by </a:t>
            </a:r>
            <a:r>
              <a:rPr lang="en-US" sz="2400" u="sng" dirty="0">
                <a:cs typeface="Courier"/>
              </a:rPr>
              <a:t>s</a:t>
            </a:r>
            <a:r>
              <a:rPr lang="en-US" sz="2400" dirty="0">
                <a:cs typeface="Courier"/>
              </a:rPr>
              <a:t>ize</a:t>
            </a:r>
          </a:p>
          <a:p>
            <a:pPr marL="225425" lvl="1">
              <a:spcAft>
                <a:spcPts val="400"/>
              </a:spcAft>
            </a:pPr>
            <a:endParaRPr lang="en-US" sz="2400" dirty="0"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~/Desktop/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-a -l</a:t>
            </a:r>
            <a:endParaRPr lang="en-US" sz="2400" dirty="0">
              <a:solidFill>
                <a:srgbClr val="0000FF"/>
              </a:solidFill>
              <a:cs typeface="Calibri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-al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alS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alSh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71775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ourier"/>
                <a:cs typeface="Courier"/>
              </a:rPr>
              <a:t>ls</a:t>
            </a:r>
            <a:r>
              <a:rPr lang="en-US" sz="3600" dirty="0"/>
              <a:t>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649442"/>
            <a:ext cx="872387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total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1208</a:t>
            </a: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-rw-r--r--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@  1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371K Jan  8 20:14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-rw-r--r--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@  1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172K Jan  8 20:17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watermelon.gff.docx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-rw-r--r--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1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 20K Jan  8 20:14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-rw-r--r--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@  1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 20K Jan  8 20:25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watermelon.mac.gff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drwxr-xr-x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62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2.1K Jan  8 20:14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watermelon_nt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drwxr-xr-x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9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306B Jan  8 20:29 .</a:t>
            </a: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drwxr-xr-x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8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272B Jan  8 20:15 ..</a:t>
            </a: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-rw-r--r--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@  1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228B Jan  8 20:30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watermelon_genes.mac.txt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-rw-r--r--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@  1 aja 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staff</a:t>
            </a:r>
            <a:r>
              <a:rPr lang="fi-FI" sz="1400" dirty="0">
                <a:solidFill>
                  <a:srgbClr val="0000FF"/>
                </a:solidFill>
                <a:latin typeface="Courier"/>
                <a:cs typeface="Courier"/>
              </a:rPr>
              <a:t>   228B Jan  8 20:29 </a:t>
            </a:r>
            <a:r>
              <a:rPr lang="fi-FI" sz="1400" dirty="0" err="1">
                <a:solidFill>
                  <a:srgbClr val="0000FF"/>
                </a:solidFill>
                <a:latin typeface="Courier"/>
                <a:cs typeface="Courier"/>
              </a:rPr>
              <a:t>watermelon_genes.unix.txt</a:t>
            </a:r>
            <a:endParaRPr lang="fi-FI" sz="14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37435" y="4357876"/>
            <a:ext cx="2208733" cy="858602"/>
            <a:chOff x="430379" y="4400213"/>
            <a:chExt cx="2208733" cy="858602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30379" y="4889483"/>
              <a:ext cx="2208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 (-) or directory (d)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72612" y="4357876"/>
            <a:ext cx="2090201" cy="2201573"/>
            <a:chOff x="272612" y="4400213"/>
            <a:chExt cx="2090201" cy="2201573"/>
          </a:xfrm>
        </p:grpSpPr>
        <p:grpSp>
          <p:nvGrpSpPr>
            <p:cNvPr id="9" name="Group 8"/>
            <p:cNvGrpSpPr/>
            <p:nvPr/>
          </p:nvGrpSpPr>
          <p:grpSpPr>
            <a:xfrm>
              <a:off x="710120" y="4400213"/>
              <a:ext cx="1215184" cy="858602"/>
              <a:chOff x="20353" y="4400213"/>
              <a:chExt cx="1215184" cy="858602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 flipV="1">
                <a:off x="627945" y="4400213"/>
                <a:ext cx="0" cy="5033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20353" y="4889483"/>
                <a:ext cx="1215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permission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272612" y="5277528"/>
              <a:ext cx="2090201" cy="1324258"/>
              <a:chOff x="3478388" y="4837668"/>
              <a:chExt cx="2090201" cy="1324258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3478388" y="4837668"/>
                <a:ext cx="2031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i-FI" sz="2400" dirty="0" err="1">
                    <a:latin typeface="Courier"/>
                    <a:cs typeface="Courier"/>
                  </a:rPr>
                  <a:t>-</a:t>
                </a:r>
                <a:r>
                  <a:rPr lang="fi-FI" sz="2400" dirty="0" err="1">
                    <a:solidFill>
                      <a:srgbClr val="FF0000"/>
                    </a:solidFill>
                    <a:latin typeface="Courier"/>
                    <a:cs typeface="Courier"/>
                  </a:rPr>
                  <a:t>rw-</a:t>
                </a:r>
                <a:r>
                  <a:rPr lang="fi-FI" sz="2400" dirty="0" err="1">
                    <a:solidFill>
                      <a:schemeClr val="accent6">
                        <a:lumMod val="50000"/>
                      </a:schemeClr>
                    </a:solidFill>
                    <a:latin typeface="Courier"/>
                    <a:cs typeface="Courier"/>
                  </a:rPr>
                  <a:t>r--</a:t>
                </a:r>
                <a:r>
                  <a:rPr lang="fi-FI" sz="2400" dirty="0" err="1">
                    <a:solidFill>
                      <a:srgbClr val="008000"/>
                    </a:solidFill>
                    <a:latin typeface="Courier"/>
                    <a:cs typeface="Courier"/>
                  </a:rPr>
                  <a:t>r--</a:t>
                </a:r>
                <a:endParaRPr lang="en-US" sz="2400" dirty="0">
                  <a:solidFill>
                    <a:srgbClr val="008000"/>
                  </a:solidFill>
                </a:endParaRP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3612444" y="5299333"/>
                <a:ext cx="591553" cy="862593"/>
                <a:chOff x="3626556" y="5299333"/>
                <a:chExt cx="591553" cy="862593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>
                <a:xfrm flipV="1">
                  <a:off x="3922332" y="5299333"/>
                  <a:ext cx="0" cy="5033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/>
                <p:cNvSpPr txBox="1"/>
                <p:nvPr/>
              </p:nvSpPr>
              <p:spPr>
                <a:xfrm>
                  <a:off x="3626556" y="5792594"/>
                  <a:ext cx="5915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user</a:t>
                  </a:r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4167094" y="5303557"/>
                <a:ext cx="738078" cy="858369"/>
                <a:chOff x="4205087" y="5303557"/>
                <a:chExt cx="738078" cy="858369"/>
              </a:xfrm>
            </p:grpSpPr>
            <p:cxnSp>
              <p:nvCxnSpPr>
                <p:cNvPr id="17" name="Straight Arrow Connector 16"/>
                <p:cNvCxnSpPr/>
                <p:nvPr/>
              </p:nvCxnSpPr>
              <p:spPr>
                <a:xfrm flipV="1">
                  <a:off x="4574126" y="5303557"/>
                  <a:ext cx="0" cy="5033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/>
                <p:cNvSpPr txBox="1"/>
                <p:nvPr/>
              </p:nvSpPr>
              <p:spPr>
                <a:xfrm>
                  <a:off x="4205087" y="5792594"/>
                  <a:ext cx="7380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984807"/>
                      </a:solidFill>
                    </a:rPr>
                    <a:t>group</a:t>
                  </a:r>
                </a:p>
              </p:txBody>
            </p:sp>
          </p:grpSp>
          <p:grpSp>
            <p:nvGrpSpPr>
              <p:cNvPr id="22" name="Group 21"/>
              <p:cNvGrpSpPr/>
              <p:nvPr/>
            </p:nvGrpSpPr>
            <p:grpSpPr>
              <a:xfrm>
                <a:off x="4868270" y="5299333"/>
                <a:ext cx="700319" cy="862593"/>
                <a:chOff x="4755374" y="5299333"/>
                <a:chExt cx="700319" cy="862593"/>
              </a:xfrm>
            </p:grpSpPr>
            <p:cxnSp>
              <p:nvCxnSpPr>
                <p:cNvPr id="18" name="Straight Arrow Connector 17"/>
                <p:cNvCxnSpPr/>
                <p:nvPr/>
              </p:nvCxnSpPr>
              <p:spPr>
                <a:xfrm flipV="1">
                  <a:off x="5106847" y="5299333"/>
                  <a:ext cx="0" cy="5033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Box 20"/>
                <p:cNvSpPr txBox="1"/>
                <p:nvPr/>
              </p:nvSpPr>
              <p:spPr>
                <a:xfrm>
                  <a:off x="4755374" y="5792594"/>
                  <a:ext cx="7003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8000"/>
                      </a:solidFill>
                    </a:rPr>
                    <a:t>other</a:t>
                  </a:r>
                </a:p>
              </p:txBody>
            </p:sp>
          </p:grpSp>
        </p:grpSp>
      </p:grpSp>
      <p:grpSp>
        <p:nvGrpSpPr>
          <p:cNvPr id="27" name="Group 26"/>
          <p:cNvGrpSpPr/>
          <p:nvPr/>
        </p:nvGrpSpPr>
        <p:grpSpPr>
          <a:xfrm>
            <a:off x="1803401" y="4357876"/>
            <a:ext cx="3551461" cy="858602"/>
            <a:chOff x="430379" y="4400213"/>
            <a:chExt cx="3551461" cy="858602"/>
          </a:xfrm>
        </p:grpSpPr>
        <p:cxnSp>
          <p:nvCxnSpPr>
            <p:cNvPr id="28" name="Straight Arrow Connector 27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30379" y="4889483"/>
              <a:ext cx="35514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how many files under that directory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42057" y="4357876"/>
            <a:ext cx="1755070" cy="858602"/>
            <a:chOff x="430379" y="4400213"/>
            <a:chExt cx="1755070" cy="858602"/>
          </a:xfrm>
        </p:grpSpPr>
        <p:cxnSp>
          <p:nvCxnSpPr>
            <p:cNvPr id="31" name="Straight Arrow Connector 30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430379" y="4889483"/>
              <a:ext cx="17550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who's the owner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748836" y="4357876"/>
            <a:ext cx="2024788" cy="858602"/>
            <a:chOff x="430379" y="4400213"/>
            <a:chExt cx="2024788" cy="858602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30379" y="4889483"/>
              <a:ext cx="2024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name of user group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602558" y="4357876"/>
            <a:ext cx="876149" cy="858602"/>
            <a:chOff x="430379" y="4400213"/>
            <a:chExt cx="876149" cy="858602"/>
          </a:xfrm>
        </p:grpSpPr>
        <p:cxnSp>
          <p:nvCxnSpPr>
            <p:cNvPr id="37" name="Straight Arrow Connector 36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430379" y="4889483"/>
              <a:ext cx="876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 size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478707" y="4357876"/>
            <a:ext cx="2399891" cy="858602"/>
            <a:chOff x="430379" y="4400213"/>
            <a:chExt cx="2399891" cy="858602"/>
          </a:xfrm>
        </p:grpSpPr>
        <p:cxnSp>
          <p:nvCxnSpPr>
            <p:cNvPr id="40" name="Straight Arrow Connector 39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30379" y="4889483"/>
              <a:ext cx="2399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date/time last modified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184891" y="4357876"/>
            <a:ext cx="1057952" cy="858602"/>
            <a:chOff x="430379" y="4400213"/>
            <a:chExt cx="1057952" cy="858602"/>
          </a:xfrm>
        </p:grpSpPr>
        <p:cxnSp>
          <p:nvCxnSpPr>
            <p:cNvPr id="43" name="Straight Arrow Connector 42"/>
            <p:cNvCxnSpPr/>
            <p:nvPr/>
          </p:nvCxnSpPr>
          <p:spPr>
            <a:xfrm flipV="1">
              <a:off x="627945" y="4400213"/>
              <a:ext cx="0" cy="5033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30379" y="4889483"/>
              <a:ext cx="105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31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* wildcards 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4" y="1533051"/>
            <a:ext cx="853647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lvl="1" indent="-690563">
              <a:spcAft>
                <a:spcPts val="400"/>
              </a:spcAft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*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ourier"/>
              </a:rPr>
              <a:t>–	the wildest of all wildcards, representing any number of any character (except a slash)</a:t>
            </a:r>
          </a:p>
          <a:p>
            <a:pPr marL="225425" lvl="1">
              <a:spcAft>
                <a:spcPts val="400"/>
              </a:spcAft>
            </a:pPr>
            <a:endParaRPr lang="en-US" sz="2400" dirty="0"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cd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watermelon_files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*.txt</a:t>
            </a:r>
            <a:endParaRPr lang="en-US" sz="2400" dirty="0">
              <a:solidFill>
                <a:srgbClr val="0000FF"/>
              </a:solidFill>
              <a:cs typeface="Calibri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-al *.txt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-al *genes*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-al */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sdh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*</a:t>
            </a:r>
          </a:p>
        </p:txBody>
      </p:sp>
      <p:pic>
        <p:nvPicPr>
          <p:cNvPr id="3" name="Picture 2" descr="Staffing-Software-Wild-Car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60" y="2401796"/>
            <a:ext cx="1719138" cy="264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54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Try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Show a long listing of all the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atp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genes in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watermelon_files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/aa</a:t>
            </a:r>
          </a:p>
          <a:p>
            <a:pPr marL="0" indent="0">
              <a:buNone/>
            </a:pP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How would you show the file sizes of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atp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genes in bytes? In kilobytes?</a:t>
            </a:r>
          </a:p>
          <a:p>
            <a:pPr marL="0" indent="0">
              <a:buNone/>
            </a:pP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List all the ribosomal protein (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rps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rpl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) genes in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watermelon_nt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List all the genomes in `genomes` that contain a ‘u’ in the filename</a:t>
            </a: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Based on file size, which is the largest genome in the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mt_genomes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directory?</a:t>
            </a:r>
          </a:p>
        </p:txBody>
      </p:sp>
    </p:spTree>
    <p:extLst>
      <p:ext uri="{BB962C8B-B14F-4D97-AF65-F5344CB8AC3E}">
        <p14:creationId xmlns:p14="http://schemas.microsoft.com/office/powerpoint/2010/main" val="1920273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239398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commands: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606" y="3582926"/>
            <a:ext cx="872387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endParaRPr lang="en-US" sz="6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cat</a:t>
            </a:r>
            <a:r>
              <a:rPr lang="en-US" sz="28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con</a:t>
            </a:r>
            <a:r>
              <a:rPr lang="en-US" sz="2800" u="sng" dirty="0">
                <a:cs typeface="Calibri"/>
              </a:rPr>
              <a:t>cat</a:t>
            </a:r>
            <a:r>
              <a:rPr lang="en-US" sz="2800" dirty="0">
                <a:cs typeface="Calibri"/>
              </a:rPr>
              <a:t>enate and print files to the screen</a:t>
            </a:r>
            <a:endParaRPr lang="en-US" sz="2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cat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file1 file2 . .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606" y="1497429"/>
            <a:ext cx="64792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000" dirty="0">
                <a:cs typeface="Calibri"/>
              </a:rPr>
              <a:t>If a colleague asked you to send her a file with all the watermelon </a:t>
            </a:r>
            <a:r>
              <a:rPr lang="en-US" sz="2000" i="1" dirty="0" err="1">
                <a:cs typeface="Calibri"/>
              </a:rPr>
              <a:t>nad</a:t>
            </a:r>
            <a:r>
              <a:rPr lang="en-US" sz="2000" dirty="0">
                <a:cs typeface="Calibri"/>
              </a:rPr>
              <a:t> amino acid and nucleotide sequences, how would you do it? How long would it take for one species? 5 species? 100 species? 1,000 species?</a:t>
            </a:r>
            <a:endParaRPr lang="en-US" sz="2000" dirty="0">
              <a:solidFill>
                <a:srgbClr val="3366FF"/>
              </a:solidFill>
              <a:latin typeface="Courier"/>
              <a:cs typeface="Courier"/>
            </a:endParaRPr>
          </a:p>
        </p:txBody>
      </p:sp>
      <p:pic>
        <p:nvPicPr>
          <p:cNvPr id="3" name="Picture 2" descr="Blinking-Ca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698" y="1475581"/>
            <a:ext cx="2438400" cy="182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9987F4-58BC-C744-8C5F-EA5383EF826A}"/>
              </a:ext>
            </a:extLst>
          </p:cNvPr>
          <p:cNvSpPr txBox="1"/>
          <p:nvPr/>
        </p:nvSpPr>
        <p:spPr>
          <a:xfrm>
            <a:off x="3810111" y="5149516"/>
            <a:ext cx="1119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Try it.</a:t>
            </a:r>
          </a:p>
        </p:txBody>
      </p:sp>
    </p:spTree>
    <p:extLst>
      <p:ext uri="{BB962C8B-B14F-4D97-AF65-F5344CB8AC3E}">
        <p14:creationId xmlns:p14="http://schemas.microsoft.com/office/powerpoint/2010/main" val="270568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Data streams in the Shell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812" y="1320402"/>
            <a:ext cx="891437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0: standard input  (STDIN)</a:t>
            </a:r>
          </a:p>
          <a:p>
            <a:pPr marL="1250950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what you type on the keyboard</a:t>
            </a:r>
          </a:p>
          <a:p>
            <a:pPr marL="1250950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can also come from file redirection via '&lt;'</a:t>
            </a:r>
          </a:p>
          <a:p>
            <a:pPr marL="225425" lvl="1">
              <a:spcBef>
                <a:spcPts val="1200"/>
              </a:spcBef>
              <a:spcAft>
                <a:spcPts val="4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1: standard output (STDOUT)</a:t>
            </a:r>
          </a:p>
          <a:p>
            <a:pPr marL="1250950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the </a:t>
            </a:r>
            <a:r>
              <a:rPr lang="en-US" sz="2400" i="1" dirty="0">
                <a:cs typeface="Courier"/>
              </a:rPr>
              <a:t>data </a:t>
            </a:r>
            <a:r>
              <a:rPr lang="en-US" sz="2400" dirty="0">
                <a:cs typeface="Courier"/>
              </a:rPr>
              <a:t>that get printed to your Terminal screen</a:t>
            </a:r>
          </a:p>
          <a:p>
            <a:pPr marL="225425" lvl="1">
              <a:spcBef>
                <a:spcPts val="1200"/>
              </a:spcBef>
              <a:spcAft>
                <a:spcPts val="4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2: standard error  (STDERR)</a:t>
            </a:r>
          </a:p>
          <a:p>
            <a:pPr marL="1250950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the error messages that get printed to your Terminal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2921" y="5283015"/>
            <a:ext cx="5238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if we want to save this stuff?</a:t>
            </a:r>
          </a:p>
        </p:txBody>
      </p:sp>
    </p:spTree>
    <p:extLst>
      <p:ext uri="{BB962C8B-B14F-4D97-AF65-F5344CB8AC3E}">
        <p14:creationId xmlns:p14="http://schemas.microsoft.com/office/powerpoint/2010/main" val="3640135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68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Redirecting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STDOUT</a:t>
            </a:r>
            <a:r>
              <a:rPr lang="en-US" sz="3600" dirty="0">
                <a:solidFill>
                  <a:srgbClr val="0000FF"/>
                </a:solidFill>
                <a:cs typeface="Calibri"/>
              </a:rPr>
              <a:t> 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9623" y="1240194"/>
            <a:ext cx="8723875" cy="351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600" dirty="0">
                <a:latin typeface="Calibri"/>
                <a:cs typeface="Calibri"/>
              </a:rPr>
              <a:t>Use</a:t>
            </a:r>
            <a:r>
              <a:rPr lang="en-US" sz="2600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lang="en-US" sz="2600" dirty="0">
                <a:solidFill>
                  <a:srgbClr val="0000FF"/>
                </a:solidFill>
                <a:latin typeface="Courier"/>
                <a:cs typeface="Courier"/>
              </a:rPr>
              <a:t>&gt;</a:t>
            </a:r>
            <a:r>
              <a:rPr lang="en-US" sz="2600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lang="en-US" sz="2600" dirty="0">
                <a:latin typeface="Calibri"/>
                <a:cs typeface="Calibri"/>
              </a:rPr>
              <a:t>to redirect </a:t>
            </a:r>
            <a:r>
              <a:rPr lang="en-US" sz="2600" dirty="0">
                <a:latin typeface="Courier"/>
                <a:cs typeface="Courier"/>
              </a:rPr>
              <a:t>STDOUT</a:t>
            </a:r>
            <a:r>
              <a:rPr lang="en-US" sz="2600" dirty="0">
                <a:latin typeface="Calibri"/>
                <a:cs typeface="Calibri"/>
              </a:rPr>
              <a:t> to a file instead of the screen</a:t>
            </a:r>
          </a:p>
          <a:p>
            <a:pPr marL="225425" lvl="1">
              <a:spcAft>
                <a:spcPts val="400"/>
              </a:spcAft>
            </a:pPr>
            <a:endParaRPr lang="en-US" sz="26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600" dirty="0">
                <a:cs typeface="Courier"/>
              </a:rPr>
              <a:t>Write to a file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-al &gt; </a:t>
            </a:r>
            <a:r>
              <a:rPr lang="en-US" sz="2000" dirty="0" err="1">
                <a:latin typeface="Courier"/>
                <a:cs typeface="Courier"/>
              </a:rPr>
              <a:t>contents.txt</a:t>
            </a:r>
            <a:endParaRPr lang="en-US" sz="20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cat </a:t>
            </a:r>
            <a:r>
              <a:rPr lang="en-US" sz="2000" dirty="0">
                <a:latin typeface="Courier"/>
                <a:cs typeface="Courier"/>
              </a:rPr>
              <a:t>aa/</a:t>
            </a:r>
            <a:r>
              <a:rPr lang="en-US" sz="2000" dirty="0" err="1">
                <a:latin typeface="Courier"/>
                <a:cs typeface="Courier"/>
              </a:rPr>
              <a:t>nad</a:t>
            </a:r>
            <a:r>
              <a:rPr lang="en-US" sz="2000" dirty="0">
                <a:latin typeface="Courier"/>
                <a:cs typeface="Courier"/>
              </a:rPr>
              <a:t>*.</a:t>
            </a:r>
            <a:r>
              <a:rPr lang="en-US" sz="2000" dirty="0" err="1">
                <a:latin typeface="Courier"/>
                <a:cs typeface="Courier"/>
              </a:rPr>
              <a:t>fasta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&gt; </a:t>
            </a:r>
            <a:r>
              <a:rPr lang="en-US" sz="2000" dirty="0" err="1">
                <a:latin typeface="Courier"/>
                <a:cs typeface="Courier"/>
              </a:rPr>
              <a:t>nad_genes.fasta</a:t>
            </a:r>
            <a:endParaRPr lang="en-US" sz="20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endParaRPr lang="en-US" sz="12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600" dirty="0">
                <a:cs typeface="Courier"/>
              </a:rPr>
              <a:t>Append to an existing file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echo </a:t>
            </a:r>
            <a:r>
              <a:rPr lang="en-US" sz="2000" dirty="0">
                <a:latin typeface="Courier"/>
                <a:cs typeface="Courier"/>
              </a:rPr>
              <a:t>’directory listing’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&gt;</a:t>
            </a:r>
            <a:r>
              <a:rPr lang="en-US" sz="2000" dirty="0">
                <a:latin typeface="Courier"/>
                <a:cs typeface="Courier"/>
              </a:rPr>
              <a:t> </a:t>
            </a:r>
            <a:r>
              <a:rPr lang="en-US" sz="2000" dirty="0" err="1">
                <a:latin typeface="Courier"/>
                <a:cs typeface="Courier"/>
              </a:rPr>
              <a:t>dir.out</a:t>
            </a:r>
            <a:endParaRPr lang="en-US" sz="20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ls -al &gt;&gt; </a:t>
            </a:r>
            <a:r>
              <a:rPr lang="en-US" sz="2000" dirty="0" err="1">
                <a:latin typeface="Courier"/>
                <a:cs typeface="Courier"/>
              </a:rPr>
              <a:t>dir.out</a:t>
            </a:r>
            <a:endParaRPr lang="en-US" sz="2000" dirty="0">
              <a:latin typeface="Courier"/>
              <a:cs typeface="Couri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8E31D-B051-1140-B556-79F744DC37A7}"/>
              </a:ext>
            </a:extLst>
          </p:cNvPr>
          <p:cNvSpPr txBox="1"/>
          <p:nvPr/>
        </p:nvSpPr>
        <p:spPr>
          <a:xfrm>
            <a:off x="138363" y="5648826"/>
            <a:ext cx="8485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Write all the </a:t>
            </a:r>
            <a:r>
              <a:rPr lang="en-US" sz="1600" dirty="0" err="1"/>
              <a:t>nad</a:t>
            </a:r>
            <a:r>
              <a:rPr lang="en-US" sz="1600" dirty="0"/>
              <a:t> nucleotide sequences out to a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Now write all the </a:t>
            </a:r>
            <a:r>
              <a:rPr lang="en-US" sz="1600" dirty="0" err="1"/>
              <a:t>nad</a:t>
            </a:r>
            <a:r>
              <a:rPr lang="en-US" sz="1600" dirty="0"/>
              <a:t> AA sequences out to the same file, without overwriting the </a:t>
            </a:r>
            <a:r>
              <a:rPr lang="en-US" sz="1600" dirty="0" err="1"/>
              <a:t>nt</a:t>
            </a:r>
            <a:r>
              <a:rPr lang="en-US" sz="1600" dirty="0"/>
              <a:t> sequences.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1FBF5-3852-6D48-957A-1DD238D2A36C}"/>
              </a:ext>
            </a:extLst>
          </p:cNvPr>
          <p:cNvSpPr txBox="1"/>
          <p:nvPr/>
        </p:nvSpPr>
        <p:spPr>
          <a:xfrm>
            <a:off x="138363" y="5149516"/>
            <a:ext cx="1119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Try it.</a:t>
            </a:r>
          </a:p>
        </p:txBody>
      </p:sp>
    </p:spTree>
    <p:extLst>
      <p:ext uri="{BB962C8B-B14F-4D97-AF65-F5344CB8AC3E}">
        <p14:creationId xmlns:p14="http://schemas.microsoft.com/office/powerpoint/2010/main" val="74876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EDE4-1E6E-14DF-0311-171DF22B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442C-96D4-E9C3-7352-387DB9FD9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single file with the following data, in order: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watermelon genome </a:t>
            </a:r>
            <a:r>
              <a:rPr lang="en-US" sz="1800" dirty="0">
                <a:solidFill>
                  <a:srgbClr val="0432FF"/>
                </a:solidFill>
                <a:latin typeface="Courier" pitchFamily="2" charset="0"/>
              </a:rPr>
              <a:t>(`</a:t>
            </a:r>
            <a:r>
              <a:rPr lang="en-US" sz="1800" dirty="0" err="1">
                <a:solidFill>
                  <a:srgbClr val="0432FF"/>
                </a:solidFill>
                <a:latin typeface="Courier" pitchFamily="2" charset="0"/>
              </a:rPr>
              <a:t>citrullus_lanatus.fasta</a:t>
            </a:r>
            <a:r>
              <a:rPr lang="en-US" sz="1800" dirty="0">
                <a:solidFill>
                  <a:srgbClr val="0432FF"/>
                </a:solidFill>
                <a:latin typeface="Courier" pitchFamily="2" charset="0"/>
              </a:rPr>
              <a:t>`)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all the watermelon nucleotide sequences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all the watermelon amino acid sequences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your </a:t>
            </a:r>
            <a:r>
              <a:rPr lang="en-US" dirty="0" err="1"/>
              <a:t>ouput</a:t>
            </a:r>
            <a:r>
              <a:rPr lang="en-US" dirty="0"/>
              <a:t> to: </a:t>
            </a:r>
            <a:r>
              <a:rPr lang="en-US" sz="1800" dirty="0">
                <a:solidFill>
                  <a:srgbClr val="0432FF"/>
                </a:solidFill>
                <a:latin typeface="Courier" pitchFamily="2" charset="0"/>
              </a:rPr>
              <a:t>~/Desktop/</a:t>
            </a:r>
            <a:r>
              <a:rPr lang="en-US" sz="1800" dirty="0" err="1">
                <a:solidFill>
                  <a:srgbClr val="0432FF"/>
                </a:solidFill>
                <a:latin typeface="Courier" pitchFamily="2" charset="0"/>
              </a:rPr>
              <a:t>watermelon_data.fasta</a:t>
            </a:r>
            <a:endParaRPr lang="en-US" sz="1800" dirty="0">
              <a:solidFill>
                <a:srgbClr val="0432FF"/>
              </a:solidFill>
              <a:latin typeface="Courier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62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Redirecting output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pic>
        <p:nvPicPr>
          <p:cNvPr id="6" name="Picture 5" descr="Danger-Sig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10" y="1729193"/>
            <a:ext cx="1275457" cy="12652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85160" y="1946309"/>
            <a:ext cx="6899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redirect (single '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&gt;</a:t>
            </a:r>
            <a:r>
              <a:rPr lang="en-US" sz="2400" dirty="0"/>
              <a:t>') to an existing file, it will completely overwrite it without warning.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604" y="3665271"/>
            <a:ext cx="87238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5938" lvl="1" indent="-290513">
              <a:spcAft>
                <a:spcPts val="400"/>
              </a:spcAft>
              <a:buFont typeface="Lucida Grande"/>
              <a:buChar char="*"/>
            </a:pPr>
            <a:r>
              <a:rPr lang="en-US" sz="2600" u="sng" dirty="0">
                <a:latin typeface="Calibri"/>
                <a:cs typeface="Calibri"/>
              </a:rPr>
              <a:t>Note</a:t>
            </a:r>
            <a:r>
              <a:rPr lang="en-US" sz="2600" dirty="0">
                <a:latin typeface="Calibri"/>
                <a:cs typeface="Calibri"/>
              </a:rPr>
              <a:t>: Before combining lots of files, make sure there's a newline character after the last line in the files.</a:t>
            </a:r>
          </a:p>
        </p:txBody>
      </p:sp>
    </p:spTree>
    <p:extLst>
      <p:ext uri="{BB962C8B-B14F-4D97-AF65-F5344CB8AC3E}">
        <p14:creationId xmlns:p14="http://schemas.microsoft.com/office/powerpoint/2010/main" val="2045708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68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Redirecting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STDERR</a:t>
            </a:r>
            <a:r>
              <a:rPr lang="en-US" sz="3600" dirty="0">
                <a:solidFill>
                  <a:srgbClr val="0000FF"/>
                </a:solidFill>
                <a:cs typeface="Calibri"/>
              </a:rPr>
              <a:t> 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9623" y="1240194"/>
            <a:ext cx="8723875" cy="5457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400"/>
              </a:spcAft>
              <a:buFont typeface="Arial"/>
              <a:buChar char="•"/>
            </a:pPr>
            <a:r>
              <a:rPr lang="en-US" sz="2600" dirty="0">
                <a:latin typeface="Courier"/>
                <a:cs typeface="Courier"/>
              </a:rPr>
              <a:t>STDERR</a:t>
            </a:r>
            <a:r>
              <a:rPr lang="en-US" sz="2600" dirty="0">
                <a:cs typeface="Courier"/>
              </a:rPr>
              <a:t> </a:t>
            </a:r>
            <a:r>
              <a:rPr lang="en-US" sz="2600" dirty="0">
                <a:cs typeface="Calibri"/>
              </a:rPr>
              <a:t>is data stream #2</a:t>
            </a:r>
          </a:p>
          <a:p>
            <a:pPr lvl="1" indent="-457200">
              <a:spcAft>
                <a:spcPts val="400"/>
              </a:spcAft>
              <a:buFont typeface="Arial"/>
              <a:buChar char="•"/>
            </a:pPr>
            <a:r>
              <a:rPr lang="en-US" sz="2600" dirty="0">
                <a:latin typeface="Calibri"/>
                <a:cs typeface="Calibri"/>
              </a:rPr>
              <a:t>Use</a:t>
            </a:r>
            <a:r>
              <a:rPr lang="en-US" sz="2600" dirty="0">
                <a:solidFill>
                  <a:srgbClr val="0000FF"/>
                </a:solidFill>
                <a:latin typeface="Calibri"/>
                <a:cs typeface="Calibri"/>
              </a:rPr>
              <a:t>  2</a:t>
            </a:r>
            <a:r>
              <a:rPr lang="en-US" sz="2600" dirty="0">
                <a:solidFill>
                  <a:srgbClr val="0000FF"/>
                </a:solidFill>
                <a:latin typeface="Courier"/>
                <a:cs typeface="Courier"/>
              </a:rPr>
              <a:t>&gt;</a:t>
            </a:r>
            <a:r>
              <a:rPr lang="en-US" sz="2600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lang="en-US" sz="2600" dirty="0">
                <a:latin typeface="Calibri"/>
                <a:cs typeface="Calibri"/>
              </a:rPr>
              <a:t>to redirect </a:t>
            </a:r>
            <a:r>
              <a:rPr lang="en-US" sz="2600" dirty="0">
                <a:latin typeface="Courier"/>
                <a:cs typeface="Courier"/>
              </a:rPr>
              <a:t>STDERR</a:t>
            </a:r>
            <a:r>
              <a:rPr lang="en-US" sz="2600" dirty="0">
                <a:latin typeface="Calibri"/>
                <a:cs typeface="Calibri"/>
              </a:rPr>
              <a:t> to a file instead of the screen</a:t>
            </a:r>
          </a:p>
          <a:p>
            <a:pPr marL="225425" lvl="1">
              <a:spcAft>
                <a:spcPts val="400"/>
              </a:spcAft>
            </a:pPr>
            <a:endParaRPr lang="en-US" sz="22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600" dirty="0">
                <a:cs typeface="Courier"/>
              </a:rPr>
              <a:t>Write to a file</a:t>
            </a:r>
          </a:p>
          <a:p>
            <a:pPr marL="225425" lvl="1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–al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nada.TXT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206500" lvl="1" indent="-28575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prints STDOUT and STDERR to screen</a:t>
            </a:r>
          </a:p>
          <a:p>
            <a:pPr marL="225425" lvl="1">
              <a:spcBef>
                <a:spcPts val="1200"/>
              </a:spcBef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–al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nada.TXT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&gt;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listing.txt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2&gt;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err.txt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206500" lvl="1" indent="-28575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cs typeface="Calibri"/>
              </a:rPr>
              <a:t>prints STDOUT and STDERR to files</a:t>
            </a:r>
          </a:p>
          <a:p>
            <a:pPr marL="225425" lvl="1">
              <a:spcBef>
                <a:spcPts val="1200"/>
              </a:spcBef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–al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nada.TXT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2&gt;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err.txt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96975" lvl="1" indent="-342900">
              <a:spcBef>
                <a:spcPts val="1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cs typeface="Calibri"/>
              </a:rPr>
              <a:t>prints STDOUT to screen, STDERR to a file</a:t>
            </a:r>
          </a:p>
          <a:p>
            <a:pPr marL="225425" lvl="1">
              <a:spcBef>
                <a:spcPts val="1200"/>
              </a:spcBef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–al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nada.TXT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2&gt;&gt;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err.txt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96975" lvl="1" indent="-342900">
              <a:spcBef>
                <a:spcPts val="1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cs typeface="Calibri"/>
              </a:rPr>
              <a:t>appends STDERR to a file</a:t>
            </a:r>
          </a:p>
        </p:txBody>
      </p:sp>
    </p:spTree>
    <p:extLst>
      <p:ext uri="{BB962C8B-B14F-4D97-AF65-F5344CB8AC3E}">
        <p14:creationId xmlns:p14="http://schemas.microsoft.com/office/powerpoint/2010/main" val="4061715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EDE4-1E6E-14DF-0311-171DF22B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Do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442C-96D4-E9C3-7352-387DB9FD9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Create a single file with the following data, in order, with a single command: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watermelon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atp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nucleotide sequences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watermelon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atp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amino acid sequences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Write your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ouput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to:</a:t>
            </a:r>
            <a:r>
              <a:rPr lang="en-US" dirty="0"/>
              <a:t> </a:t>
            </a:r>
            <a:r>
              <a:rPr lang="en-US" sz="2800" dirty="0" err="1">
                <a:solidFill>
                  <a:srgbClr val="0432FF"/>
                </a:solidFill>
                <a:latin typeface="Courier" pitchFamily="2" charset="0"/>
              </a:rPr>
              <a:t>atp.fa</a:t>
            </a:r>
            <a:r>
              <a:rPr lang="en-US" sz="2800" dirty="0">
                <a:solidFill>
                  <a:srgbClr val="0432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in </a:t>
            </a:r>
            <a:r>
              <a:rPr lang="en-US" sz="2800" dirty="0">
                <a:solidFill>
                  <a:srgbClr val="0432FF"/>
                </a:solidFill>
                <a:latin typeface="Courier" pitchFamily="2" charset="0"/>
              </a:rPr>
              <a:t>$HOME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64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commands: Viewing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524529"/>
            <a:ext cx="87238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less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view a file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alibri"/>
              </a:rPr>
              <a:t>  </a:t>
            </a: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endParaRPr lang="en-US" sz="2200" dirty="0">
              <a:solidFill>
                <a:srgbClr val="0000FF"/>
              </a:solidFill>
              <a:cs typeface="Courier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cs typeface="Courier"/>
              </a:rPr>
              <a:t>enhanced functionality compared to </a:t>
            </a:r>
            <a:r>
              <a:rPr lang="en-US" sz="2200" dirty="0">
                <a:latin typeface="Courier"/>
                <a:cs typeface="Courier"/>
              </a:rPr>
              <a:t>more</a:t>
            </a:r>
            <a:r>
              <a:rPr lang="en-US" sz="2200" dirty="0">
                <a:cs typeface="Courier"/>
              </a:rPr>
              <a:t>  (less is more!)</a:t>
            </a: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cs typeface="Courier"/>
              </a:rPr>
              <a:t>space bar</a:t>
            </a:r>
            <a:r>
              <a:rPr lang="en-US" sz="2200" dirty="0">
                <a:cs typeface="Courier"/>
              </a:rPr>
              <a:t>,  </a:t>
            </a: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sz="2200" dirty="0">
                <a:ea typeface="Wingdings"/>
                <a:cs typeface="Courier"/>
                <a:sym typeface="Wingdings"/>
              </a:rPr>
              <a:t>,  </a:t>
            </a: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</a:t>
            </a:r>
            <a:r>
              <a:rPr lang="en-US" sz="2200" dirty="0">
                <a:ea typeface="Wingdings"/>
                <a:cs typeface="Courier"/>
                <a:sym typeface="Wingdings"/>
              </a:rPr>
              <a:t>,  </a:t>
            </a: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</a:t>
            </a:r>
            <a:r>
              <a:rPr lang="en-US" sz="2200" dirty="0">
                <a:ea typeface="Wingdings"/>
                <a:cs typeface="Courier"/>
                <a:sym typeface="Wingdings"/>
              </a:rPr>
              <a:t>, </a:t>
            </a: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200" dirty="0">
                <a:ea typeface="Wingdings"/>
                <a:cs typeface="Wingdings"/>
                <a:sym typeface="Wingdings"/>
              </a:rPr>
              <a:t> </a:t>
            </a:r>
            <a:r>
              <a:rPr lang="en-US" sz="2200" dirty="0">
                <a:ea typeface="Wingdings"/>
                <a:cs typeface="Courier"/>
                <a:sym typeface="Wingdings"/>
              </a:rPr>
              <a:t>to navigate</a:t>
            </a:r>
          </a:p>
        </p:txBody>
      </p:sp>
    </p:spTree>
    <p:extLst>
      <p:ext uri="{BB962C8B-B14F-4D97-AF65-F5344CB8AC3E}">
        <p14:creationId xmlns:p14="http://schemas.microsoft.com/office/powerpoint/2010/main" val="22174418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More on </a:t>
            </a:r>
            <a:r>
              <a:rPr lang="en-US" sz="3600" dirty="0">
                <a:latin typeface="Courier"/>
                <a:cs typeface="Courier"/>
              </a:rPr>
              <a:t>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148451"/>
            <a:ext cx="872387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endParaRPr lang="en-US" sz="2200" dirty="0">
              <a:solidFill>
                <a:srgbClr val="0000FF"/>
              </a:solidFill>
              <a:cs typeface="Courier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/search-term </a:t>
            </a:r>
            <a:r>
              <a:rPr lang="en-US" sz="2200" dirty="0">
                <a:cs typeface="Courier"/>
              </a:rPr>
              <a:t>to search</a:t>
            </a:r>
          </a:p>
          <a:p>
            <a:pPr marL="2114550" lvl="3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n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</a:t>
            </a:r>
            <a:r>
              <a:rPr lang="en-US" sz="2200" dirty="0">
                <a:cs typeface="Courier"/>
              </a:rPr>
              <a:t> for next occurrence</a:t>
            </a:r>
            <a:endParaRPr lang="en-US" sz="2200" dirty="0">
              <a:latin typeface="Courier"/>
              <a:ea typeface="Wingdings"/>
              <a:cs typeface="Courier"/>
              <a:sym typeface="Wingdings"/>
            </a:endParaRPr>
          </a:p>
          <a:p>
            <a:pPr marL="2114550" lvl="3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N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 </a:t>
            </a:r>
            <a:r>
              <a:rPr lang="en-US" sz="2200" dirty="0">
                <a:cs typeface="Courier"/>
              </a:rPr>
              <a:t>for previous occurrence</a:t>
            </a:r>
          </a:p>
          <a:p>
            <a:pPr marL="2114550" lvl="3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sz="2200" dirty="0">
                <a:solidFill>
                  <a:srgbClr val="FF0000"/>
                </a:solidFill>
                <a:ea typeface="Wingdings"/>
                <a:cs typeface="Courier"/>
                <a:sym typeface="Wingdings"/>
              </a:rPr>
              <a:t>  </a:t>
            </a:r>
            <a:r>
              <a:rPr lang="en-US" sz="2200" dirty="0">
                <a:ea typeface="Wingdings"/>
                <a:cs typeface="Courier"/>
                <a:sym typeface="Wingdings"/>
              </a:rPr>
              <a:t>and  </a:t>
            </a: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</a:t>
            </a:r>
            <a:endParaRPr lang="en-US" sz="2200" dirty="0">
              <a:solidFill>
                <a:srgbClr val="FF0000"/>
              </a:solidFill>
              <a:latin typeface="Courier"/>
              <a:ea typeface="Wingdings"/>
              <a:cs typeface="Courier"/>
              <a:sym typeface="Wingdings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cs typeface="Courier"/>
              </a:rPr>
              <a:t>g  </a:t>
            </a:r>
            <a:r>
              <a:rPr lang="en-US" sz="2200" dirty="0">
                <a:cs typeface="Courier"/>
              </a:rPr>
              <a:t>to top of file</a:t>
            </a:r>
            <a:endParaRPr lang="en-US" sz="2200" dirty="0">
              <a:latin typeface="Courier"/>
              <a:ea typeface="Wingdings"/>
              <a:cs typeface="Courier"/>
              <a:sym typeface="Wingdings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G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 </a:t>
            </a:r>
            <a:r>
              <a:rPr lang="en-US" sz="2200" dirty="0">
                <a:cs typeface="Courier"/>
              </a:rPr>
              <a:t>to bottom of file</a:t>
            </a: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q</a:t>
            </a:r>
            <a:r>
              <a:rPr lang="en-US" sz="2200" dirty="0">
                <a:solidFill>
                  <a:srgbClr val="FF0000"/>
                </a:solidFill>
                <a:ea typeface="Wingdings"/>
                <a:cs typeface="Courier"/>
                <a:sym typeface="Wingdings"/>
              </a:rPr>
              <a:t>  </a:t>
            </a:r>
            <a:r>
              <a:rPr lang="en-US" sz="2200" dirty="0">
                <a:ea typeface="Wingdings"/>
                <a:cs typeface="Courier"/>
                <a:sym typeface="Wingdings"/>
              </a:rPr>
              <a:t>to exit</a:t>
            </a: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ea typeface="Wingdings"/>
                <a:cs typeface="Courier"/>
                <a:sym typeface="Wingdings"/>
              </a:rPr>
              <a:t>Lots of options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				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-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cs typeface="Courier"/>
              </a:rPr>
              <a:t>: </a:t>
            </a:r>
            <a:r>
              <a:rPr lang="en-US" sz="2000" u="sng" dirty="0">
                <a:cs typeface="Courier"/>
              </a:rPr>
              <a:t>i</a:t>
            </a:r>
            <a:r>
              <a:rPr lang="en-US" sz="2000" dirty="0">
                <a:cs typeface="Courier"/>
              </a:rPr>
              <a:t>gnore case when searching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				-S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cs typeface="Courier"/>
              </a:rPr>
              <a:t>: do NOT fold long lines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				-N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cs typeface="Courier"/>
              </a:rPr>
              <a:t>: show line numbers</a:t>
            </a:r>
          </a:p>
          <a:p>
            <a:pPr marL="225425" lvl="1">
              <a:spcAft>
                <a:spcPts val="400"/>
              </a:spcAft>
            </a:pPr>
            <a:endParaRPr lang="en-US" sz="2000" dirty="0"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50925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More on </a:t>
            </a:r>
            <a:r>
              <a:rPr lang="en-US" sz="3600" dirty="0">
                <a:latin typeface="Courier"/>
                <a:cs typeface="Courier"/>
              </a:rPr>
              <a:t>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148451"/>
            <a:ext cx="872387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-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iSN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endParaRPr lang="en-US" sz="2200" dirty="0">
              <a:solidFill>
                <a:srgbClr val="0000FF"/>
              </a:solidFill>
              <a:cs typeface="Courier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/search-term </a:t>
            </a:r>
            <a:r>
              <a:rPr lang="en-US" sz="2200" dirty="0">
                <a:cs typeface="Courier"/>
              </a:rPr>
              <a:t>to search</a:t>
            </a:r>
          </a:p>
          <a:p>
            <a:pPr marL="2114550" lvl="3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n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</a:t>
            </a:r>
            <a:r>
              <a:rPr lang="en-US" sz="2200" dirty="0">
                <a:cs typeface="Courier"/>
              </a:rPr>
              <a:t> for next occurrence</a:t>
            </a:r>
            <a:endParaRPr lang="en-US" sz="2200" dirty="0">
              <a:latin typeface="Courier"/>
              <a:ea typeface="Wingdings"/>
              <a:cs typeface="Courier"/>
              <a:sym typeface="Wingdings"/>
            </a:endParaRPr>
          </a:p>
          <a:p>
            <a:pPr marL="2114550" lvl="3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N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 </a:t>
            </a:r>
            <a:r>
              <a:rPr lang="en-US" sz="2200" dirty="0">
                <a:cs typeface="Courier"/>
              </a:rPr>
              <a:t>for previous occurrence</a:t>
            </a:r>
          </a:p>
          <a:p>
            <a:pPr marL="2114550" lvl="3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sz="2200" dirty="0">
                <a:solidFill>
                  <a:srgbClr val="FF0000"/>
                </a:solidFill>
                <a:ea typeface="Wingdings"/>
                <a:cs typeface="Courier"/>
                <a:sym typeface="Wingdings"/>
              </a:rPr>
              <a:t>  </a:t>
            </a:r>
            <a:r>
              <a:rPr lang="en-US" sz="2200" dirty="0">
                <a:ea typeface="Wingdings"/>
                <a:cs typeface="Courier"/>
                <a:sym typeface="Wingdings"/>
              </a:rPr>
              <a:t>and  </a:t>
            </a:r>
            <a:r>
              <a:rPr lang="en-US" sz="22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</a:t>
            </a:r>
            <a:endParaRPr lang="en-US" sz="2200" dirty="0">
              <a:solidFill>
                <a:srgbClr val="FF0000"/>
              </a:solidFill>
              <a:latin typeface="Courier"/>
              <a:ea typeface="Wingdings"/>
              <a:cs typeface="Courier"/>
              <a:sym typeface="Wingdings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cs typeface="Courier"/>
              </a:rPr>
              <a:t>g  </a:t>
            </a:r>
            <a:r>
              <a:rPr lang="en-US" sz="2200" dirty="0">
                <a:cs typeface="Courier"/>
              </a:rPr>
              <a:t>to top of file</a:t>
            </a:r>
            <a:endParaRPr lang="en-US" sz="2200" dirty="0">
              <a:latin typeface="Courier"/>
              <a:ea typeface="Wingdings"/>
              <a:cs typeface="Courier"/>
              <a:sym typeface="Wingdings"/>
            </a:endParaRP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G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 </a:t>
            </a:r>
            <a:r>
              <a:rPr lang="en-US" sz="2200" dirty="0">
                <a:cs typeface="Courier"/>
              </a:rPr>
              <a:t>to bottom of file</a:t>
            </a: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q</a:t>
            </a:r>
            <a:r>
              <a:rPr lang="en-US" sz="2200" dirty="0">
                <a:solidFill>
                  <a:srgbClr val="FF0000"/>
                </a:solidFill>
                <a:ea typeface="Wingdings"/>
                <a:cs typeface="Courier"/>
                <a:sym typeface="Wingdings"/>
              </a:rPr>
              <a:t>  </a:t>
            </a:r>
            <a:r>
              <a:rPr lang="en-US" sz="2200" dirty="0">
                <a:ea typeface="Wingdings"/>
                <a:cs typeface="Courier"/>
                <a:sym typeface="Wingdings"/>
              </a:rPr>
              <a:t>to exit</a:t>
            </a:r>
          </a:p>
          <a:p>
            <a:pPr marL="1200150" lvl="1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ea typeface="Wingdings"/>
                <a:cs typeface="Courier"/>
                <a:sym typeface="Wingdings"/>
              </a:rPr>
              <a:t>Lots of options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				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-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cs typeface="Courier"/>
              </a:rPr>
              <a:t>: </a:t>
            </a:r>
            <a:r>
              <a:rPr lang="en-US" sz="2000" u="sng" dirty="0">
                <a:cs typeface="Courier"/>
              </a:rPr>
              <a:t>i</a:t>
            </a:r>
            <a:r>
              <a:rPr lang="en-US" sz="2000" dirty="0">
                <a:cs typeface="Courier"/>
              </a:rPr>
              <a:t>gnore case when searching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				-S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cs typeface="Courier"/>
              </a:rPr>
              <a:t>: do NOT fold long lines</a:t>
            </a:r>
          </a:p>
          <a:p>
            <a:pPr marL="225425" lvl="1">
              <a:spcAft>
                <a:spcPts val="400"/>
              </a:spcAft>
            </a:pP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				-N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cs typeface="Courier"/>
              </a:rPr>
              <a:t>: show line numbers</a:t>
            </a:r>
          </a:p>
          <a:p>
            <a:pPr marL="225425" lvl="1">
              <a:spcAft>
                <a:spcPts val="400"/>
              </a:spcAft>
            </a:pPr>
            <a:endParaRPr lang="en-US" sz="2000" dirty="0"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368581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Courier"/>
                <a:cs typeface="Courier"/>
              </a:rPr>
              <a:t>Man</a:t>
            </a:r>
            <a:r>
              <a:rPr lang="en-US" sz="3600" dirty="0"/>
              <a:t>ual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423650"/>
            <a:ext cx="8723875" cy="3252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800" u="sng" dirty="0">
                <a:cs typeface="Calibri"/>
              </a:rPr>
              <a:t>Two main ways to find help</a:t>
            </a:r>
            <a:r>
              <a:rPr lang="en-US" sz="2800" dirty="0">
                <a:cs typeface="Calibri"/>
              </a:rPr>
              <a:t>:</a:t>
            </a:r>
          </a:p>
          <a:p>
            <a:pPr marL="225425" lvl="1">
              <a:spcAft>
                <a:spcPts val="400"/>
              </a:spcAft>
            </a:pPr>
            <a:endParaRPr lang="en-US" sz="1400" dirty="0">
              <a:cs typeface="Calibri"/>
            </a:endParaRPr>
          </a:p>
          <a:p>
            <a:pPr marL="682625" lvl="1" indent="-457200">
              <a:spcAft>
                <a:spcPts val="400"/>
              </a:spcAft>
              <a:buFont typeface="+mj-lt"/>
              <a:buAutoNum type="arabicPeriod"/>
            </a:pPr>
            <a:r>
              <a:rPr lang="en-US" sz="2400" dirty="0">
                <a:cs typeface="Courier"/>
              </a:rPr>
              <a:t>Man pages contain comprehensive program usage and options</a:t>
            </a: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		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man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program</a:t>
            </a:r>
            <a:endParaRPr lang="en-US" sz="2400" u="sng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1657350" lvl="2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cs typeface="Courier"/>
              </a:rPr>
              <a:t>navigate and search as you would with </a:t>
            </a:r>
            <a:r>
              <a:rPr lang="en-US" sz="2200" dirty="0">
                <a:latin typeface="Courier"/>
                <a:cs typeface="Courier"/>
              </a:rPr>
              <a:t>less</a:t>
            </a:r>
            <a:endParaRPr lang="en-US" sz="2200" dirty="0">
              <a:ea typeface="Wingdings"/>
              <a:cs typeface="Courier"/>
              <a:sym typeface="Wingdings"/>
            </a:endParaRPr>
          </a:p>
          <a:p>
            <a:pPr marL="1657350" lvl="2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ourier"/>
                <a:ea typeface="Wingdings"/>
                <a:cs typeface="Courier"/>
                <a:sym typeface="Wingdings"/>
              </a:rPr>
              <a:t>q </a:t>
            </a:r>
            <a:r>
              <a:rPr lang="en-US" sz="2200" dirty="0">
                <a:ea typeface="Wingdings"/>
                <a:cs typeface="Courier"/>
                <a:sym typeface="Wingdings"/>
              </a:rPr>
              <a:t>to exit</a:t>
            </a:r>
          </a:p>
          <a:p>
            <a:pPr marL="1657350" lvl="2" indent="-282575"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ea typeface="Wingdings"/>
                <a:cs typeface="Courier"/>
                <a:sym typeface="Wingdings"/>
              </a:rPr>
              <a:t>generally straightforward, but not always</a:t>
            </a:r>
          </a:p>
          <a:p>
            <a:pPr marL="684213" lvl="2" indent="-458788">
              <a:spcAft>
                <a:spcPts val="400"/>
              </a:spcAft>
              <a:buFont typeface="+mj-lt"/>
              <a:buAutoNum type="arabicPeriod" startAt="2"/>
            </a:pPr>
            <a:r>
              <a:rPr lang="en-US" sz="2400" dirty="0">
                <a:ea typeface="Wingdings"/>
                <a:cs typeface="Courier"/>
                <a:sym typeface="Wingdings"/>
              </a:rPr>
              <a:t>Google</a:t>
            </a:r>
            <a:endParaRPr lang="en-US" sz="2400" dirty="0">
              <a:cs typeface="Courier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83709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16848</TotalTime>
  <Words>2288</Words>
  <Application>Microsoft Macintosh PowerPoint</Application>
  <PresentationFormat>On-screen Show (4:3)</PresentationFormat>
  <Paragraphs>334</Paragraphs>
  <Slides>40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Courier</vt:lpstr>
      <vt:lpstr>Lucida Grande</vt:lpstr>
      <vt:lpstr>Wingdings</vt:lpstr>
      <vt:lpstr>Office Theme</vt:lpstr>
      <vt:lpstr>Practical Programming for Biologists</vt:lpstr>
      <vt:lpstr>Course structure and grading</vt:lpstr>
      <vt:lpstr>To-do list</vt:lpstr>
      <vt:lpstr>Good books</vt:lpstr>
      <vt:lpstr>Choosing an Operating System for Data Science</vt:lpstr>
      <vt:lpstr>An aside: Unix vs. Linux</vt:lpstr>
      <vt:lpstr>PowerPoint Presentation</vt:lpstr>
      <vt:lpstr>Choosing an Operating System</vt:lpstr>
      <vt:lpstr>Choosing an Operating System</vt:lpstr>
      <vt:lpstr>Running Linux alongside Windows</vt:lpstr>
      <vt:lpstr>The command line</vt:lpstr>
      <vt:lpstr>What's a Shell?</vt:lpstr>
      <vt:lpstr>Bash</vt:lpstr>
      <vt:lpstr>PowerPoint Presentation</vt:lpstr>
      <vt:lpstr>The File System</vt:lpstr>
      <vt:lpstr>PowerPoint Presentation</vt:lpstr>
      <vt:lpstr>PowerPoint Presentation</vt:lpstr>
      <vt:lpstr>Your PATH</vt:lpstr>
      <vt:lpstr>*MAC SHORTCUT*</vt:lpstr>
      <vt:lpstr>*NEW RULE*</vt:lpstr>
      <vt:lpstr>Common Unix commands</vt:lpstr>
      <vt:lpstr>Common Unix commands</vt:lpstr>
      <vt:lpstr>*AWESOME SHORTCUTS*</vt:lpstr>
      <vt:lpstr>*MORE SHORTCUTS*</vt:lpstr>
      <vt:lpstr>Common Unix commands</vt:lpstr>
      <vt:lpstr>ls with arguments</vt:lpstr>
      <vt:lpstr>ls output</vt:lpstr>
      <vt:lpstr>* wildcards *</vt:lpstr>
      <vt:lpstr>Try it</vt:lpstr>
      <vt:lpstr>Common Unix commands: cat</vt:lpstr>
      <vt:lpstr>Data streams in the Shell</vt:lpstr>
      <vt:lpstr>Redirecting STDOUT </vt:lpstr>
      <vt:lpstr>Do this</vt:lpstr>
      <vt:lpstr>Redirecting output</vt:lpstr>
      <vt:lpstr>Redirecting STDERR </vt:lpstr>
      <vt:lpstr>Do this</vt:lpstr>
      <vt:lpstr>Common Unix commands: Viewing files</vt:lpstr>
      <vt:lpstr>More on less</vt:lpstr>
      <vt:lpstr>More on less</vt:lpstr>
      <vt:lpstr>Manual pages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Alverson</dc:creator>
  <cp:lastModifiedBy>Andrew Alverson</cp:lastModifiedBy>
  <cp:revision>477</cp:revision>
  <cp:lastPrinted>2014-01-13T15:10:31Z</cp:lastPrinted>
  <dcterms:created xsi:type="dcterms:W3CDTF">2013-01-08T16:50:50Z</dcterms:created>
  <dcterms:modified xsi:type="dcterms:W3CDTF">2026-01-09T15:29:20Z</dcterms:modified>
</cp:coreProperties>
</file>