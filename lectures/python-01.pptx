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79" r:id="rId8"/>
    <p:sldId id="286" r:id="rId9"/>
    <p:sldId id="285" r:id="rId10"/>
    <p:sldId id="283" r:id="rId11"/>
    <p:sldId id="266" r:id="rId12"/>
    <p:sldId id="278" r:id="rId13"/>
    <p:sldId id="271" r:id="rId14"/>
    <p:sldId id="272" r:id="rId15"/>
    <p:sldId id="282" r:id="rId16"/>
    <p:sldId id="281" r:id="rId17"/>
    <p:sldId id="287" r:id="rId18"/>
    <p:sldId id="273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987"/>
    <p:restoredTop sz="95710"/>
  </p:normalViewPr>
  <p:slideViewPr>
    <p:cSldViewPr snapToGrid="0" snapToObjects="1">
      <p:cViewPr varScale="1">
        <p:scale>
          <a:sx n="153" d="100"/>
          <a:sy n="153" d="100"/>
        </p:scale>
        <p:origin x="2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79718-57DF-3340-801D-13130AD4483E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13367-2562-024E-AEA3-5EC209975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62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13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01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5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2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8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78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9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33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610E-5B6A-4605-90CE-F80422F4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AA7D0-FFDE-FB8B-DD5D-3208713D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F2F82-893F-5853-9C52-D464BFEB3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19DEE-EDAA-5CF8-020A-949153D4D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D0FA-6A7B-8444-A447-3B5AA0B242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1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6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8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7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1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5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6120F-7C53-FA43-B47F-EC3C20EF4E1C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0D1C8-5007-F345-A3F1-8BAF3FCD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2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python-novice-inflammation/" TargetMode="External"/><Relationship Id="rId7" Type="http://schemas.openxmlformats.org/officeDocument/2006/relationships/hyperlink" Target="https://www.datacamp.com/community/blog/ipython-jupyter#gs.3u5kJq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camp.com/community/tutorials/tutorial-jupyter-notebook#gs.EJrQvQs" TargetMode="External"/><Relationship Id="rId5" Type="http://schemas.openxmlformats.org/officeDocument/2006/relationships/hyperlink" Target="https://jupyter-notebook-beginner-guide.readthedocs.io/en/latest/what_is_jupyter.html" TargetMode="External"/><Relationship Id="rId4" Type="http://schemas.openxmlformats.org/officeDocument/2006/relationships/hyperlink" Target="https://stackoverflow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jupyter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</p:spTree>
    <p:extLst>
      <p:ext uri="{BB962C8B-B14F-4D97-AF65-F5344CB8AC3E}">
        <p14:creationId xmlns:p14="http://schemas.microsoft.com/office/powerpoint/2010/main" val="96759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463794"/>
            <a:ext cx="8823220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285750">
              <a:spcAft>
                <a:spcPts val="800"/>
              </a:spcAft>
              <a:buFont typeface="Arial"/>
              <a:buChar char="•"/>
            </a:pPr>
            <a:r>
              <a:rPr lang="en-US" sz="3000" dirty="0">
                <a:latin typeface="+mj-lt"/>
                <a:cs typeface="Calibri"/>
              </a:rPr>
              <a:t>What is a program?</a:t>
            </a:r>
          </a:p>
          <a:p>
            <a:pPr marL="1485900" lvl="1" indent="-400050">
              <a:spcAft>
                <a:spcPts val="800"/>
              </a:spcAft>
              <a:buFont typeface="Lucida Grande"/>
              <a:buChar char="−"/>
            </a:pPr>
            <a:r>
              <a:rPr lang="en-US" sz="3000" dirty="0">
                <a:latin typeface="+mj-lt"/>
                <a:cs typeface="Calibri"/>
              </a:rPr>
              <a:t>Input</a:t>
            </a:r>
          </a:p>
          <a:p>
            <a:pPr marL="1485900" lvl="1" indent="-400050">
              <a:spcAft>
                <a:spcPts val="800"/>
              </a:spcAft>
              <a:buFont typeface="Lucida Grande"/>
              <a:buChar char="−"/>
            </a:pPr>
            <a:r>
              <a:rPr lang="en-US" sz="3000" dirty="0">
                <a:latin typeface="+mj-lt"/>
                <a:cs typeface="Calibri"/>
              </a:rPr>
              <a:t>Function</a:t>
            </a:r>
          </a:p>
          <a:p>
            <a:pPr marL="1485900" lvl="1" indent="-400050">
              <a:spcAft>
                <a:spcPts val="800"/>
              </a:spcAft>
              <a:buFont typeface="Lucida Grande"/>
              <a:buChar char="−"/>
            </a:pPr>
            <a:r>
              <a:rPr lang="en-US" sz="3000" dirty="0">
                <a:latin typeface="+mj-lt"/>
                <a:cs typeface="Calibri"/>
              </a:rPr>
              <a:t>Output</a:t>
            </a:r>
          </a:p>
          <a:p>
            <a:pPr lvl="1" indent="-285750">
              <a:spcAft>
                <a:spcPts val="800"/>
              </a:spcAft>
              <a:buFont typeface="Arial"/>
              <a:buChar char="•"/>
            </a:pPr>
            <a:r>
              <a:rPr lang="en-US" sz="3000" u="sng" dirty="0">
                <a:latin typeface="+mj-lt"/>
                <a:cs typeface="Calibri"/>
              </a:rPr>
              <a:t>Remember</a:t>
            </a:r>
            <a:r>
              <a:rPr lang="en-US" sz="3000" dirty="0">
                <a:latin typeface="+mj-lt"/>
                <a:cs typeface="Calibri"/>
              </a:rPr>
              <a:t>: Programs do what you tell them to do, </a:t>
            </a:r>
            <a:r>
              <a:rPr lang="en-US" sz="3000" b="1" i="1" dirty="0">
                <a:latin typeface="+mj-lt"/>
                <a:cs typeface="Calibri"/>
              </a:rPr>
              <a:t>not</a:t>
            </a:r>
            <a:r>
              <a:rPr lang="en-US" sz="3000" dirty="0">
                <a:latin typeface="+mj-lt"/>
                <a:cs typeface="Calibri"/>
              </a:rPr>
              <a:t> what you want them to do.</a:t>
            </a:r>
            <a:endParaRPr lang="en-US" sz="3000" dirty="0">
              <a:solidFill>
                <a:srgbClr val="0000FF"/>
              </a:solidFill>
              <a:latin typeface="+mj-lt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9534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The Programming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lvl="1" indent="-457200">
              <a:spcAft>
                <a:spcPts val="400"/>
              </a:spcAft>
              <a:buFont typeface="+mj-lt"/>
              <a:buAutoNum type="alphaUcPeriod"/>
            </a:pPr>
            <a:r>
              <a:rPr lang="en-US" sz="2400" dirty="0">
                <a:latin typeface="+mj-lt"/>
                <a:cs typeface="Calibri"/>
              </a:rPr>
              <a:t>Identify the required input(s)</a:t>
            </a:r>
          </a:p>
          <a:p>
            <a:pPr marL="682625" lvl="1" indent="-457200">
              <a:spcAft>
                <a:spcPts val="400"/>
              </a:spcAft>
              <a:buFont typeface="+mj-lt"/>
              <a:buAutoNum type="alphaUcPeriod"/>
            </a:pPr>
            <a:r>
              <a:rPr lang="en-US" sz="2400" dirty="0">
                <a:latin typeface="+mj-lt"/>
                <a:cs typeface="Calibri"/>
              </a:rPr>
              <a:t>Decide what the output will be and how you want it formatted</a:t>
            </a:r>
          </a:p>
          <a:p>
            <a:pPr marL="682625" lvl="1" indent="-457200">
              <a:spcAft>
                <a:spcPts val="400"/>
              </a:spcAft>
              <a:buFont typeface="+mj-lt"/>
              <a:buAutoNum type="alphaUcPeriod"/>
            </a:pPr>
            <a:r>
              <a:rPr lang="en-US" sz="2400" dirty="0">
                <a:latin typeface="+mj-lt"/>
                <a:cs typeface="Calibri"/>
              </a:rPr>
              <a:t>Make an overall design – the general method – for creating the output</a:t>
            </a:r>
          </a:p>
          <a:p>
            <a:pPr marL="682625" lvl="1" indent="-457200">
              <a:spcAft>
                <a:spcPts val="400"/>
              </a:spcAft>
              <a:buFont typeface="+mj-lt"/>
              <a:buAutoNum type="alphaUcPeriod"/>
            </a:pPr>
            <a:r>
              <a:rPr lang="en-US" sz="2400" dirty="0">
                <a:latin typeface="+mj-lt"/>
                <a:cs typeface="Calibri"/>
              </a:rPr>
              <a:t>Write some </a:t>
            </a:r>
            <a:r>
              <a:rPr lang="en-US" sz="2400" dirty="0" err="1">
                <a:latin typeface="+mj-lt"/>
                <a:cs typeface="Calibri"/>
              </a:rPr>
              <a:t>pseudocode</a:t>
            </a:r>
            <a:r>
              <a:rPr lang="en-US" sz="2400" dirty="0">
                <a:latin typeface="+mj-lt"/>
                <a:cs typeface="Calibri"/>
              </a:rPr>
              <a:t> (# Comments)</a:t>
            </a:r>
          </a:p>
          <a:p>
            <a:pPr marL="1654175" lvl="3" indent="-514350">
              <a:spcAft>
                <a:spcPts val="400"/>
              </a:spcAft>
              <a:buFont typeface="+mj-lt"/>
              <a:buAutoNum type="romanLcPeriod"/>
            </a:pPr>
            <a:r>
              <a:rPr lang="en-US" sz="2400" dirty="0">
                <a:latin typeface="+mj-lt"/>
                <a:cs typeface="Calibri"/>
              </a:rPr>
              <a:t>"Read in the FASTA file"</a:t>
            </a:r>
          </a:p>
          <a:p>
            <a:pPr marL="1654175" lvl="3" indent="-514350">
              <a:spcAft>
                <a:spcPts val="400"/>
              </a:spcAft>
              <a:buFont typeface="+mj-lt"/>
              <a:buAutoNum type="romanLcPeriod"/>
            </a:pPr>
            <a:r>
              <a:rPr lang="en-US" sz="2400" dirty="0">
                <a:latin typeface="+mj-lt"/>
                <a:cs typeface="Calibri"/>
              </a:rPr>
              <a:t>"Calculate the reverse complement"</a:t>
            </a:r>
          </a:p>
          <a:p>
            <a:pPr marL="2568575" lvl="5" indent="-514350">
              <a:spcAft>
                <a:spcPts val="400"/>
              </a:spcAft>
              <a:buFont typeface="+mj-lt"/>
              <a:buAutoNum type="romanLcPeriod"/>
            </a:pPr>
            <a:r>
              <a:rPr lang="en-US" sz="2400" dirty="0">
                <a:latin typeface="+mj-lt"/>
                <a:cs typeface="Calibri"/>
              </a:rPr>
              <a:t>"Reverse it"</a:t>
            </a:r>
          </a:p>
          <a:p>
            <a:pPr marL="2568575" lvl="5" indent="-514350">
              <a:spcAft>
                <a:spcPts val="400"/>
              </a:spcAft>
              <a:buFont typeface="+mj-lt"/>
              <a:buAutoNum type="romanLcPeriod"/>
            </a:pPr>
            <a:r>
              <a:rPr lang="en-US" sz="2400" dirty="0">
                <a:latin typeface="+mj-lt"/>
                <a:cs typeface="Calibri"/>
              </a:rPr>
              <a:t>"Substitute A for T, G for C, and vice-versa"</a:t>
            </a:r>
          </a:p>
          <a:p>
            <a:pPr marL="2568575" lvl="5" indent="-514350">
              <a:spcAft>
                <a:spcPts val="400"/>
              </a:spcAft>
              <a:buFont typeface="+mj-lt"/>
              <a:buAutoNum type="romanLcPeriod"/>
            </a:pPr>
            <a:r>
              <a:rPr lang="en-US" sz="2400" dirty="0">
                <a:latin typeface="+mj-lt"/>
                <a:cs typeface="Calibri"/>
              </a:rPr>
              <a:t>"Print it out in FASTA format"</a:t>
            </a:r>
          </a:p>
          <a:p>
            <a:pPr marL="682625" lvl="1" indent="-457200">
              <a:spcAft>
                <a:spcPts val="400"/>
              </a:spcAft>
              <a:buFont typeface="+mj-lt"/>
              <a:buAutoNum type="alphaUcPeriod"/>
            </a:pPr>
            <a:r>
              <a:rPr lang="en-US" sz="2400" dirty="0">
                <a:latin typeface="+mj-lt"/>
                <a:cs typeface="Calibri"/>
              </a:rPr>
              <a:t>Fill in the actual code</a:t>
            </a:r>
          </a:p>
        </p:txBody>
      </p:sp>
    </p:spTree>
    <p:extLst>
      <p:ext uri="{BB962C8B-B14F-4D97-AF65-F5344CB8AC3E}">
        <p14:creationId xmlns:p14="http://schemas.microsoft.com/office/powerpoint/2010/main" val="46979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Compiled vs. interpreted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185" y="1355844"/>
            <a:ext cx="8823220" cy="540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8325" lvl="1" indent="-342900">
              <a:spcAft>
                <a:spcPts val="400"/>
              </a:spcAft>
              <a:buFont typeface="Arial" charset="0"/>
              <a:buChar char="•"/>
            </a:pPr>
            <a:r>
              <a:rPr lang="en-US" sz="2400" b="1" dirty="0">
                <a:latin typeface="+mj-lt"/>
                <a:cs typeface="Calibri"/>
              </a:rPr>
              <a:t>Compiled programs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translate human-readable code into something recognizable by the processor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the programs need to be </a:t>
            </a:r>
            <a:r>
              <a:rPr lang="en-US" sz="2400" b="1" dirty="0">
                <a:latin typeface="+mj-lt"/>
                <a:cs typeface="Calibri"/>
              </a:rPr>
              <a:t>compiled</a:t>
            </a:r>
            <a:r>
              <a:rPr lang="en-US" sz="2400" dirty="0">
                <a:latin typeface="+mj-lt"/>
                <a:cs typeface="Calibri"/>
              </a:rPr>
              <a:t> before running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this is the case for most programs you use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examples: C, C++, Fortran</a:t>
            </a:r>
          </a:p>
          <a:p>
            <a:pPr marL="568325" lvl="1" indent="-342900">
              <a:spcAft>
                <a:spcPts val="400"/>
              </a:spcAft>
              <a:buFont typeface="Arial" charset="0"/>
              <a:buChar char="•"/>
            </a:pPr>
            <a:endParaRPr lang="en-US" sz="2400" dirty="0">
              <a:latin typeface="+mj-lt"/>
              <a:cs typeface="Calibri"/>
            </a:endParaRPr>
          </a:p>
          <a:p>
            <a:pPr marL="568325" lvl="1" indent="-342900">
              <a:spcAft>
                <a:spcPts val="400"/>
              </a:spcAft>
              <a:buFont typeface="Arial" charset="0"/>
              <a:buChar char="•"/>
            </a:pPr>
            <a:r>
              <a:rPr lang="en-US" sz="2400" b="1" dirty="0">
                <a:latin typeface="+mj-lt"/>
                <a:cs typeface="Calibri"/>
              </a:rPr>
              <a:t>Interpreted programs</a:t>
            </a:r>
            <a:r>
              <a:rPr lang="en-US" sz="2400" dirty="0">
                <a:latin typeface="+mj-lt"/>
                <a:cs typeface="Calibri"/>
              </a:rPr>
              <a:t>: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not compiled; human-readable code is processed on the fly by an </a:t>
            </a:r>
            <a:r>
              <a:rPr lang="en-US" sz="2400" b="1" dirty="0">
                <a:latin typeface="+mj-lt"/>
                <a:cs typeface="Calibri"/>
              </a:rPr>
              <a:t>interpreter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these are called </a:t>
            </a:r>
            <a:r>
              <a:rPr lang="en-US" sz="2400" b="1" dirty="0">
                <a:latin typeface="+mj-lt"/>
                <a:cs typeface="Calibri"/>
              </a:rPr>
              <a:t>"interpreted" </a:t>
            </a:r>
            <a:r>
              <a:rPr lang="en-US" sz="2400" dirty="0">
                <a:latin typeface="+mj-lt"/>
                <a:cs typeface="Calibri"/>
              </a:rPr>
              <a:t>or </a:t>
            </a:r>
            <a:r>
              <a:rPr lang="en-US" sz="2400" b="1" dirty="0">
                <a:latin typeface="+mj-lt"/>
                <a:cs typeface="Calibri"/>
              </a:rPr>
              <a:t>"scripting"</a:t>
            </a:r>
            <a:r>
              <a:rPr lang="en-US" sz="2400" dirty="0">
                <a:latin typeface="+mj-lt"/>
                <a:cs typeface="Calibri"/>
              </a:rPr>
              <a:t> languages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r>
              <a:rPr lang="en-US" sz="2400" dirty="0">
                <a:latin typeface="+mj-lt"/>
                <a:cs typeface="Calibri"/>
              </a:rPr>
              <a:t>examples: MATLAB, Perl, Python, R</a:t>
            </a:r>
          </a:p>
          <a:p>
            <a:pPr marL="1482725" lvl="3" indent="-342900">
              <a:spcAft>
                <a:spcPts val="400"/>
              </a:spcAft>
              <a:buFont typeface="Wingdings" charset="2"/>
              <a:buChar char="Ø"/>
            </a:pPr>
            <a:endParaRPr lang="en-US" sz="2400" b="1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78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Python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401503"/>
            <a:ext cx="3657600" cy="1901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1200" y="1401503"/>
            <a:ext cx="3342639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en-US" dirty="0">
                <a:latin typeface="+mj-lt"/>
              </a:rPr>
              <a:t>clean, readable code</a:t>
            </a:r>
          </a:p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en-US" dirty="0">
                <a:latin typeface="+mj-lt"/>
              </a:rPr>
              <a:t>huge momentum, especially in biology</a:t>
            </a:r>
          </a:p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en-US" dirty="0">
                <a:latin typeface="+mj-lt"/>
              </a:rPr>
              <a:t>good packages for mathematical and statistical analyses</a:t>
            </a:r>
          </a:p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en-US" dirty="0">
                <a:latin typeface="+mj-lt"/>
              </a:rPr>
              <a:t>good packages for data visualization</a:t>
            </a:r>
          </a:p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en-US" dirty="0">
                <a:latin typeface="+mj-lt"/>
              </a:rPr>
              <a:t>a very young language (1991)</a:t>
            </a:r>
          </a:p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endParaRPr lang="en-US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6C71A-30E8-BF45-98C8-1C30CB359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592" y="3861246"/>
            <a:ext cx="4223288" cy="270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7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Resources for Learning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1361" y="1401503"/>
            <a:ext cx="770127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+mj-lt"/>
              </a:rPr>
              <a:t>Python</a:t>
            </a:r>
            <a:endParaRPr lang="en-US" sz="2400" dirty="0">
              <a:latin typeface="+mj-lt"/>
              <a:hlinkClick r:id="rId3"/>
            </a:endParaRP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  <a:hlinkClick r:id="rId3"/>
              </a:rPr>
              <a:t>Software Carpentry</a:t>
            </a:r>
            <a:endParaRPr lang="en-US" sz="2400" dirty="0">
              <a:latin typeface="+mj-lt"/>
            </a:endParaRP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  <a:hlinkClick r:id="rId4"/>
              </a:rPr>
              <a:t>Stack Overflow</a:t>
            </a:r>
            <a:endParaRPr lang="en-US" sz="2400" dirty="0">
              <a:latin typeface="+mj-lt"/>
            </a:endParaRP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</a:rPr>
              <a:t>tons of others</a:t>
            </a: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endParaRPr lang="en-US" sz="2400" dirty="0">
              <a:latin typeface="+mj-lt"/>
            </a:endParaRPr>
          </a:p>
          <a:p>
            <a:pPr>
              <a:spcAft>
                <a:spcPts val="1200"/>
              </a:spcAft>
            </a:pPr>
            <a:r>
              <a:rPr lang="en-US" sz="2400" dirty="0" err="1">
                <a:latin typeface="+mj-lt"/>
              </a:rPr>
              <a:t>Jupyter</a:t>
            </a:r>
            <a:endParaRPr lang="en-US" sz="2400" dirty="0">
              <a:latin typeface="+mj-lt"/>
            </a:endParaRP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  <a:hlinkClick r:id="rId5"/>
              </a:rPr>
              <a:t>Introduction to the Jupyter Notebook</a:t>
            </a:r>
            <a:endParaRPr lang="en-US" sz="2400" dirty="0">
              <a:latin typeface="+mj-lt"/>
              <a:hlinkClick r:id="rId6"/>
            </a:endParaRPr>
          </a:p>
          <a:p>
            <a:pPr marL="742950" lvl="1" indent="-28575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  <a:hlinkClick r:id="rId6"/>
              </a:rPr>
              <a:t>Jupyter Notebook Tutorial</a:t>
            </a:r>
            <a:endParaRPr lang="en-US" sz="2400" dirty="0">
              <a:latin typeface="+mj-lt"/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val="178978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448666"/>
            <a:ext cx="8436747" cy="86238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Which version of Python?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1361" y="2000217"/>
            <a:ext cx="797632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</a:rPr>
              <a:t>Major changes from Python 2.7 to Python 3.x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</a:rPr>
              <a:t>Python 2.7 is probably installed on your computer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</a:rPr>
              <a:t>A lot of code still available in Python 2.7, but it stopped being supported in 2020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>
                <a:latin typeface="+mj-lt"/>
              </a:rPr>
              <a:t>We will learn Python 3.*</a:t>
            </a:r>
          </a:p>
        </p:txBody>
      </p:sp>
    </p:spTree>
    <p:extLst>
      <p:ext uri="{BB962C8B-B14F-4D97-AF65-F5344CB8AC3E}">
        <p14:creationId xmlns:p14="http://schemas.microsoft.com/office/powerpoint/2010/main" val="134439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What is </a:t>
            </a:r>
            <a:r>
              <a:rPr lang="en-US" sz="3600" dirty="0" err="1"/>
              <a:t>Jupyter</a:t>
            </a:r>
            <a:r>
              <a:rPr lang="en-US" sz="3600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3612" y="1928439"/>
            <a:ext cx="80187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charset="0"/>
              <a:buChar char="•"/>
            </a:pPr>
            <a:r>
              <a:rPr lang="en-US" sz="2400" dirty="0">
                <a:latin typeface="+mj-lt"/>
              </a:rPr>
              <a:t>open-source web application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</a:pPr>
            <a:r>
              <a:rPr lang="en-US" sz="2400" dirty="0">
                <a:latin typeface="+mj-lt"/>
              </a:rPr>
              <a:t>create digital notebooks that contain live code, equations, output including graphics, comments and text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</a:pPr>
            <a:r>
              <a:rPr lang="en-US" sz="2400" dirty="0">
                <a:latin typeface="+mj-lt"/>
              </a:rPr>
              <a:t>includes different kernels (i.e., the programs that run code), including Python and Julia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3854" y="5172461"/>
            <a:ext cx="1258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+mj-lt"/>
                <a:hlinkClick r:id="rId3"/>
              </a:rPr>
              <a:t>Jupyter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584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448666"/>
            <a:ext cx="8436747" cy="86238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Ways to write and execute Python code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0B61DA-EEAB-5FA1-58ED-BD3607A82F13}"/>
              </a:ext>
            </a:extLst>
          </p:cNvPr>
          <p:cNvGrpSpPr/>
          <p:nvPr/>
        </p:nvGrpSpPr>
        <p:grpSpPr>
          <a:xfrm>
            <a:off x="747220" y="1655250"/>
            <a:ext cx="2874875" cy="2304974"/>
            <a:chOff x="818503" y="1771439"/>
            <a:chExt cx="2874875" cy="2304974"/>
          </a:xfrm>
        </p:grpSpPr>
        <p:sp>
          <p:nvSpPr>
            <p:cNvPr id="4" name="TextBox 3"/>
            <p:cNvSpPr txBox="1"/>
            <p:nvPr/>
          </p:nvSpPr>
          <p:spPr>
            <a:xfrm>
              <a:off x="818503" y="1771439"/>
              <a:ext cx="26253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400" dirty="0">
                  <a:latin typeface="+mj-lt"/>
                </a:rPr>
                <a:t>plain text files with Python code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6C8363-120E-492C-9A89-C01F0360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503" y="2613373"/>
              <a:ext cx="2874875" cy="146304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5F7D0D-81AD-EC96-1CB8-FF0557715BF1}"/>
              </a:ext>
            </a:extLst>
          </p:cNvPr>
          <p:cNvGrpSpPr/>
          <p:nvPr/>
        </p:nvGrpSpPr>
        <p:grpSpPr>
          <a:xfrm>
            <a:off x="4482935" y="1583454"/>
            <a:ext cx="3913845" cy="2448567"/>
            <a:chOff x="4718580" y="1539061"/>
            <a:chExt cx="3913845" cy="24485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79135DF-F4A7-E471-5A46-88D4ABBB0ABC}"/>
                </a:ext>
              </a:extLst>
            </p:cNvPr>
            <p:cNvSpPr txBox="1"/>
            <p:nvPr/>
          </p:nvSpPr>
          <p:spPr>
            <a:xfrm>
              <a:off x="4718580" y="1539061"/>
              <a:ext cx="36069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+mj-lt"/>
                </a:rPr>
                <a:t>interactive</a:t>
              </a:r>
            </a:p>
            <a:p>
              <a:pPr algn="ctr"/>
              <a:r>
                <a:rPr lang="en-US" sz="2400" dirty="0">
                  <a:latin typeface="+mj-lt"/>
                </a:rPr>
                <a:t>"notebooks"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6BDC54-8952-021B-681F-D2D744F71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0833" y="2332778"/>
              <a:ext cx="3262411" cy="146304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BD76F8-FA81-B453-4D4F-C9A9F3FB280C}"/>
                </a:ext>
              </a:extLst>
            </p:cNvPr>
            <p:cNvSpPr txBox="1"/>
            <p:nvPr/>
          </p:nvSpPr>
          <p:spPr>
            <a:xfrm>
              <a:off x="6847649" y="3064298"/>
              <a:ext cx="1784776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+mj-lt"/>
                </a:rPr>
                <a:t>Jupyter</a:t>
              </a:r>
              <a:endParaRPr lang="en-US" dirty="0">
                <a:latin typeface="+mj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+mj-lt"/>
                </a:rPr>
                <a:t>VS Code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+mj-lt"/>
                </a:rPr>
                <a:t>Google </a:t>
              </a:r>
              <a:r>
                <a:rPr lang="en-US" dirty="0" err="1">
                  <a:latin typeface="+mj-lt"/>
                </a:rPr>
                <a:t>Colab</a:t>
              </a:r>
              <a:endParaRPr lang="en-US" dirty="0">
                <a:latin typeface="+mj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70AB42B-6341-82C2-E9C5-2D18708C278C}"/>
              </a:ext>
            </a:extLst>
          </p:cNvPr>
          <p:cNvSpPr txBox="1"/>
          <p:nvPr/>
        </p:nvSpPr>
        <p:spPr>
          <a:xfrm>
            <a:off x="747220" y="4446240"/>
            <a:ext cx="3101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dirty="0">
                <a:latin typeface="+mj-lt"/>
              </a:rPr>
              <a:t>from the command line</a:t>
            </a:r>
          </a:p>
        </p:txBody>
      </p:sp>
      <p:pic>
        <p:nvPicPr>
          <p:cNvPr id="15" name="Picture 14" descr="A screen shot of a computer&#10;&#10;Description automatically generated">
            <a:extLst>
              <a:ext uri="{FF2B5EF4-FFF2-40B4-BE49-F238E27FC236}">
                <a16:creationId xmlns:a16="http://schemas.microsoft.com/office/drawing/2014/main" id="{84FFFBA1-6903-EC12-DC9A-6CB0C3A23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19" y="4913720"/>
            <a:ext cx="7004627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9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Stand-alone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554" y="1894172"/>
            <a:ext cx="79868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#! /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usr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/bin/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env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python3</a:t>
            </a:r>
          </a:p>
          <a:p>
            <a:endParaRPr lang="en-US" sz="16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# my first script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print(‘hello world’)</a:t>
            </a:r>
          </a:p>
          <a:p>
            <a:endParaRPr lang="en-US" sz="16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802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Launch </a:t>
            </a:r>
            <a:r>
              <a:rPr lang="en-US" sz="3600" dirty="0" err="1"/>
              <a:t>Jupyter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2143760"/>
            <a:ext cx="657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python_scripts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$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python_scripts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$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jupyter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64640"/>
            <a:ext cx="3250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From the command line: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33278"/>
            <a:ext cx="2066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From the dock: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431637-2C38-6295-5682-1B52EA8EA067}"/>
              </a:ext>
            </a:extLst>
          </p:cNvPr>
          <p:cNvGrpSpPr/>
          <p:nvPr/>
        </p:nvGrpSpPr>
        <p:grpSpPr>
          <a:xfrm>
            <a:off x="901482" y="4131523"/>
            <a:ext cx="1770380" cy="2189632"/>
            <a:chOff x="901482" y="4131523"/>
            <a:chExt cx="1770380" cy="218963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482" y="4131523"/>
              <a:ext cx="1770380" cy="177038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972C67-64CF-1AEF-FA32-395AD3C6706D}"/>
                </a:ext>
              </a:extLst>
            </p:cNvPr>
            <p:cNvSpPr txBox="1"/>
            <p:nvPr/>
          </p:nvSpPr>
          <p:spPr>
            <a:xfrm>
              <a:off x="1348539" y="5951823"/>
              <a:ext cx="876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+mj-lt"/>
                </a:rPr>
                <a:t>Jupyter</a:t>
              </a:r>
              <a:endParaRPr lang="en-US" dirty="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65F24-16D2-E06A-43DD-9CC5620CEA8F}"/>
              </a:ext>
            </a:extLst>
          </p:cNvPr>
          <p:cNvGrpSpPr/>
          <p:nvPr/>
        </p:nvGrpSpPr>
        <p:grpSpPr>
          <a:xfrm>
            <a:off x="3288498" y="4129745"/>
            <a:ext cx="1773936" cy="2191410"/>
            <a:chOff x="3236160" y="4129745"/>
            <a:chExt cx="1773936" cy="2191410"/>
          </a:xfrm>
        </p:grpSpPr>
        <p:pic>
          <p:nvPicPr>
            <p:cNvPr id="8" name="Picture 7" descr="A blue logo with a white background&#10;&#10;Description automatically generated">
              <a:extLst>
                <a:ext uri="{FF2B5EF4-FFF2-40B4-BE49-F238E27FC236}">
                  <a16:creationId xmlns:a16="http://schemas.microsoft.com/office/drawing/2014/main" id="{4666AADF-ADE8-9C89-5E81-03E2431A2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6160" y="4129745"/>
              <a:ext cx="1773936" cy="177393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6CAE97-6246-FF3A-C253-34A5D702F8E1}"/>
                </a:ext>
              </a:extLst>
            </p:cNvPr>
            <p:cNvSpPr txBox="1"/>
            <p:nvPr/>
          </p:nvSpPr>
          <p:spPr>
            <a:xfrm>
              <a:off x="3649858" y="5951823"/>
              <a:ext cx="946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VS Code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3E08CE-59B3-1D70-8F95-45D2A96A06C9}"/>
              </a:ext>
            </a:extLst>
          </p:cNvPr>
          <p:cNvGrpSpPr/>
          <p:nvPr/>
        </p:nvGrpSpPr>
        <p:grpSpPr>
          <a:xfrm>
            <a:off x="5679070" y="4442491"/>
            <a:ext cx="1915140" cy="1878664"/>
            <a:chOff x="5679070" y="4442491"/>
            <a:chExt cx="1915140" cy="18786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ADA842C-9FC2-269D-7D46-326E7C3F0477}"/>
                </a:ext>
              </a:extLst>
            </p:cNvPr>
            <p:cNvGrpSpPr/>
            <p:nvPr/>
          </p:nvGrpSpPr>
          <p:grpSpPr>
            <a:xfrm>
              <a:off x="5954016" y="4442491"/>
              <a:ext cx="1365249" cy="1148444"/>
              <a:chOff x="5574394" y="4088502"/>
              <a:chExt cx="1365249" cy="1148444"/>
            </a:xfrm>
          </p:grpSpPr>
          <p:pic>
            <p:nvPicPr>
              <p:cNvPr id="10" name="Picture 9" descr="A close-up of a logo&#10;&#10;Description automatically generated">
                <a:extLst>
                  <a:ext uri="{FF2B5EF4-FFF2-40B4-BE49-F238E27FC236}">
                    <a16:creationId xmlns:a16="http://schemas.microsoft.com/office/drawing/2014/main" id="{87354EA1-4430-6270-4202-23D29E96AA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50438"/>
              <a:stretch/>
            </p:blipFill>
            <p:spPr>
              <a:xfrm>
                <a:off x="5574394" y="4088502"/>
                <a:ext cx="1365249" cy="574222"/>
              </a:xfrm>
              <a:prstGeom prst="rect">
                <a:avLst/>
              </a:prstGeom>
            </p:spPr>
          </p:pic>
          <p:pic>
            <p:nvPicPr>
              <p:cNvPr id="11" name="Picture 10" descr="A close-up of a logo&#10;&#10;Description automatically generated">
                <a:extLst>
                  <a:ext uri="{FF2B5EF4-FFF2-40B4-BE49-F238E27FC236}">
                    <a16:creationId xmlns:a16="http://schemas.microsoft.com/office/drawing/2014/main" id="{CF928311-CDD1-6FA8-6480-623269338A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51637"/>
              <a:stretch/>
            </p:blipFill>
            <p:spPr>
              <a:xfrm>
                <a:off x="5574394" y="4662724"/>
                <a:ext cx="1332203" cy="574222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7178FE-3BC8-0F86-BCB1-417443588651}"/>
                </a:ext>
              </a:extLst>
            </p:cNvPr>
            <p:cNvSpPr txBox="1"/>
            <p:nvPr/>
          </p:nvSpPr>
          <p:spPr>
            <a:xfrm>
              <a:off x="5679070" y="5951823"/>
              <a:ext cx="1915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from your browser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4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368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Basic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713900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5440"/>
            <a:ext cx="8220710" cy="4785359"/>
          </a:xfrm>
        </p:spPr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a variable is a name that holds a value, and the value can change</a:t>
            </a:r>
          </a:p>
          <a:p>
            <a:r>
              <a:rPr lang="en-US" dirty="0">
                <a:latin typeface="+mj-lt"/>
              </a:rPr>
              <a:t>variables have several important attributes</a:t>
            </a:r>
          </a:p>
          <a:p>
            <a:pPr marL="1147763" indent="-241300"/>
            <a:r>
              <a:rPr lang="en-US" b="1" dirty="0">
                <a:latin typeface="+mj-lt"/>
              </a:rPr>
              <a:t>name</a:t>
            </a:r>
            <a:r>
              <a:rPr lang="en-US" dirty="0">
                <a:latin typeface="+mj-lt"/>
              </a:rPr>
              <a:t>: a word that (ideally) describes what the variable is meant to contain (e.g., '</a:t>
            </a:r>
            <a:r>
              <a:rPr lang="en-US" dirty="0" err="1">
                <a:latin typeface="+mj-lt"/>
              </a:rPr>
              <a:t>plot_number</a:t>
            </a:r>
            <a:r>
              <a:rPr lang="en-US" dirty="0">
                <a:latin typeface="+mj-lt"/>
              </a:rPr>
              <a:t>', '</a:t>
            </a:r>
            <a:r>
              <a:rPr lang="en-US" dirty="0" err="1">
                <a:latin typeface="+mj-lt"/>
              </a:rPr>
              <a:t>dna_seq</a:t>
            </a:r>
            <a:r>
              <a:rPr lang="en-US" dirty="0">
                <a:latin typeface="+mj-lt"/>
              </a:rPr>
              <a:t>', '</a:t>
            </a:r>
            <a:r>
              <a:rPr lang="en-US" dirty="0" err="1">
                <a:latin typeface="+mj-lt"/>
              </a:rPr>
              <a:t>aa_seq</a:t>
            </a:r>
            <a:r>
              <a:rPr lang="en-US" dirty="0">
                <a:latin typeface="+mj-lt"/>
              </a:rPr>
              <a:t>')</a:t>
            </a:r>
          </a:p>
          <a:p>
            <a:pPr marL="1147763" indent="-241300"/>
            <a:r>
              <a:rPr lang="en-US" b="1" dirty="0">
                <a:latin typeface="+mj-lt"/>
              </a:rPr>
              <a:t>type:</a:t>
            </a:r>
            <a:r>
              <a:rPr lang="en-US" dirty="0">
                <a:latin typeface="+mj-lt"/>
              </a:rPr>
              <a:t> the kind of information the variable holds</a:t>
            </a:r>
          </a:p>
          <a:p>
            <a:pPr marL="1147763" indent="-241300"/>
            <a:r>
              <a:rPr lang="en-US" b="1" dirty="0">
                <a:latin typeface="+mj-lt"/>
              </a:rPr>
              <a:t>value:</a:t>
            </a:r>
            <a:r>
              <a:rPr lang="en-US" dirty="0">
                <a:latin typeface="+mj-lt"/>
              </a:rPr>
              <a:t> the actual piece of information the variable holds; a variable can only hold one type of value</a:t>
            </a:r>
          </a:p>
        </p:txBody>
      </p:sp>
    </p:spTree>
    <p:extLst>
      <p:ext uri="{BB962C8B-B14F-4D97-AF65-F5344CB8AC3E}">
        <p14:creationId xmlns:p14="http://schemas.microsoft.com/office/powerpoint/2010/main" val="1625650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2979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dirty="0"/>
              <a:t>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9384"/>
            <a:ext cx="8281670" cy="4940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There is a need to manage tradeoffs between versatility, utility, and memory consumption.</a:t>
            </a:r>
          </a:p>
          <a:p>
            <a:r>
              <a:rPr lang="en-US" sz="2000" b="1" dirty="0">
                <a:latin typeface="+mj-lt"/>
              </a:rPr>
              <a:t>integers </a:t>
            </a:r>
            <a:r>
              <a:rPr lang="en-US" sz="2000" dirty="0">
                <a:latin typeface="+mj-lt"/>
              </a:rPr>
              <a:t>(e.g., 1, 2500, –12)</a:t>
            </a:r>
          </a:p>
          <a:p>
            <a:r>
              <a:rPr lang="en-US" sz="2000" b="1" dirty="0">
                <a:latin typeface="+mj-lt"/>
              </a:rPr>
              <a:t>floating points: </a:t>
            </a:r>
            <a:r>
              <a:rPr lang="en-US" sz="2000" dirty="0">
                <a:latin typeface="+mj-lt"/>
              </a:rPr>
              <a:t>decimals that can "float" to any position (e.g., 3.14)</a:t>
            </a:r>
          </a:p>
          <a:p>
            <a:r>
              <a:rPr lang="en-US" sz="2000" b="1" dirty="0" err="1">
                <a:latin typeface="+mj-lt"/>
              </a:rPr>
              <a:t>booleans</a:t>
            </a:r>
            <a:r>
              <a:rPr lang="en-US" sz="2000" b="1" dirty="0">
                <a:latin typeface="+mj-lt"/>
              </a:rPr>
              <a:t>:</a:t>
            </a:r>
            <a:r>
              <a:rPr lang="en-US" sz="2000" dirty="0">
                <a:latin typeface="+mj-lt"/>
              </a:rPr>
              <a:t> True [1] or False [0]</a:t>
            </a:r>
          </a:p>
          <a:p>
            <a:r>
              <a:rPr lang="en-US" sz="2000" b="1" dirty="0">
                <a:latin typeface="+mj-lt"/>
              </a:rPr>
              <a:t>strings:</a:t>
            </a:r>
            <a:r>
              <a:rPr lang="en-US" sz="2000" dirty="0">
                <a:latin typeface="+mj-lt"/>
              </a:rPr>
              <a:t> a sequence of text or characters; can include numbers, which the computer sees as characters in string context</a:t>
            </a:r>
          </a:p>
          <a:p>
            <a:pPr marL="1036638" lvl="1" indent="-341313">
              <a:spcBef>
                <a:spcPts val="1000"/>
              </a:spcBef>
              <a:buFont typeface="Wingdings" charset="2"/>
              <a:buChar char="Ø"/>
            </a:pPr>
            <a:r>
              <a:rPr lang="en-US" sz="2000" dirty="0">
                <a:latin typeface="+mj-lt"/>
              </a:rPr>
              <a:t>addition of integers: 123 + 4 = 127</a:t>
            </a:r>
          </a:p>
          <a:p>
            <a:pPr marL="1036638" lvl="1" indent="-341313">
              <a:spcBef>
                <a:spcPts val="1000"/>
              </a:spcBef>
              <a:buFont typeface="Wingdings" charset="2"/>
              <a:buChar char="Ø"/>
            </a:pPr>
            <a:r>
              <a:rPr lang="en-US" sz="2000" dirty="0">
                <a:latin typeface="+mj-lt"/>
              </a:rPr>
              <a:t>addition of strings: "123" + "4" = "1234"</a:t>
            </a:r>
          </a:p>
          <a:p>
            <a:r>
              <a:rPr lang="en-US" sz="2000" b="1" dirty="0">
                <a:latin typeface="+mj-lt"/>
              </a:rPr>
              <a:t>arrays and lists: </a:t>
            </a:r>
            <a:r>
              <a:rPr lang="en-US" sz="2000" dirty="0">
                <a:latin typeface="+mj-lt"/>
              </a:rPr>
              <a:t>ordered lists of values or variables; Python distinguishes arrays vs. lists; basically, you can do math on arrays</a:t>
            </a:r>
          </a:p>
          <a:p>
            <a:r>
              <a:rPr lang="en-US" sz="2000" b="1" dirty="0">
                <a:latin typeface="+mj-lt"/>
              </a:rPr>
              <a:t>dictionaries: </a:t>
            </a:r>
            <a:r>
              <a:rPr lang="en-US" sz="2000" dirty="0">
                <a:latin typeface="+mj-lt"/>
              </a:rPr>
              <a:t>unordered lists of values or variables; individual elements are accessed by a "key", which can be a word, for example</a:t>
            </a:r>
          </a:p>
        </p:txBody>
      </p:sp>
    </p:spTree>
    <p:extLst>
      <p:ext uri="{BB962C8B-B14F-4D97-AF65-F5344CB8AC3E}">
        <p14:creationId xmlns:p14="http://schemas.microsoft.com/office/powerpoint/2010/main" val="434939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similar to little stand-alone programs called inside your program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+mj-lt"/>
              </a:rPr>
              <a:t>lots of them are built into the language</a:t>
            </a:r>
          </a:p>
          <a:p>
            <a:pPr marL="1147763" lvl="1" indent="-331788">
              <a:buFont typeface="Wingdings" charset="2"/>
              <a:buChar char="Ø"/>
            </a:pPr>
            <a:r>
              <a:rPr lang="en-US" sz="2000" dirty="0">
                <a:latin typeface="+mj-lt"/>
              </a:rPr>
              <a:t>print(), round(), etc.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+mj-lt"/>
              </a:rPr>
              <a:t>"pass" variables (called "parameters") within parentheses to a function</a:t>
            </a:r>
          </a:p>
          <a:p>
            <a:pPr marL="1147763" lvl="1" indent="-280988">
              <a:buFont typeface="Wingdings" charset="2"/>
              <a:buChar char="Ø"/>
            </a:pPr>
            <a:r>
              <a:rPr lang="en-US" sz="2000" dirty="0">
                <a:latin typeface="+mj-lt"/>
              </a:rPr>
              <a:t>print( 'hello world' )</a:t>
            </a:r>
          </a:p>
          <a:p>
            <a:pPr marL="1147763" lvl="1" indent="-280988">
              <a:buFont typeface="Wingdings" charset="2"/>
              <a:buChar char="Ø"/>
            </a:pPr>
            <a:r>
              <a:rPr lang="en-US" sz="2000" dirty="0">
                <a:latin typeface="+mj-lt"/>
              </a:rPr>
              <a:t>round(3.1452)</a:t>
            </a:r>
          </a:p>
          <a:p>
            <a:pPr marL="231775" lvl="1" indent="-231775">
              <a:spcBef>
                <a:spcPts val="1200"/>
              </a:spcBef>
              <a:buFont typeface="Arial" charset="0"/>
              <a:buChar char="•"/>
            </a:pPr>
            <a:r>
              <a:rPr lang="en-US" dirty="0">
                <a:latin typeface="+mj-lt"/>
              </a:rPr>
              <a:t>you can write your own functions for common tasks</a:t>
            </a:r>
          </a:p>
        </p:txBody>
      </p:sp>
    </p:spTree>
    <p:extLst>
      <p:ext uri="{BB962C8B-B14F-4D97-AF65-F5344CB8AC3E}">
        <p14:creationId xmlns:p14="http://schemas.microsoft.com/office/powerpoint/2010/main" val="1180817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27" y="176523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33" y="1504974"/>
            <a:ext cx="86045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latin typeface="+mj-lt"/>
              </a:rPr>
              <a:t>a </a:t>
            </a:r>
            <a:r>
              <a:rPr lang="en-US" sz="2400" b="1" dirty="0">
                <a:latin typeface="+mj-lt"/>
              </a:rPr>
              <a:t>method </a:t>
            </a:r>
            <a:r>
              <a:rPr lang="en-US" sz="2400" dirty="0">
                <a:latin typeface="+mj-lt"/>
              </a:rPr>
              <a:t>is like a </a:t>
            </a:r>
            <a:r>
              <a:rPr lang="en-US" sz="2400" i="1" dirty="0">
                <a:latin typeface="+mj-lt"/>
              </a:rPr>
              <a:t>function</a:t>
            </a:r>
            <a:r>
              <a:rPr lang="en-US" sz="2400" dirty="0">
                <a:latin typeface="+mj-lt"/>
              </a:rPr>
              <a:t> that belongs to a specific variable </a:t>
            </a:r>
            <a:r>
              <a:rPr lang="en-US" sz="2400" i="1" dirty="0">
                <a:latin typeface="+mj-lt"/>
              </a:rPr>
              <a:t>type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latin typeface="+mj-lt"/>
              </a:rPr>
              <a:t>use the dot notation to access these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554" y="3963603"/>
            <a:ext cx="7986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# the 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dir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() function lists all of the available variables and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# methods nested within a specified variable</a:t>
            </a:r>
          </a:p>
          <a:p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dir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my_dna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endParaRPr lang="en-US" sz="16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# use the </a:t>
            </a:r>
            <a:r>
              <a:rPr lang="en-US" sz="1600" i="1" dirty="0">
                <a:latin typeface="Courier" charset="0"/>
                <a:ea typeface="Courier" charset="0"/>
                <a:cs typeface="Courier" charset="0"/>
              </a:rPr>
              <a:t>lower()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method to print '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my_dna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' in lower case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print(</a:t>
            </a:r>
            <a:r>
              <a:rPr lang="en-US" sz="16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my_dna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sz="1600" dirty="0" err="1">
                <a:solidFill>
                  <a:srgbClr val="0432FF"/>
                </a:solidFill>
                <a:latin typeface="Courier" charset="0"/>
                <a:ea typeface="Courier" charset="0"/>
                <a:cs typeface="Courier" charset="0"/>
              </a:rPr>
              <a:t>lower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8969" y="2847821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variable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sz="2400" dirty="0" err="1">
                <a:solidFill>
                  <a:srgbClr val="0432FF"/>
                </a:solidFill>
                <a:latin typeface="Courier" charset="0"/>
                <a:ea typeface="Courier" charset="0"/>
                <a:cs typeface="Courier" charset="0"/>
              </a:rPr>
              <a:t>method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(method arguments)</a:t>
            </a:r>
          </a:p>
        </p:txBody>
      </p:sp>
    </p:spTree>
    <p:extLst>
      <p:ext uri="{BB962C8B-B14F-4D97-AF65-F5344CB8AC3E}">
        <p14:creationId xmlns:p14="http://schemas.microsoft.com/office/powerpoint/2010/main" val="1435617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728C-6CA2-DC53-248B-C7CE5A89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7A68-53EA-7DCE-D98C-FEAA8EF72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27" y="2539234"/>
            <a:ext cx="8436747" cy="862385"/>
          </a:xfrm>
        </p:spPr>
        <p:txBody>
          <a:bodyPr>
            <a:normAutofit/>
          </a:bodyPr>
          <a:lstStyle/>
          <a:p>
            <a:r>
              <a:rPr lang="en-US" sz="3600" dirty="0"/>
              <a:t>FYI</a:t>
            </a:r>
          </a:p>
        </p:txBody>
      </p:sp>
    </p:spTree>
    <p:extLst>
      <p:ext uri="{BB962C8B-B14F-4D97-AF65-F5344CB8AC3E}">
        <p14:creationId xmlns:p14="http://schemas.microsoft.com/office/powerpoint/2010/main" val="396505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130" y="405766"/>
            <a:ext cx="7886700" cy="1325563"/>
          </a:xfrm>
        </p:spPr>
        <p:txBody>
          <a:bodyPr/>
          <a:lstStyle/>
          <a:p>
            <a:r>
              <a:rPr lang="en-US" dirty="0">
                <a:ea typeface="Arial" charset="0"/>
                <a:cs typeface="Arial" charset="0"/>
              </a:rPr>
              <a:t>Mathematical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43369"/>
              </p:ext>
            </p:extLst>
          </p:nvPr>
        </p:nvGraphicFramePr>
        <p:xfrm>
          <a:off x="659130" y="2054206"/>
          <a:ext cx="7767819" cy="4041792"/>
        </p:xfrm>
        <a:graphic>
          <a:graphicData uri="http://schemas.openxmlformats.org/drawingml/2006/table">
            <a:tbl>
              <a:tblPr firstRow="1" firstCol="1" bandRow="1"/>
              <a:tblGrid>
                <a:gridCol w="258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6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Operator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Description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Usage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+ [Addition]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Adds values on either side of the operator.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a + b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- [Subtraction]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Subtracts right hand operand from left hand operand.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a – b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* [Multiplication]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Multiplies values on either side of the operator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a * b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/ [Division]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Divides left hand operand by right hand operand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b / a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% [Modulus]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Divides left hand operand by right hand operand and returns remainder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b % a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** [Exponent] 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Performs exponential (power) calculation on operators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a**b</a:t>
                      </a:r>
                    </a:p>
                  </a:txBody>
                  <a:tcPr marL="94729" marR="947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26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130" y="405767"/>
            <a:ext cx="7886700" cy="874394"/>
          </a:xfrm>
        </p:spPr>
        <p:txBody>
          <a:bodyPr/>
          <a:lstStyle/>
          <a:p>
            <a:r>
              <a:rPr lang="en-US" dirty="0">
                <a:ea typeface="Arial" charset="0"/>
                <a:cs typeface="Arial" charset="0"/>
              </a:rPr>
              <a:t>Comparison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614568"/>
              </p:ext>
            </p:extLst>
          </p:nvPr>
        </p:nvGraphicFramePr>
        <p:xfrm>
          <a:off x="659130" y="1759566"/>
          <a:ext cx="8027670" cy="4333212"/>
        </p:xfrm>
        <a:graphic>
          <a:graphicData uri="http://schemas.openxmlformats.org/drawingml/2006/table">
            <a:tbl>
              <a:tblPr firstRow="1" firstCol="1" bandRow="1"/>
              <a:tblGrid>
                <a:gridCol w="134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61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==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If the values of two operands are equal, then the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(a == b) is not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values of two operands are not equal,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the value of left operand is greater than the value of right operand,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(a &gt; b) is not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22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the value of left operand is less than the value of right operand,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(a &lt; b) is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the value of left operand is greater than or equal to the value of right operand,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(a &gt;= b) is not true.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83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the value of left operand is less than or equal to the value of right operand,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(a &lt;= b) is true.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586085" y="84296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a = 10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b =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3305" y="6449072"/>
            <a:ext cx="3940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charset="0"/>
                <a:ea typeface="Arial" charset="0"/>
                <a:cs typeface="Arial" charset="0"/>
              </a:rPr>
              <a:t>https://</a:t>
            </a:r>
            <a:r>
              <a:rPr lang="en-US" sz="1000" dirty="0" err="1">
                <a:latin typeface="Arial" charset="0"/>
                <a:ea typeface="Arial" charset="0"/>
                <a:cs typeface="Arial" charset="0"/>
              </a:rPr>
              <a:t>www.tutorialspoint.com</a:t>
            </a:r>
            <a:r>
              <a:rPr lang="en-US" sz="1000" dirty="0">
                <a:latin typeface="Arial" charset="0"/>
                <a:ea typeface="Arial" charset="0"/>
                <a:cs typeface="Arial" charset="0"/>
              </a:rPr>
              <a:t>/python/</a:t>
            </a:r>
            <a:r>
              <a:rPr lang="en-US" sz="1000" dirty="0" err="1">
                <a:latin typeface="Arial" charset="0"/>
                <a:ea typeface="Arial" charset="0"/>
                <a:cs typeface="Arial" charset="0"/>
              </a:rPr>
              <a:t>python_basic_operators.htm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8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7378"/>
              </p:ext>
            </p:extLst>
          </p:nvPr>
        </p:nvGraphicFramePr>
        <p:xfrm>
          <a:off x="315646" y="1646336"/>
          <a:ext cx="8573667" cy="3718560"/>
        </p:xfrm>
        <a:graphic>
          <a:graphicData uri="http://schemas.openxmlformats.org/drawingml/2006/table">
            <a:tbl>
              <a:tblPr firstRow="1" firstCol="1" bandRow="1"/>
              <a:tblGrid>
                <a:gridCol w="1754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Assigns values from right side operands to left side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" charset="0"/>
                          <a:ea typeface="Courier" charset="0"/>
                          <a:cs typeface="Courier" charset="0"/>
                        </a:rPr>
                        <a:t>c = a + b assigns value of a + b into 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+= Add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adds right operand to the left operand and assign the result to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+= a is equivalent to c = c +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-= Subtract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subtracts right operand from the left operand and assign the result to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-= a is equivalent to c = c -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*= Multiply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multiplies right operand with the left operand and assign the result to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*= a is equivalent to c = c *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/= Divide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divides left operand with the right operand and assign the result to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/= a is equivalent to c = c / ac /= a is equivalent to c = c /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%= Modulus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takes modulus using two operands and assign the result to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%= a is equivalent to c = c %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**= Exponent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Performs exponential (power) calculation on operators and assign value to the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**= a is equivalent to c = c **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//= Floor Division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It performs floor division on operators and assign value to the left operand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" charset="0"/>
                          <a:ea typeface="Courier" charset="0"/>
                          <a:cs typeface="Courier" charset="0"/>
                        </a:rPr>
                        <a:t>c //= a is equivalent to c = c //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44088" y="84296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a = 10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b =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3305" y="6449072"/>
            <a:ext cx="3940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charset="0"/>
                <a:ea typeface="Arial" charset="0"/>
                <a:cs typeface="Arial" charset="0"/>
              </a:rPr>
              <a:t>https://</a:t>
            </a:r>
            <a:r>
              <a:rPr lang="en-US" sz="1000" dirty="0" err="1">
                <a:latin typeface="Arial" charset="0"/>
                <a:ea typeface="Arial" charset="0"/>
                <a:cs typeface="Arial" charset="0"/>
              </a:rPr>
              <a:t>www.tutorialspoint.com</a:t>
            </a:r>
            <a:r>
              <a:rPr lang="en-US" sz="1000" dirty="0">
                <a:latin typeface="Arial" charset="0"/>
                <a:ea typeface="Arial" charset="0"/>
                <a:cs typeface="Arial" charset="0"/>
              </a:rPr>
              <a:t>/python/</a:t>
            </a:r>
            <a:r>
              <a:rPr lang="en-US" sz="1000" dirty="0" err="1">
                <a:latin typeface="Arial" charset="0"/>
                <a:ea typeface="Arial" charset="0"/>
                <a:cs typeface="Arial" charset="0"/>
              </a:rPr>
              <a:t>python_basic_operators.htm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15646" y="405767"/>
            <a:ext cx="7886700" cy="874394"/>
          </a:xfrm>
        </p:spPr>
        <p:txBody>
          <a:bodyPr/>
          <a:lstStyle/>
          <a:p>
            <a:r>
              <a:rPr lang="en-US" dirty="0">
                <a:ea typeface="Arial" charset="0"/>
                <a:cs typeface="Arial" charset="0"/>
              </a:rPr>
              <a:t>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1502645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20240"/>
              </p:ext>
            </p:extLst>
          </p:nvPr>
        </p:nvGraphicFramePr>
        <p:xfrm>
          <a:off x="315646" y="2218696"/>
          <a:ext cx="8573667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1754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Courier" charset="0"/>
                          <a:ea typeface="Courier" charset="0"/>
                          <a:cs typeface="Courier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" charset="0"/>
                          <a:ea typeface="Courier" charset="0"/>
                          <a:cs typeface="Courier" charset="0"/>
                        </a:rPr>
                        <a:t>Common symbols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and Logical AND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If both the operands are true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and, &amp;, &amp;&amp;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or Logical 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If any of the two operands are non-zero then condition becomes true.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or, |, ||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not Logical NOT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" charset="0"/>
                          <a:ea typeface="Courier" charset="0"/>
                          <a:cs typeface="Courier" charset="0"/>
                        </a:rPr>
                        <a:t>Used to reverse the logical state of its operand.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" charset="0"/>
                          <a:ea typeface="Courier" charset="0"/>
                          <a:cs typeface="Courier" charset="0"/>
                        </a:rPr>
                        <a:t>not, !, ~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15646" y="405767"/>
            <a:ext cx="7886700" cy="874394"/>
          </a:xfrm>
        </p:spPr>
        <p:txBody>
          <a:bodyPr/>
          <a:lstStyle/>
          <a:p>
            <a:r>
              <a:rPr lang="en-US" dirty="0">
                <a:ea typeface="Arial" charset="0"/>
                <a:cs typeface="Arial" charset="0"/>
              </a:rPr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107040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5031</TotalTime>
  <Words>1409</Words>
  <Application>Microsoft Macintosh PowerPoint</Application>
  <PresentationFormat>On-screen Show (4:3)</PresentationFormat>
  <Paragraphs>213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Courier</vt:lpstr>
      <vt:lpstr>Lucida Grande</vt:lpstr>
      <vt:lpstr>Wingdings</vt:lpstr>
      <vt:lpstr>Office Theme</vt:lpstr>
      <vt:lpstr>Introduction to Python</vt:lpstr>
      <vt:lpstr>Programming</vt:lpstr>
      <vt:lpstr>The Programming Process</vt:lpstr>
      <vt:lpstr>Compiled vs. interpreted programs</vt:lpstr>
      <vt:lpstr>Python</vt:lpstr>
      <vt:lpstr>Resources for Learning Python</vt:lpstr>
      <vt:lpstr>Which version of Python?</vt:lpstr>
      <vt:lpstr>What is Jupyter?</vt:lpstr>
      <vt:lpstr>Ways to write and execute Python code</vt:lpstr>
      <vt:lpstr>Stand-alone scripts</vt:lpstr>
      <vt:lpstr>Launch Jupyter</vt:lpstr>
      <vt:lpstr>Basic programming concepts</vt:lpstr>
      <vt:lpstr>Variables</vt:lpstr>
      <vt:lpstr>Variable types</vt:lpstr>
      <vt:lpstr>Functions</vt:lpstr>
      <vt:lpstr>Methods</vt:lpstr>
      <vt:lpstr>FYI</vt:lpstr>
      <vt:lpstr>Mathematical operators</vt:lpstr>
      <vt:lpstr>Comparison operators</vt:lpstr>
      <vt:lpstr>Assignment operators</vt:lpstr>
      <vt:lpstr>Logical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Andrew Alverson</dc:creator>
  <cp:lastModifiedBy>Andrew Alverson</cp:lastModifiedBy>
  <cp:revision>80</cp:revision>
  <dcterms:created xsi:type="dcterms:W3CDTF">2017-03-24T16:39:19Z</dcterms:created>
  <dcterms:modified xsi:type="dcterms:W3CDTF">2026-03-04T00:43:07Z</dcterms:modified>
</cp:coreProperties>
</file>