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handoutMasterIdLst>
    <p:handoutMasterId r:id="rId22"/>
  </p:handoutMasterIdLst>
  <p:sldIdLst>
    <p:sldId id="404" r:id="rId2"/>
    <p:sldId id="514" r:id="rId3"/>
    <p:sldId id="512" r:id="rId4"/>
    <p:sldId id="480" r:id="rId5"/>
    <p:sldId id="459" r:id="rId6"/>
    <p:sldId id="481" r:id="rId7"/>
    <p:sldId id="494" r:id="rId8"/>
    <p:sldId id="495" r:id="rId9"/>
    <p:sldId id="493" r:id="rId10"/>
    <p:sldId id="482" r:id="rId11"/>
    <p:sldId id="485" r:id="rId12"/>
    <p:sldId id="486" r:id="rId13"/>
    <p:sldId id="489" r:id="rId14"/>
    <p:sldId id="488" r:id="rId15"/>
    <p:sldId id="490" r:id="rId16"/>
    <p:sldId id="508" r:id="rId17"/>
    <p:sldId id="509" r:id="rId18"/>
    <p:sldId id="510" r:id="rId19"/>
    <p:sldId id="511"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266"/>
    <p:restoredTop sz="50000" autoAdjust="0"/>
  </p:normalViewPr>
  <p:slideViewPr>
    <p:cSldViewPr snapToGrid="0" snapToObjects="1">
      <p:cViewPr varScale="1">
        <p:scale>
          <a:sx n="123" d="100"/>
          <a:sy n="123" d="100"/>
        </p:scale>
        <p:origin x="2424" y="184"/>
      </p:cViewPr>
      <p:guideLst>
        <p:guide orient="horz" pos="2160"/>
        <p:guide pos="2880"/>
      </p:guideLst>
    </p:cSldViewPr>
  </p:slideViewPr>
  <p:notesTextViewPr>
    <p:cViewPr>
      <p:scale>
        <a:sx n="100" d="100"/>
        <a:sy n="100" d="100"/>
      </p:scale>
      <p:origin x="0" y="0"/>
    </p:cViewPr>
  </p:notesTextViewPr>
  <p:sorterViewPr>
    <p:cViewPr>
      <p:scale>
        <a:sx n="200" d="100"/>
        <a:sy n="200" d="100"/>
      </p:scale>
      <p:origin x="0" y="808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AAB08EE-425C-7E44-9D2F-3328869B9756}" type="datetimeFigureOut">
              <a:rPr lang="en-US" smtClean="0"/>
              <a:t>4/25/26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55FB4DF-11AF-7E42-841D-4EA344DFC73C}" type="slidenum">
              <a:rPr lang="en-US" smtClean="0"/>
              <a:t>‹#›</a:t>
            </a:fld>
            <a:endParaRPr lang="en-US"/>
          </a:p>
        </p:txBody>
      </p:sp>
    </p:spTree>
    <p:extLst>
      <p:ext uri="{BB962C8B-B14F-4D97-AF65-F5344CB8AC3E}">
        <p14:creationId xmlns:p14="http://schemas.microsoft.com/office/powerpoint/2010/main" val="337682117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563B117-C548-C24D-B5EC-9EEE3D79DFC1}" type="datetimeFigureOut">
              <a:rPr lang="en-US" smtClean="0"/>
              <a:t>4/25/26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57CD0FA-6A7B-8444-A447-3B5AA0B24289}" type="slidenum">
              <a:rPr lang="en-US" smtClean="0"/>
              <a:t>‹#›</a:t>
            </a:fld>
            <a:endParaRPr lang="en-US"/>
          </a:p>
        </p:txBody>
      </p:sp>
    </p:spTree>
    <p:extLst>
      <p:ext uri="{BB962C8B-B14F-4D97-AF65-F5344CB8AC3E}">
        <p14:creationId xmlns:p14="http://schemas.microsoft.com/office/powerpoint/2010/main" val="1996676326"/>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57CD0FA-6A7B-8444-A447-3B5AA0B24289}" type="slidenum">
              <a:rPr lang="en-US" smtClean="0"/>
              <a:t>1</a:t>
            </a:fld>
            <a:endParaRPr lang="en-US"/>
          </a:p>
        </p:txBody>
      </p:sp>
    </p:spTree>
    <p:extLst>
      <p:ext uri="{BB962C8B-B14F-4D97-AF65-F5344CB8AC3E}">
        <p14:creationId xmlns:p14="http://schemas.microsoft.com/office/powerpoint/2010/main" val="13338703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57CD0FA-6A7B-8444-A447-3B5AA0B24289}" type="slidenum">
              <a:rPr lang="en-US" smtClean="0"/>
              <a:t>3</a:t>
            </a:fld>
            <a:endParaRPr lang="en-US"/>
          </a:p>
        </p:txBody>
      </p:sp>
    </p:spTree>
    <p:extLst>
      <p:ext uri="{BB962C8B-B14F-4D97-AF65-F5344CB8AC3E}">
        <p14:creationId xmlns:p14="http://schemas.microsoft.com/office/powerpoint/2010/main" val="15528041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57CD0FA-6A7B-8444-A447-3B5AA0B24289}" type="slidenum">
              <a:rPr lang="en-US" smtClean="0"/>
              <a:t>4</a:t>
            </a:fld>
            <a:endParaRPr lang="en-US"/>
          </a:p>
        </p:txBody>
      </p:sp>
    </p:spTree>
    <p:extLst>
      <p:ext uri="{BB962C8B-B14F-4D97-AF65-F5344CB8AC3E}">
        <p14:creationId xmlns:p14="http://schemas.microsoft.com/office/powerpoint/2010/main" val="3146747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57CD0FA-6A7B-8444-A447-3B5AA0B24289}" type="slidenum">
              <a:rPr lang="en-US" smtClean="0"/>
              <a:t>5</a:t>
            </a:fld>
            <a:endParaRPr lang="en-US"/>
          </a:p>
        </p:txBody>
      </p:sp>
    </p:spTree>
    <p:extLst>
      <p:ext uri="{BB962C8B-B14F-4D97-AF65-F5344CB8AC3E}">
        <p14:creationId xmlns:p14="http://schemas.microsoft.com/office/powerpoint/2010/main" val="3146747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57CD0FA-6A7B-8444-A447-3B5AA0B24289}" type="slidenum">
              <a:rPr lang="en-US" smtClean="0"/>
              <a:t>6</a:t>
            </a:fld>
            <a:endParaRPr lang="en-US"/>
          </a:p>
        </p:txBody>
      </p:sp>
    </p:spTree>
    <p:extLst>
      <p:ext uri="{BB962C8B-B14F-4D97-AF65-F5344CB8AC3E}">
        <p14:creationId xmlns:p14="http://schemas.microsoft.com/office/powerpoint/2010/main" val="31467476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57CD0FA-6A7B-8444-A447-3B5AA0B24289}" type="slidenum">
              <a:rPr lang="en-US" smtClean="0"/>
              <a:t>7</a:t>
            </a:fld>
            <a:endParaRPr lang="en-US"/>
          </a:p>
        </p:txBody>
      </p:sp>
    </p:spTree>
    <p:extLst>
      <p:ext uri="{BB962C8B-B14F-4D97-AF65-F5344CB8AC3E}">
        <p14:creationId xmlns:p14="http://schemas.microsoft.com/office/powerpoint/2010/main" val="31467476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57CD0FA-6A7B-8444-A447-3B5AA0B24289}" type="slidenum">
              <a:rPr lang="en-US" smtClean="0"/>
              <a:t>8</a:t>
            </a:fld>
            <a:endParaRPr lang="en-US"/>
          </a:p>
        </p:txBody>
      </p:sp>
    </p:spTree>
    <p:extLst>
      <p:ext uri="{BB962C8B-B14F-4D97-AF65-F5344CB8AC3E}">
        <p14:creationId xmlns:p14="http://schemas.microsoft.com/office/powerpoint/2010/main" val="31467476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*Note:  the character classes are actually greatly expanded, accounting for the shift from ASCII to Unicode character encodings, e.g., \w now matches &gt;100,000 different characters</a:t>
            </a:r>
          </a:p>
          <a:p>
            <a:endParaRPr lang="en-US" dirty="0"/>
          </a:p>
        </p:txBody>
      </p:sp>
      <p:sp>
        <p:nvSpPr>
          <p:cNvPr id="4" name="Slide Number Placeholder 3"/>
          <p:cNvSpPr>
            <a:spLocks noGrp="1"/>
          </p:cNvSpPr>
          <p:nvPr>
            <p:ph type="sldNum" sz="quarter" idx="10"/>
          </p:nvPr>
        </p:nvSpPr>
        <p:spPr/>
        <p:txBody>
          <a:bodyPr/>
          <a:lstStyle/>
          <a:p>
            <a:fld id="{E57CD0FA-6A7B-8444-A447-3B5AA0B24289}" type="slidenum">
              <a:rPr lang="en-US" smtClean="0"/>
              <a:t>9</a:t>
            </a:fld>
            <a:endParaRPr lang="en-US"/>
          </a:p>
        </p:txBody>
      </p:sp>
    </p:spTree>
    <p:extLst>
      <p:ext uri="{BB962C8B-B14F-4D97-AF65-F5344CB8AC3E}">
        <p14:creationId xmlns:p14="http://schemas.microsoft.com/office/powerpoint/2010/main" val="31467476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57CD0FA-6A7B-8444-A447-3B5AA0B24289}" type="slidenum">
              <a:rPr lang="en-US" smtClean="0"/>
              <a:t>10</a:t>
            </a:fld>
            <a:endParaRPr lang="en-US"/>
          </a:p>
        </p:txBody>
      </p:sp>
    </p:spTree>
    <p:extLst>
      <p:ext uri="{BB962C8B-B14F-4D97-AF65-F5344CB8AC3E}">
        <p14:creationId xmlns:p14="http://schemas.microsoft.com/office/powerpoint/2010/main" val="31467476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57CD0FA-6A7B-8444-A447-3B5AA0B24289}" type="slidenum">
              <a:rPr lang="en-US" smtClean="0"/>
              <a:t>11</a:t>
            </a:fld>
            <a:endParaRPr lang="en-US"/>
          </a:p>
        </p:txBody>
      </p:sp>
    </p:spTree>
    <p:extLst>
      <p:ext uri="{BB962C8B-B14F-4D97-AF65-F5344CB8AC3E}">
        <p14:creationId xmlns:p14="http://schemas.microsoft.com/office/powerpoint/2010/main" val="31467476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57CD0FA-6A7B-8444-A447-3B5AA0B24289}" type="slidenum">
              <a:rPr lang="en-US" smtClean="0"/>
              <a:t>12</a:t>
            </a:fld>
            <a:endParaRPr lang="en-US"/>
          </a:p>
        </p:txBody>
      </p:sp>
    </p:spTree>
    <p:extLst>
      <p:ext uri="{BB962C8B-B14F-4D97-AF65-F5344CB8AC3E}">
        <p14:creationId xmlns:p14="http://schemas.microsoft.com/office/powerpoint/2010/main" val="31467476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57CD0FA-6A7B-8444-A447-3B5AA0B24289}" type="slidenum">
              <a:rPr lang="en-US" smtClean="0"/>
              <a:t>13</a:t>
            </a:fld>
            <a:endParaRPr lang="en-US"/>
          </a:p>
        </p:txBody>
      </p:sp>
    </p:spTree>
    <p:extLst>
      <p:ext uri="{BB962C8B-B14F-4D97-AF65-F5344CB8AC3E}">
        <p14:creationId xmlns:p14="http://schemas.microsoft.com/office/powerpoint/2010/main" val="7806662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Y, N</a:t>
            </a:r>
          </a:p>
        </p:txBody>
      </p:sp>
      <p:sp>
        <p:nvSpPr>
          <p:cNvPr id="4" name="Slide Number Placeholder 3"/>
          <p:cNvSpPr>
            <a:spLocks noGrp="1"/>
          </p:cNvSpPr>
          <p:nvPr>
            <p:ph type="sldNum" sz="quarter" idx="10"/>
          </p:nvPr>
        </p:nvSpPr>
        <p:spPr/>
        <p:txBody>
          <a:bodyPr/>
          <a:lstStyle/>
          <a:p>
            <a:fld id="{E57CD0FA-6A7B-8444-A447-3B5AA0B24289}" type="slidenum">
              <a:rPr lang="en-US" smtClean="0"/>
              <a:t>14</a:t>
            </a:fld>
            <a:endParaRPr lang="en-US"/>
          </a:p>
        </p:txBody>
      </p:sp>
    </p:spTree>
    <p:extLst>
      <p:ext uri="{BB962C8B-B14F-4D97-AF65-F5344CB8AC3E}">
        <p14:creationId xmlns:p14="http://schemas.microsoft.com/office/powerpoint/2010/main" val="37149130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
            </a:r>
            <a:r>
              <a:rPr lang="en-US" baseline="0" dirty="0"/>
              <a:t> Y</a:t>
            </a:r>
            <a:endParaRPr lang="en-US" dirty="0"/>
          </a:p>
        </p:txBody>
      </p:sp>
      <p:sp>
        <p:nvSpPr>
          <p:cNvPr id="4" name="Slide Number Placeholder 3"/>
          <p:cNvSpPr>
            <a:spLocks noGrp="1"/>
          </p:cNvSpPr>
          <p:nvPr>
            <p:ph type="sldNum" sz="quarter" idx="10"/>
          </p:nvPr>
        </p:nvSpPr>
        <p:spPr/>
        <p:txBody>
          <a:bodyPr/>
          <a:lstStyle/>
          <a:p>
            <a:fld id="{E57CD0FA-6A7B-8444-A447-3B5AA0B24289}" type="slidenum">
              <a:rPr lang="en-US" smtClean="0"/>
              <a:t>15</a:t>
            </a:fld>
            <a:endParaRPr lang="en-US"/>
          </a:p>
        </p:txBody>
      </p:sp>
    </p:spTree>
    <p:extLst>
      <p:ext uri="{BB962C8B-B14F-4D97-AF65-F5344CB8AC3E}">
        <p14:creationId xmlns:p14="http://schemas.microsoft.com/office/powerpoint/2010/main" val="19740449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57CD0FA-6A7B-8444-A447-3B5AA0B24289}" type="slidenum">
              <a:rPr lang="en-US" smtClean="0"/>
              <a:t>16</a:t>
            </a:fld>
            <a:endParaRPr lang="en-US"/>
          </a:p>
        </p:txBody>
      </p:sp>
    </p:spTree>
    <p:extLst>
      <p:ext uri="{BB962C8B-B14F-4D97-AF65-F5344CB8AC3E}">
        <p14:creationId xmlns:p14="http://schemas.microsoft.com/office/powerpoint/2010/main" val="31467476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57CD0FA-6A7B-8444-A447-3B5AA0B24289}" type="slidenum">
              <a:rPr lang="en-US" smtClean="0"/>
              <a:t>17</a:t>
            </a:fld>
            <a:endParaRPr lang="en-US"/>
          </a:p>
        </p:txBody>
      </p:sp>
    </p:spTree>
    <p:extLst>
      <p:ext uri="{BB962C8B-B14F-4D97-AF65-F5344CB8AC3E}">
        <p14:creationId xmlns:p14="http://schemas.microsoft.com/office/powerpoint/2010/main" val="31467476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57CD0FA-6A7B-8444-A447-3B5AA0B24289}" type="slidenum">
              <a:rPr lang="en-US" smtClean="0"/>
              <a:t>18</a:t>
            </a:fld>
            <a:endParaRPr lang="en-US"/>
          </a:p>
        </p:txBody>
      </p:sp>
    </p:spTree>
    <p:extLst>
      <p:ext uri="{BB962C8B-B14F-4D97-AF65-F5344CB8AC3E}">
        <p14:creationId xmlns:p14="http://schemas.microsoft.com/office/powerpoint/2010/main" val="31467476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57CD0FA-6A7B-8444-A447-3B5AA0B24289}" type="slidenum">
              <a:rPr lang="en-US" smtClean="0"/>
              <a:t>19</a:t>
            </a:fld>
            <a:endParaRPr lang="en-US"/>
          </a:p>
        </p:txBody>
      </p:sp>
    </p:spTree>
    <p:extLst>
      <p:ext uri="{BB962C8B-B14F-4D97-AF65-F5344CB8AC3E}">
        <p14:creationId xmlns:p14="http://schemas.microsoft.com/office/powerpoint/2010/main" val="31467476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a:t>Week 12, class 1</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492F12-F120-0D48-BEA4-7DA610DE9CC7}" type="slidenum">
              <a:rPr lang="en-US" smtClean="0"/>
              <a:t>‹#›</a:t>
            </a:fld>
            <a:endParaRPr lang="en-US"/>
          </a:p>
        </p:txBody>
      </p:sp>
    </p:spTree>
    <p:extLst>
      <p:ext uri="{BB962C8B-B14F-4D97-AF65-F5344CB8AC3E}">
        <p14:creationId xmlns:p14="http://schemas.microsoft.com/office/powerpoint/2010/main" val="3623059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12, class 1</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492F12-F120-0D48-BEA4-7DA610DE9CC7}" type="slidenum">
              <a:rPr lang="en-US" smtClean="0"/>
              <a:t>‹#›</a:t>
            </a:fld>
            <a:endParaRPr lang="en-US"/>
          </a:p>
        </p:txBody>
      </p:sp>
    </p:spTree>
    <p:extLst>
      <p:ext uri="{BB962C8B-B14F-4D97-AF65-F5344CB8AC3E}">
        <p14:creationId xmlns:p14="http://schemas.microsoft.com/office/powerpoint/2010/main" val="3581216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Week 12, class 1</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492F12-F120-0D48-BEA4-7DA610DE9CC7}" type="slidenum">
              <a:rPr lang="en-US" smtClean="0"/>
              <a:t>‹#›</a:t>
            </a:fld>
            <a:endParaRPr lang="en-US"/>
          </a:p>
        </p:txBody>
      </p:sp>
    </p:spTree>
    <p:extLst>
      <p:ext uri="{BB962C8B-B14F-4D97-AF65-F5344CB8AC3E}">
        <p14:creationId xmlns:p14="http://schemas.microsoft.com/office/powerpoint/2010/main" val="42116295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Week 12, class 1</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492F12-F120-0D48-BEA4-7DA610DE9CC7}" type="slidenum">
              <a:rPr lang="en-US" smtClean="0"/>
              <a:t>‹#›</a:t>
            </a:fld>
            <a:endParaRPr lang="en-US"/>
          </a:p>
        </p:txBody>
      </p:sp>
    </p:spTree>
    <p:extLst>
      <p:ext uri="{BB962C8B-B14F-4D97-AF65-F5344CB8AC3E}">
        <p14:creationId xmlns:p14="http://schemas.microsoft.com/office/powerpoint/2010/main" val="753028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Week 12, class 1</a:t>
            </a:r>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8492F12-F120-0D48-BEA4-7DA610DE9CC7}" type="slidenum">
              <a:rPr lang="en-US" smtClean="0"/>
              <a:t>‹#›</a:t>
            </a:fld>
            <a:endParaRPr lang="en-US"/>
          </a:p>
        </p:txBody>
      </p:sp>
    </p:spTree>
    <p:extLst>
      <p:ext uri="{BB962C8B-B14F-4D97-AF65-F5344CB8AC3E}">
        <p14:creationId xmlns:p14="http://schemas.microsoft.com/office/powerpoint/2010/main" val="3519970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Week 12, class 1</a:t>
            </a: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8492F12-F120-0D48-BEA4-7DA610DE9CC7}" type="slidenum">
              <a:rPr lang="en-US" smtClean="0"/>
              <a:t>‹#›</a:t>
            </a:fld>
            <a:endParaRPr lang="en-US"/>
          </a:p>
        </p:txBody>
      </p:sp>
    </p:spTree>
    <p:extLst>
      <p:ext uri="{BB962C8B-B14F-4D97-AF65-F5344CB8AC3E}">
        <p14:creationId xmlns:p14="http://schemas.microsoft.com/office/powerpoint/2010/main" val="3879617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Week 12, class 1</a:t>
            </a:r>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8492F12-F120-0D48-BEA4-7DA610DE9CC7}" type="slidenum">
              <a:rPr lang="en-US" smtClean="0"/>
              <a:t>‹#›</a:t>
            </a:fld>
            <a:endParaRPr lang="en-US"/>
          </a:p>
        </p:txBody>
      </p:sp>
    </p:spTree>
    <p:extLst>
      <p:ext uri="{BB962C8B-B14F-4D97-AF65-F5344CB8AC3E}">
        <p14:creationId xmlns:p14="http://schemas.microsoft.com/office/powerpoint/2010/main" val="241917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Week 12, class 1</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492F12-F120-0D48-BEA4-7DA610DE9CC7}" type="slidenum">
              <a:rPr lang="en-US" smtClean="0"/>
              <a:t>‹#›</a:t>
            </a:fld>
            <a:endParaRPr lang="en-US"/>
          </a:p>
        </p:txBody>
      </p:sp>
    </p:spTree>
    <p:extLst>
      <p:ext uri="{BB962C8B-B14F-4D97-AF65-F5344CB8AC3E}">
        <p14:creationId xmlns:p14="http://schemas.microsoft.com/office/powerpoint/2010/main" val="2165001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Week 12, class 1</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492F12-F120-0D48-BEA4-7DA610DE9CC7}" type="slidenum">
              <a:rPr lang="en-US" smtClean="0"/>
              <a:t>‹#›</a:t>
            </a:fld>
            <a:endParaRPr lang="en-US"/>
          </a:p>
        </p:txBody>
      </p:sp>
    </p:spTree>
    <p:extLst>
      <p:ext uri="{BB962C8B-B14F-4D97-AF65-F5344CB8AC3E}">
        <p14:creationId xmlns:p14="http://schemas.microsoft.com/office/powerpoint/2010/main" val="9120307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12, class 1</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492F12-F120-0D48-BEA4-7DA610DE9CC7}" type="slidenum">
              <a:rPr lang="en-US" smtClean="0"/>
              <a:t>‹#›</a:t>
            </a:fld>
            <a:endParaRPr lang="en-US"/>
          </a:p>
        </p:txBody>
      </p:sp>
    </p:spTree>
    <p:extLst>
      <p:ext uri="{BB962C8B-B14F-4D97-AF65-F5344CB8AC3E}">
        <p14:creationId xmlns:p14="http://schemas.microsoft.com/office/powerpoint/2010/main" val="7355962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12, class 1</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492F12-F120-0D48-BEA4-7DA610DE9CC7}" type="slidenum">
              <a:rPr lang="en-US" smtClean="0"/>
              <a:t>‹#›</a:t>
            </a:fld>
            <a:endParaRPr lang="en-US"/>
          </a:p>
        </p:txBody>
      </p:sp>
    </p:spTree>
    <p:extLst>
      <p:ext uri="{BB962C8B-B14F-4D97-AF65-F5344CB8AC3E}">
        <p14:creationId xmlns:p14="http://schemas.microsoft.com/office/powerpoint/2010/main" val="27648714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Week 12, class 1</a:t>
            </a: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492F12-F120-0D48-BEA4-7DA610DE9CC7}" type="slidenum">
              <a:rPr lang="en-US" smtClean="0"/>
              <a:t>‹#›</a:t>
            </a:fld>
            <a:endParaRPr lang="en-US"/>
          </a:p>
        </p:txBody>
      </p:sp>
    </p:spTree>
    <p:extLst>
      <p:ext uri="{BB962C8B-B14F-4D97-AF65-F5344CB8AC3E}">
        <p14:creationId xmlns:p14="http://schemas.microsoft.com/office/powerpoint/2010/main" val="11823389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0167" y="1557666"/>
            <a:ext cx="8436747" cy="862385"/>
          </a:xfrm>
        </p:spPr>
        <p:txBody>
          <a:bodyPr>
            <a:normAutofit/>
          </a:bodyPr>
          <a:lstStyle/>
          <a:p>
            <a:r>
              <a:rPr lang="en-US" sz="4800" dirty="0"/>
              <a:t>Regular Expressions</a:t>
            </a:r>
          </a:p>
        </p:txBody>
      </p:sp>
    </p:spTree>
    <p:extLst>
      <p:ext uri="{BB962C8B-B14F-4D97-AF65-F5344CB8AC3E}">
        <p14:creationId xmlns:p14="http://schemas.microsoft.com/office/powerpoint/2010/main" val="20594361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E277D-CFA7-D741-8D55-D8646E2D0D84}"/>
              </a:ext>
            </a:extLst>
          </p:cNvPr>
          <p:cNvSpPr>
            <a:spLocks noGrp="1"/>
          </p:cNvSpPr>
          <p:nvPr>
            <p:ph type="title"/>
          </p:nvPr>
        </p:nvSpPr>
        <p:spPr/>
        <p:txBody>
          <a:bodyPr/>
          <a:lstStyle/>
          <a:p>
            <a:r>
              <a:rPr lang="en-US" dirty="0"/>
              <a:t>A story about Katherine</a:t>
            </a:r>
          </a:p>
        </p:txBody>
      </p:sp>
      <p:sp>
        <p:nvSpPr>
          <p:cNvPr id="3" name="Content Placeholder 2">
            <a:extLst>
              <a:ext uri="{FF2B5EF4-FFF2-40B4-BE49-F238E27FC236}">
                <a16:creationId xmlns:a16="http://schemas.microsoft.com/office/drawing/2014/main" id="{6F79CA6F-3BC9-3844-B084-D3ED05DD652A}"/>
              </a:ext>
            </a:extLst>
          </p:cNvPr>
          <p:cNvSpPr>
            <a:spLocks noGrp="1"/>
          </p:cNvSpPr>
          <p:nvPr>
            <p:ph idx="1"/>
          </p:nvPr>
        </p:nvSpPr>
        <p:spPr>
          <a:xfrm>
            <a:off x="457200" y="1559105"/>
            <a:ext cx="8229600" cy="3649894"/>
          </a:xfrm>
        </p:spPr>
        <p:txBody>
          <a:bodyPr/>
          <a:lstStyle/>
          <a:p>
            <a:pPr marL="0" indent="0">
              <a:buNone/>
            </a:pPr>
            <a:r>
              <a:rPr lang="en-US" dirty="0"/>
              <a:t>Katherine went to the concert to see Catheryn and the Cathryn’s. She ran into her friend Kathryn, who introduced Katherine to her friend Catherine. Together, they enjoyed the concert while texting inaudible snippets to their mutual friend, Kathrin. Their mercurial friend, </a:t>
            </a:r>
            <a:r>
              <a:rPr lang="en-US" dirty="0" err="1"/>
              <a:t>katharine</a:t>
            </a:r>
            <a:r>
              <a:rPr lang="en-US" dirty="0"/>
              <a:t>, felt left out.</a:t>
            </a:r>
          </a:p>
        </p:txBody>
      </p:sp>
      <p:sp>
        <p:nvSpPr>
          <p:cNvPr id="4" name="TextBox 3">
            <a:extLst>
              <a:ext uri="{FF2B5EF4-FFF2-40B4-BE49-F238E27FC236}">
                <a16:creationId xmlns:a16="http://schemas.microsoft.com/office/drawing/2014/main" id="{0D5BDC73-0994-1640-933A-50A9DEC7C3CA}"/>
              </a:ext>
            </a:extLst>
          </p:cNvPr>
          <p:cNvSpPr txBox="1"/>
          <p:nvPr/>
        </p:nvSpPr>
        <p:spPr>
          <a:xfrm>
            <a:off x="2627205" y="5537771"/>
            <a:ext cx="3889591" cy="430887"/>
          </a:xfrm>
          <a:prstGeom prst="rect">
            <a:avLst/>
          </a:prstGeom>
          <a:noFill/>
        </p:spPr>
        <p:txBody>
          <a:bodyPr wrap="none" rtlCol="0">
            <a:spAutoFit/>
          </a:bodyPr>
          <a:lstStyle/>
          <a:p>
            <a:pPr algn="ctr"/>
            <a:r>
              <a:rPr lang="en-US" sz="2200" dirty="0">
                <a:solidFill>
                  <a:srgbClr val="FF0000"/>
                </a:solidFill>
              </a:rPr>
              <a:t>Find all variations of ”Katherine”</a:t>
            </a:r>
          </a:p>
        </p:txBody>
      </p:sp>
    </p:spTree>
    <p:extLst>
      <p:ext uri="{BB962C8B-B14F-4D97-AF65-F5344CB8AC3E}">
        <p14:creationId xmlns:p14="http://schemas.microsoft.com/office/powerpoint/2010/main" val="1919293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0389" y="357279"/>
            <a:ext cx="8436747" cy="862385"/>
          </a:xfrm>
        </p:spPr>
        <p:txBody>
          <a:bodyPr>
            <a:normAutofit/>
          </a:bodyPr>
          <a:lstStyle/>
          <a:p>
            <a:r>
              <a:rPr lang="en-US" sz="3600" dirty="0">
                <a:latin typeface="+mn-lt"/>
                <a:cs typeface="Courier"/>
              </a:rPr>
              <a:t>Load Python's </a:t>
            </a:r>
            <a:r>
              <a:rPr lang="en-US" sz="3600" dirty="0">
                <a:solidFill>
                  <a:srgbClr val="0432FF"/>
                </a:solidFill>
                <a:latin typeface="Courier" charset="0"/>
                <a:ea typeface="Courier" charset="0"/>
                <a:cs typeface="Courier" charset="0"/>
              </a:rPr>
              <a:t>re</a:t>
            </a:r>
            <a:r>
              <a:rPr lang="en-US" sz="3600" dirty="0">
                <a:latin typeface="+mn-lt"/>
                <a:cs typeface="Courier"/>
              </a:rPr>
              <a:t> module</a:t>
            </a:r>
          </a:p>
        </p:txBody>
      </p:sp>
      <p:sp>
        <p:nvSpPr>
          <p:cNvPr id="6" name="TextBox 5"/>
          <p:cNvSpPr txBox="1"/>
          <p:nvPr/>
        </p:nvSpPr>
        <p:spPr>
          <a:xfrm>
            <a:off x="359806" y="1657283"/>
            <a:ext cx="8447330" cy="1405513"/>
          </a:xfrm>
          <a:prstGeom prst="rect">
            <a:avLst/>
          </a:prstGeom>
          <a:noFill/>
        </p:spPr>
        <p:txBody>
          <a:bodyPr wrap="square" rtlCol="0">
            <a:spAutoFit/>
          </a:bodyPr>
          <a:lstStyle/>
          <a:p>
            <a:pPr marL="530352" indent="-342900">
              <a:spcAft>
                <a:spcPts val="800"/>
              </a:spcAft>
              <a:buFont typeface="Arial"/>
              <a:buChar char="•"/>
            </a:pPr>
            <a:r>
              <a:rPr lang="en-US" sz="2400" dirty="0"/>
              <a:t>Regular expression functions are not loaded by default</a:t>
            </a:r>
          </a:p>
          <a:p>
            <a:pPr marL="530352" indent="-342900">
              <a:spcAft>
                <a:spcPts val="800"/>
              </a:spcAft>
              <a:buFont typeface="Arial"/>
              <a:buChar char="•"/>
            </a:pPr>
            <a:r>
              <a:rPr lang="en-US" sz="2400" dirty="0"/>
              <a:t>Need to load the 're' module at the beginning of your script</a:t>
            </a:r>
          </a:p>
          <a:p>
            <a:pPr marL="530352" indent="-342900">
              <a:spcAft>
                <a:spcPts val="800"/>
              </a:spcAft>
              <a:buFont typeface="Arial"/>
              <a:buChar char="•"/>
            </a:pPr>
            <a:r>
              <a:rPr lang="en-US" sz="2400" dirty="0">
                <a:solidFill>
                  <a:srgbClr val="0432FF"/>
                </a:solidFill>
                <a:latin typeface="Courier" charset="0"/>
                <a:ea typeface="Courier" charset="0"/>
                <a:cs typeface="Courier" charset="0"/>
              </a:rPr>
              <a:t>import re</a:t>
            </a:r>
          </a:p>
        </p:txBody>
      </p:sp>
    </p:spTree>
    <p:extLst>
      <p:ext uri="{BB962C8B-B14F-4D97-AF65-F5344CB8AC3E}">
        <p14:creationId xmlns:p14="http://schemas.microsoft.com/office/powerpoint/2010/main" val="1531709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0389" y="176523"/>
            <a:ext cx="8436747" cy="862385"/>
          </a:xfrm>
        </p:spPr>
        <p:txBody>
          <a:bodyPr>
            <a:normAutofit/>
          </a:bodyPr>
          <a:lstStyle/>
          <a:p>
            <a:r>
              <a:rPr lang="en-US" sz="3600" dirty="0">
                <a:latin typeface="+mn-lt"/>
                <a:cs typeface="Courier"/>
              </a:rPr>
              <a:t>Regular Expressions</a:t>
            </a:r>
          </a:p>
        </p:txBody>
      </p:sp>
      <p:sp>
        <p:nvSpPr>
          <p:cNvPr id="6" name="TextBox 5"/>
          <p:cNvSpPr txBox="1"/>
          <p:nvPr/>
        </p:nvSpPr>
        <p:spPr>
          <a:xfrm>
            <a:off x="359806" y="1168183"/>
            <a:ext cx="8447330" cy="2616101"/>
          </a:xfrm>
          <a:prstGeom prst="rect">
            <a:avLst/>
          </a:prstGeom>
          <a:noFill/>
        </p:spPr>
        <p:txBody>
          <a:bodyPr wrap="square" rtlCol="0">
            <a:spAutoFit/>
          </a:bodyPr>
          <a:lstStyle/>
          <a:p>
            <a:pPr marL="530352" indent="-342900">
              <a:spcAft>
                <a:spcPts val="800"/>
              </a:spcAft>
              <a:buFont typeface="Arial"/>
              <a:buChar char="•"/>
            </a:pPr>
            <a:r>
              <a:rPr lang="en-US" sz="2400" dirty="0"/>
              <a:t>A regular expression, or </a:t>
            </a:r>
            <a:r>
              <a:rPr lang="en-US" sz="2400" i="1" dirty="0"/>
              <a:t>pattern</a:t>
            </a:r>
            <a:r>
              <a:rPr lang="en-US" sz="2400" dirty="0"/>
              <a:t>, is a construct that either matches – or doesn't match – all of or, more typically, part of a string</a:t>
            </a:r>
          </a:p>
          <a:p>
            <a:pPr marL="530352" indent="-342900">
              <a:spcAft>
                <a:spcPts val="800"/>
              </a:spcAft>
              <a:buFont typeface="Arial"/>
              <a:buChar char="•"/>
            </a:pPr>
            <a:r>
              <a:rPr lang="en-US" sz="2400" dirty="0"/>
              <a:t>String matching is an all or nothing proposition</a:t>
            </a:r>
          </a:p>
          <a:p>
            <a:pPr marL="1444752" lvl="2" indent="-342900">
              <a:spcAft>
                <a:spcPts val="800"/>
              </a:spcAft>
              <a:buFont typeface="Lucida Grande"/>
              <a:buChar char="–"/>
            </a:pPr>
            <a:r>
              <a:rPr lang="en-US" sz="2400" dirty="0"/>
              <a:t>matches return a </a:t>
            </a:r>
            <a:r>
              <a:rPr lang="en-US" sz="2400" b="1" dirty="0"/>
              <a:t>match object</a:t>
            </a:r>
            <a:r>
              <a:rPr lang="en-US" sz="2400" dirty="0"/>
              <a:t> that we can work with</a:t>
            </a:r>
          </a:p>
          <a:p>
            <a:pPr marL="1444752" lvl="2" indent="-342900">
              <a:spcAft>
                <a:spcPts val="800"/>
              </a:spcAft>
              <a:buFont typeface="Lucida Grande"/>
              <a:buChar char="–"/>
            </a:pPr>
            <a:r>
              <a:rPr lang="en-US" sz="2400" dirty="0"/>
              <a:t>non-matches return </a:t>
            </a:r>
            <a:r>
              <a:rPr lang="en-US" sz="2400" b="1" dirty="0"/>
              <a:t>None</a:t>
            </a:r>
            <a:r>
              <a:rPr lang="en-US" sz="2400" dirty="0"/>
              <a:t>, which evaluates as </a:t>
            </a:r>
            <a:r>
              <a:rPr lang="en-US" sz="2400" b="1" dirty="0"/>
              <a:t>False</a:t>
            </a:r>
          </a:p>
        </p:txBody>
      </p:sp>
    </p:spTree>
    <p:extLst>
      <p:ext uri="{BB962C8B-B14F-4D97-AF65-F5344CB8AC3E}">
        <p14:creationId xmlns:p14="http://schemas.microsoft.com/office/powerpoint/2010/main" val="2714879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0389" y="176523"/>
            <a:ext cx="8436747" cy="862385"/>
          </a:xfrm>
        </p:spPr>
        <p:txBody>
          <a:bodyPr>
            <a:normAutofit/>
          </a:bodyPr>
          <a:lstStyle/>
          <a:p>
            <a:r>
              <a:rPr lang="en-US" sz="3600" dirty="0">
                <a:latin typeface="+mn-lt"/>
                <a:cs typeface="Courier"/>
              </a:rPr>
              <a:t>Regular Expressions</a:t>
            </a:r>
          </a:p>
        </p:txBody>
      </p:sp>
      <p:sp>
        <p:nvSpPr>
          <p:cNvPr id="6" name="TextBox 5"/>
          <p:cNvSpPr txBox="1"/>
          <p:nvPr/>
        </p:nvSpPr>
        <p:spPr>
          <a:xfrm>
            <a:off x="359806" y="1168183"/>
            <a:ext cx="8447330" cy="2472472"/>
          </a:xfrm>
          <a:prstGeom prst="rect">
            <a:avLst/>
          </a:prstGeom>
          <a:noFill/>
        </p:spPr>
        <p:txBody>
          <a:bodyPr wrap="square" rtlCol="0">
            <a:spAutoFit/>
          </a:bodyPr>
          <a:lstStyle/>
          <a:p>
            <a:pPr marL="530352" indent="-342900">
              <a:spcAft>
                <a:spcPts val="800"/>
              </a:spcAft>
              <a:buFont typeface="Arial"/>
              <a:buChar char="•"/>
            </a:pPr>
            <a:r>
              <a:rPr lang="en-US" sz="2400" dirty="0"/>
              <a:t>Because of this, regular expressions are often embedded within conditionals</a:t>
            </a:r>
          </a:p>
          <a:p>
            <a:pPr marL="1830388" lvl="2" indent="-444500">
              <a:spcAft>
                <a:spcPts val="800"/>
              </a:spcAft>
            </a:pPr>
            <a:r>
              <a:rPr lang="en-US" sz="2000" dirty="0">
                <a:solidFill>
                  <a:srgbClr val="0000FF"/>
                </a:solidFill>
                <a:latin typeface="Courier"/>
                <a:cs typeface="Courier"/>
              </a:rPr>
              <a:t>if </a:t>
            </a:r>
            <a:r>
              <a:rPr lang="en-US" sz="2000" dirty="0" err="1">
                <a:solidFill>
                  <a:srgbClr val="0000FF"/>
                </a:solidFill>
                <a:latin typeface="Courier"/>
                <a:cs typeface="Courier"/>
              </a:rPr>
              <a:t>re.search</a:t>
            </a:r>
            <a:r>
              <a:rPr lang="en-US" sz="2000" dirty="0">
                <a:solidFill>
                  <a:srgbClr val="0000FF"/>
                </a:solidFill>
                <a:latin typeface="Courier"/>
                <a:cs typeface="Courier"/>
              </a:rPr>
              <a:t>("pattern", string):</a:t>
            </a:r>
          </a:p>
          <a:p>
            <a:pPr marL="1830388" lvl="2" indent="-444500">
              <a:spcAft>
                <a:spcPts val="800"/>
              </a:spcAft>
            </a:pPr>
            <a:r>
              <a:rPr lang="en-US" sz="2000" dirty="0">
                <a:solidFill>
                  <a:srgbClr val="0000FF"/>
                </a:solidFill>
                <a:latin typeface="Courier"/>
                <a:cs typeface="Courier"/>
              </a:rPr>
              <a:t>	do something</a:t>
            </a:r>
          </a:p>
          <a:p>
            <a:pPr marL="1830388" lvl="2" indent="-444500">
              <a:spcAft>
                <a:spcPts val="800"/>
              </a:spcAft>
            </a:pPr>
            <a:r>
              <a:rPr lang="en-US" sz="2000" dirty="0">
                <a:solidFill>
                  <a:srgbClr val="0000FF"/>
                </a:solidFill>
                <a:latin typeface="Courier"/>
                <a:cs typeface="Courier"/>
              </a:rPr>
              <a:t>else:</a:t>
            </a:r>
          </a:p>
          <a:p>
            <a:pPr marL="1830388" lvl="2" indent="-444500">
              <a:spcAft>
                <a:spcPts val="800"/>
              </a:spcAft>
            </a:pPr>
            <a:r>
              <a:rPr lang="en-US" sz="2000" dirty="0">
                <a:solidFill>
                  <a:srgbClr val="0000FF"/>
                </a:solidFill>
                <a:latin typeface="Courier"/>
                <a:cs typeface="Courier"/>
              </a:rPr>
              <a:t>	do something different</a:t>
            </a:r>
          </a:p>
        </p:txBody>
      </p:sp>
    </p:spTree>
    <p:extLst>
      <p:ext uri="{BB962C8B-B14F-4D97-AF65-F5344CB8AC3E}">
        <p14:creationId xmlns:p14="http://schemas.microsoft.com/office/powerpoint/2010/main" val="1052067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0389" y="176523"/>
            <a:ext cx="8436747" cy="862385"/>
          </a:xfrm>
        </p:spPr>
        <p:txBody>
          <a:bodyPr>
            <a:normAutofit/>
          </a:bodyPr>
          <a:lstStyle/>
          <a:p>
            <a:r>
              <a:rPr lang="en-US" sz="3600" dirty="0">
                <a:latin typeface="+mn-lt"/>
                <a:cs typeface="Courier"/>
              </a:rPr>
              <a:t>Regular Expressions</a:t>
            </a:r>
          </a:p>
        </p:txBody>
      </p:sp>
      <p:sp>
        <p:nvSpPr>
          <p:cNvPr id="6" name="TextBox 5"/>
          <p:cNvSpPr txBox="1"/>
          <p:nvPr/>
        </p:nvSpPr>
        <p:spPr>
          <a:xfrm>
            <a:off x="359806" y="1157600"/>
            <a:ext cx="8447330" cy="3672800"/>
          </a:xfrm>
          <a:prstGeom prst="rect">
            <a:avLst/>
          </a:prstGeom>
          <a:noFill/>
        </p:spPr>
        <p:txBody>
          <a:bodyPr wrap="square" rtlCol="0">
            <a:spAutoFit/>
          </a:bodyPr>
          <a:lstStyle/>
          <a:p>
            <a:pPr marL="530352" indent="-342900">
              <a:spcAft>
                <a:spcPts val="800"/>
              </a:spcAft>
              <a:buFont typeface="Arial"/>
              <a:buChar char="•"/>
            </a:pPr>
            <a:r>
              <a:rPr lang="en-US" sz="2400" dirty="0"/>
              <a:t>In the simplest case, match a string literal</a:t>
            </a:r>
          </a:p>
          <a:p>
            <a:pPr marL="1312863" lvl="2">
              <a:spcAft>
                <a:spcPts val="800"/>
              </a:spcAft>
            </a:pPr>
            <a:r>
              <a:rPr lang="en-US" dirty="0">
                <a:solidFill>
                  <a:srgbClr val="0000FF"/>
                </a:solidFill>
                <a:latin typeface="Courier"/>
                <a:cs typeface="Courier"/>
              </a:rPr>
              <a:t>artist = '</a:t>
            </a:r>
            <a:r>
              <a:rPr lang="en-US" dirty="0" err="1">
                <a:solidFill>
                  <a:srgbClr val="0000FF"/>
                </a:solidFill>
                <a:latin typeface="Courier"/>
                <a:cs typeface="Courier"/>
              </a:rPr>
              <a:t>Alicia.Keys</a:t>
            </a:r>
            <a:r>
              <a:rPr lang="en-US" dirty="0">
                <a:solidFill>
                  <a:srgbClr val="0000FF"/>
                </a:solidFill>
                <a:latin typeface="Courier"/>
                <a:cs typeface="Courier"/>
              </a:rPr>
              <a:t>'</a:t>
            </a:r>
          </a:p>
          <a:p>
            <a:pPr marL="1312863" lvl="2">
              <a:spcAft>
                <a:spcPts val="800"/>
              </a:spcAft>
            </a:pPr>
            <a:r>
              <a:rPr lang="en-US" dirty="0">
                <a:solidFill>
                  <a:srgbClr val="0000FF"/>
                </a:solidFill>
                <a:latin typeface="Courier"/>
                <a:cs typeface="Courier"/>
              </a:rPr>
              <a:t>if </a:t>
            </a:r>
            <a:r>
              <a:rPr lang="en-US" dirty="0" err="1">
                <a:solidFill>
                  <a:srgbClr val="0000FF"/>
                </a:solidFill>
                <a:latin typeface="Courier"/>
                <a:cs typeface="Courier"/>
              </a:rPr>
              <a:t>re.search</a:t>
            </a:r>
            <a:r>
              <a:rPr lang="en-US" dirty="0">
                <a:solidFill>
                  <a:srgbClr val="0000FF"/>
                </a:solidFill>
                <a:latin typeface="Courier"/>
                <a:cs typeface="Courier"/>
              </a:rPr>
              <a:t>("</a:t>
            </a:r>
            <a:r>
              <a:rPr lang="en-US" dirty="0" err="1">
                <a:solidFill>
                  <a:srgbClr val="0000FF"/>
                </a:solidFill>
                <a:latin typeface="Courier"/>
                <a:cs typeface="Courier"/>
              </a:rPr>
              <a:t>licia</a:t>
            </a:r>
            <a:r>
              <a:rPr lang="en-US" dirty="0">
                <a:solidFill>
                  <a:srgbClr val="0000FF"/>
                </a:solidFill>
                <a:latin typeface="Courier"/>
                <a:cs typeface="Courier"/>
              </a:rPr>
              <a:t>", artist):</a:t>
            </a:r>
          </a:p>
          <a:p>
            <a:pPr marL="1312863" lvl="2">
              <a:spcAft>
                <a:spcPts val="800"/>
              </a:spcAft>
            </a:pPr>
            <a:r>
              <a:rPr lang="en-US" dirty="0">
                <a:solidFill>
                  <a:srgbClr val="0000FF"/>
                </a:solidFill>
                <a:latin typeface="Courier"/>
                <a:cs typeface="Courier"/>
              </a:rPr>
              <a:t>		print("Found a match!")</a:t>
            </a:r>
          </a:p>
          <a:p>
            <a:pPr marL="171450" lvl="2">
              <a:spcAft>
                <a:spcPts val="800"/>
              </a:spcAft>
            </a:pPr>
            <a:endParaRPr lang="en-US" dirty="0">
              <a:solidFill>
                <a:srgbClr val="0000FF"/>
              </a:solidFill>
              <a:latin typeface="Courier"/>
              <a:cs typeface="Courier"/>
            </a:endParaRPr>
          </a:p>
          <a:p>
            <a:pPr marL="519113" lvl="2" indent="-349250">
              <a:spcAft>
                <a:spcPts val="800"/>
              </a:spcAft>
              <a:buFont typeface="Arial"/>
              <a:buChar char="•"/>
            </a:pPr>
            <a:r>
              <a:rPr lang="en-US" sz="2400" dirty="0"/>
              <a:t>exact matches are trivial</a:t>
            </a:r>
          </a:p>
          <a:p>
            <a:pPr marL="519113" lvl="2" indent="-349250">
              <a:spcAft>
                <a:spcPts val="800"/>
              </a:spcAft>
              <a:buFont typeface="Arial"/>
              <a:buChar char="•"/>
            </a:pPr>
            <a:r>
              <a:rPr lang="en-US" sz="2400" dirty="0"/>
              <a:t>there are special characters (</a:t>
            </a:r>
            <a:r>
              <a:rPr lang="en-US" sz="2400" i="1" dirty="0" err="1"/>
              <a:t>metacharacters</a:t>
            </a:r>
            <a:r>
              <a:rPr lang="en-US" sz="2400" dirty="0"/>
              <a:t>) and </a:t>
            </a:r>
            <a:r>
              <a:rPr lang="en-US" sz="2400" i="1" dirty="0"/>
              <a:t>character classes </a:t>
            </a:r>
            <a:r>
              <a:rPr lang="en-US" sz="2400" dirty="0"/>
              <a:t>to help you search for more complex patterns.</a:t>
            </a:r>
          </a:p>
          <a:p>
            <a:pPr marL="1312863" lvl="2">
              <a:spcAft>
                <a:spcPts val="800"/>
              </a:spcAft>
            </a:pPr>
            <a:endParaRPr lang="en-US" dirty="0">
              <a:solidFill>
                <a:srgbClr val="0000FF"/>
              </a:solidFill>
              <a:latin typeface="Courier"/>
              <a:cs typeface="Courier"/>
            </a:endParaRPr>
          </a:p>
        </p:txBody>
      </p:sp>
    </p:spTree>
    <p:extLst>
      <p:ext uri="{BB962C8B-B14F-4D97-AF65-F5344CB8AC3E}">
        <p14:creationId xmlns:p14="http://schemas.microsoft.com/office/powerpoint/2010/main" val="1769793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0389" y="176523"/>
            <a:ext cx="8436747" cy="862385"/>
          </a:xfrm>
        </p:spPr>
        <p:txBody>
          <a:bodyPr>
            <a:normAutofit/>
          </a:bodyPr>
          <a:lstStyle/>
          <a:p>
            <a:r>
              <a:rPr lang="en-US" sz="3600" dirty="0">
                <a:latin typeface="+mn-lt"/>
                <a:cs typeface="Courier"/>
              </a:rPr>
              <a:t>Character classes</a:t>
            </a:r>
          </a:p>
        </p:txBody>
      </p:sp>
      <p:sp>
        <p:nvSpPr>
          <p:cNvPr id="6" name="TextBox 5"/>
          <p:cNvSpPr txBox="1"/>
          <p:nvPr/>
        </p:nvSpPr>
        <p:spPr>
          <a:xfrm>
            <a:off x="359806" y="1295179"/>
            <a:ext cx="8447330" cy="2718693"/>
          </a:xfrm>
          <a:prstGeom prst="rect">
            <a:avLst/>
          </a:prstGeom>
          <a:noFill/>
        </p:spPr>
        <p:txBody>
          <a:bodyPr wrap="square" rtlCol="0">
            <a:spAutoFit/>
          </a:bodyPr>
          <a:lstStyle/>
          <a:p>
            <a:pPr marL="530352" indent="-342900">
              <a:spcAft>
                <a:spcPts val="800"/>
              </a:spcAft>
              <a:buFont typeface="Arial"/>
              <a:buChar char="•"/>
            </a:pPr>
            <a:r>
              <a:rPr lang="en-US" sz="2400" dirty="0"/>
              <a:t>A </a:t>
            </a:r>
            <a:r>
              <a:rPr lang="en-US" sz="2400" i="1" dirty="0"/>
              <a:t>character class</a:t>
            </a:r>
            <a:r>
              <a:rPr lang="en-US" sz="2400" dirty="0"/>
              <a:t> – a list of possible characters inside square brackets </a:t>
            </a:r>
            <a:r>
              <a:rPr lang="en-US" sz="2400" dirty="0">
                <a:solidFill>
                  <a:srgbClr val="0000FF"/>
                </a:solidFill>
                <a:latin typeface="Courier"/>
                <a:cs typeface="Courier"/>
              </a:rPr>
              <a:t>[]</a:t>
            </a:r>
            <a:r>
              <a:rPr lang="en-US" sz="2400" dirty="0"/>
              <a:t> – matches any </a:t>
            </a:r>
            <a:r>
              <a:rPr lang="en-US" sz="2400" i="1" dirty="0"/>
              <a:t>single</a:t>
            </a:r>
            <a:r>
              <a:rPr lang="en-US" sz="2400" dirty="0"/>
              <a:t> character within the class</a:t>
            </a:r>
            <a:endParaRPr lang="en-US" sz="2400" dirty="0">
              <a:solidFill>
                <a:srgbClr val="0000FF"/>
              </a:solidFill>
              <a:latin typeface="Courier"/>
              <a:cs typeface="Courier"/>
            </a:endParaRPr>
          </a:p>
          <a:p>
            <a:pPr marL="1444752" lvl="2" indent="-342900">
              <a:spcAft>
                <a:spcPts val="800"/>
              </a:spcAft>
              <a:buFont typeface="Arial"/>
              <a:buChar char="•"/>
            </a:pPr>
            <a:r>
              <a:rPr lang="en-US" sz="2400" dirty="0">
                <a:solidFill>
                  <a:srgbClr val="0000FF"/>
                </a:solidFill>
                <a:latin typeface="Courier"/>
                <a:cs typeface="Courier"/>
              </a:rPr>
              <a:t>[</a:t>
            </a:r>
            <a:r>
              <a:rPr lang="en-US" sz="2400" dirty="0" err="1">
                <a:solidFill>
                  <a:srgbClr val="0000FF"/>
                </a:solidFill>
                <a:latin typeface="Courier"/>
                <a:cs typeface="Courier"/>
              </a:rPr>
              <a:t>ACGTacgt</a:t>
            </a:r>
            <a:r>
              <a:rPr lang="en-US" sz="2400" dirty="0">
                <a:solidFill>
                  <a:srgbClr val="0000FF"/>
                </a:solidFill>
                <a:latin typeface="Courier"/>
                <a:cs typeface="Courier"/>
              </a:rPr>
              <a:t>]</a:t>
            </a:r>
          </a:p>
          <a:p>
            <a:pPr marL="1444752" lvl="2" indent="-342900">
              <a:spcAft>
                <a:spcPts val="800"/>
              </a:spcAft>
              <a:buFont typeface="Arial"/>
              <a:buChar char="•"/>
            </a:pPr>
            <a:r>
              <a:rPr lang="en-US" sz="2400" dirty="0">
                <a:solidFill>
                  <a:srgbClr val="0000FF"/>
                </a:solidFill>
                <a:latin typeface="Courier"/>
                <a:cs typeface="Courier"/>
              </a:rPr>
              <a:t>[abcwxyz6789]</a:t>
            </a:r>
          </a:p>
          <a:p>
            <a:pPr marL="1444752" lvl="2" indent="-342900">
              <a:spcAft>
                <a:spcPts val="800"/>
              </a:spcAft>
              <a:buFont typeface="Arial"/>
              <a:buChar char="•"/>
            </a:pPr>
            <a:r>
              <a:rPr lang="en-US" sz="2400" dirty="0">
                <a:solidFill>
                  <a:srgbClr val="0000FF"/>
                </a:solidFill>
                <a:latin typeface="Courier"/>
                <a:cs typeface="Courier"/>
              </a:rPr>
              <a:t>[a-cw-z6-9]</a:t>
            </a:r>
          </a:p>
          <a:p>
            <a:pPr marL="1444752" lvl="2" indent="-342900">
              <a:spcAft>
                <a:spcPts val="800"/>
              </a:spcAft>
              <a:buFont typeface="Arial"/>
              <a:buChar char="•"/>
            </a:pPr>
            <a:r>
              <a:rPr lang="en-US" sz="2400" dirty="0">
                <a:solidFill>
                  <a:srgbClr val="0000FF"/>
                </a:solidFill>
                <a:latin typeface="Courier"/>
                <a:cs typeface="Courier"/>
              </a:rPr>
              <a:t>[ \t\n]</a:t>
            </a:r>
          </a:p>
        </p:txBody>
      </p:sp>
    </p:spTree>
    <p:extLst>
      <p:ext uri="{BB962C8B-B14F-4D97-AF65-F5344CB8AC3E}">
        <p14:creationId xmlns:p14="http://schemas.microsoft.com/office/powerpoint/2010/main" val="2266367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0389" y="176523"/>
            <a:ext cx="8436747" cy="862385"/>
          </a:xfrm>
        </p:spPr>
        <p:txBody>
          <a:bodyPr>
            <a:normAutofit/>
          </a:bodyPr>
          <a:lstStyle/>
          <a:p>
            <a:r>
              <a:rPr lang="en-US" sz="3600" dirty="0">
                <a:latin typeface="Calibri Light" panose="020F0302020204030204" pitchFamily="34" charset="0"/>
                <a:cs typeface="Calibri Light" panose="020F0302020204030204" pitchFamily="34" charset="0"/>
              </a:rPr>
              <a:t>Character classes</a:t>
            </a:r>
          </a:p>
        </p:txBody>
      </p:sp>
      <p:sp>
        <p:nvSpPr>
          <p:cNvPr id="6" name="TextBox 5"/>
          <p:cNvSpPr txBox="1"/>
          <p:nvPr/>
        </p:nvSpPr>
        <p:spPr>
          <a:xfrm>
            <a:off x="102056" y="1295179"/>
            <a:ext cx="8784194" cy="2246769"/>
          </a:xfrm>
          <a:prstGeom prst="rect">
            <a:avLst/>
          </a:prstGeom>
          <a:noFill/>
        </p:spPr>
        <p:txBody>
          <a:bodyPr wrap="square" rtlCol="0">
            <a:spAutoFit/>
          </a:bodyPr>
          <a:lstStyle/>
          <a:p>
            <a:pPr marL="458788" indent="-271463">
              <a:spcAft>
                <a:spcPts val="800"/>
              </a:spcAft>
              <a:buFont typeface="Arial"/>
              <a:buChar char="•"/>
            </a:pPr>
            <a:r>
              <a:rPr lang="en-US" sz="2400" dirty="0">
                <a:latin typeface="Calibri Light" panose="020F0302020204030204" pitchFamily="34" charset="0"/>
                <a:cs typeface="Calibri Light" panose="020F0302020204030204" pitchFamily="34" charset="0"/>
              </a:rPr>
              <a:t>You can negate a character class by preceding it with a caret</a:t>
            </a:r>
          </a:p>
          <a:p>
            <a:pPr marL="915988" lvl="3" indent="-271463">
              <a:spcAft>
                <a:spcPts val="800"/>
              </a:spcAft>
              <a:buFont typeface="Arial"/>
              <a:buChar char="•"/>
            </a:pPr>
            <a:r>
              <a:rPr lang="en-US" sz="2400" dirty="0">
                <a:solidFill>
                  <a:srgbClr val="0000FF"/>
                </a:solidFill>
                <a:latin typeface="Courier"/>
                <a:cs typeface="Courier"/>
              </a:rPr>
              <a:t>[^</a:t>
            </a:r>
            <a:r>
              <a:rPr lang="en-US" sz="2400" dirty="0" err="1">
                <a:solidFill>
                  <a:srgbClr val="0000FF"/>
                </a:solidFill>
                <a:latin typeface="Courier"/>
                <a:cs typeface="Courier"/>
              </a:rPr>
              <a:t>ACGTacgt</a:t>
            </a:r>
            <a:r>
              <a:rPr lang="en-US" sz="2400" dirty="0">
                <a:solidFill>
                  <a:srgbClr val="0000FF"/>
                </a:solidFill>
                <a:latin typeface="Courier"/>
                <a:cs typeface="Courier"/>
              </a:rPr>
              <a:t>]</a:t>
            </a:r>
            <a:endParaRPr lang="en-US" dirty="0">
              <a:latin typeface="Calibri Light" panose="020F0302020204030204" pitchFamily="34" charset="0"/>
              <a:cs typeface="Calibri Light" panose="020F0302020204030204" pitchFamily="34" charset="0"/>
            </a:endParaRPr>
          </a:p>
          <a:p>
            <a:pPr marL="915988" lvl="3" indent="-271463">
              <a:spcAft>
                <a:spcPts val="800"/>
              </a:spcAft>
              <a:buFont typeface="Arial"/>
              <a:buChar char="•"/>
            </a:pPr>
            <a:r>
              <a:rPr lang="en-US" sz="2400" dirty="0">
                <a:solidFill>
                  <a:srgbClr val="0000FF"/>
                </a:solidFill>
                <a:latin typeface="Courier"/>
                <a:cs typeface="Courier"/>
              </a:rPr>
              <a:t>[^ \t\n]</a:t>
            </a:r>
          </a:p>
          <a:p>
            <a:pPr marL="458788" indent="-271463">
              <a:spcAft>
                <a:spcPts val="800"/>
              </a:spcAft>
              <a:buFont typeface="Arial"/>
              <a:buChar char="•"/>
            </a:pPr>
            <a:r>
              <a:rPr lang="en-US" sz="2400" dirty="0">
                <a:latin typeface="Calibri Light" panose="020F0302020204030204" pitchFamily="34" charset="0"/>
                <a:cs typeface="Calibri Light" panose="020F0302020204030204" pitchFamily="34" charset="0"/>
              </a:rPr>
              <a:t>This will match to any single character except the ones within brackets</a:t>
            </a:r>
          </a:p>
        </p:txBody>
      </p:sp>
      <p:sp>
        <p:nvSpPr>
          <p:cNvPr id="3" name="TextBox 2">
            <a:extLst>
              <a:ext uri="{FF2B5EF4-FFF2-40B4-BE49-F238E27FC236}">
                <a16:creationId xmlns:a16="http://schemas.microsoft.com/office/drawing/2014/main" id="{E6B01371-72BA-0240-9793-9A293283CE0D}"/>
              </a:ext>
            </a:extLst>
          </p:cNvPr>
          <p:cNvSpPr txBox="1"/>
          <p:nvPr/>
        </p:nvSpPr>
        <p:spPr>
          <a:xfrm>
            <a:off x="3050046" y="1816526"/>
            <a:ext cx="5428217" cy="369332"/>
          </a:xfrm>
          <a:prstGeom prst="rect">
            <a:avLst/>
          </a:prstGeom>
          <a:noFill/>
        </p:spPr>
        <p:txBody>
          <a:bodyPr wrap="none" rtlCol="0">
            <a:spAutoFit/>
          </a:bodyPr>
          <a:lstStyle/>
          <a:p>
            <a:r>
              <a:rPr lang="en-US" dirty="0">
                <a:latin typeface="Calibri Light" panose="020F0302020204030204" pitchFamily="34" charset="0"/>
                <a:cs typeface="Calibri Light" panose="020F0302020204030204" pitchFamily="34" charset="0"/>
              </a:rPr>
              <a:t>(does this sequence contain non-nucleotide characters?)</a:t>
            </a:r>
            <a:endParaRPr lang="en-US" dirty="0"/>
          </a:p>
        </p:txBody>
      </p:sp>
    </p:spTree>
    <p:extLst>
      <p:ext uri="{BB962C8B-B14F-4D97-AF65-F5344CB8AC3E}">
        <p14:creationId xmlns:p14="http://schemas.microsoft.com/office/powerpoint/2010/main" val="2449894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0389" y="176523"/>
            <a:ext cx="8436747" cy="862385"/>
          </a:xfrm>
        </p:spPr>
        <p:txBody>
          <a:bodyPr>
            <a:normAutofit/>
          </a:bodyPr>
          <a:lstStyle/>
          <a:p>
            <a:r>
              <a:rPr lang="en-US" sz="3600" dirty="0">
                <a:latin typeface="+mn-lt"/>
                <a:cs typeface="Courier"/>
              </a:rPr>
              <a:t>Character class shortcuts</a:t>
            </a:r>
          </a:p>
        </p:txBody>
      </p:sp>
      <p:graphicFrame>
        <p:nvGraphicFramePr>
          <p:cNvPr id="4" name="Table 3"/>
          <p:cNvGraphicFramePr>
            <a:graphicFrameLocks noGrp="1"/>
          </p:cNvGraphicFramePr>
          <p:nvPr>
            <p:extLst>
              <p:ext uri="{D42A27DB-BD31-4B8C-83A1-F6EECF244321}">
                <p14:modId xmlns:p14="http://schemas.microsoft.com/office/powerpoint/2010/main" val="1211177599"/>
              </p:ext>
            </p:extLst>
          </p:nvPr>
        </p:nvGraphicFramePr>
        <p:xfrm>
          <a:off x="355481" y="1549238"/>
          <a:ext cx="8487827" cy="3078480"/>
        </p:xfrm>
        <a:graphic>
          <a:graphicData uri="http://schemas.openxmlformats.org/drawingml/2006/table">
            <a:tbl>
              <a:tblPr firstRow="1" bandRow="1">
                <a:tableStyleId>{2D5ABB26-0587-4C30-8999-92F81FD0307C}</a:tableStyleId>
              </a:tblPr>
              <a:tblGrid>
                <a:gridCol w="1572607">
                  <a:extLst>
                    <a:ext uri="{9D8B030D-6E8A-4147-A177-3AD203B41FA5}">
                      <a16:colId xmlns:a16="http://schemas.microsoft.com/office/drawing/2014/main" val="20000"/>
                    </a:ext>
                  </a:extLst>
                </a:gridCol>
                <a:gridCol w="2053561">
                  <a:extLst>
                    <a:ext uri="{9D8B030D-6E8A-4147-A177-3AD203B41FA5}">
                      <a16:colId xmlns:a16="http://schemas.microsoft.com/office/drawing/2014/main" val="20001"/>
                    </a:ext>
                  </a:extLst>
                </a:gridCol>
                <a:gridCol w="4861659">
                  <a:extLst>
                    <a:ext uri="{9D8B030D-6E8A-4147-A177-3AD203B41FA5}">
                      <a16:colId xmlns:a16="http://schemas.microsoft.com/office/drawing/2014/main" val="20002"/>
                    </a:ext>
                  </a:extLst>
                </a:gridCol>
              </a:tblGrid>
              <a:tr h="370840">
                <a:tc>
                  <a:txBody>
                    <a:bodyPr/>
                    <a:lstStyle/>
                    <a:p>
                      <a:r>
                        <a:rPr lang="en-US" sz="2000" b="1" dirty="0">
                          <a:latin typeface="Courier"/>
                          <a:cs typeface="Courier"/>
                        </a:rPr>
                        <a:t>Shortcut</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b="1" dirty="0">
                          <a:latin typeface="Courier"/>
                          <a:cs typeface="Courier"/>
                        </a:rPr>
                        <a:t>Character</a:t>
                      </a:r>
                      <a:r>
                        <a:rPr lang="en-US" sz="2000" b="1" baseline="0" dirty="0">
                          <a:latin typeface="Courier"/>
                          <a:cs typeface="Courier"/>
                        </a:rPr>
                        <a:t> class</a:t>
                      </a:r>
                      <a:endParaRPr lang="en-US" sz="2000" b="1" dirty="0">
                        <a:latin typeface="Courier"/>
                        <a:cs typeface="Courier"/>
                      </a:endParaRP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b="1" dirty="0">
                          <a:latin typeface="Courier"/>
                          <a:cs typeface="Courier"/>
                        </a:rPr>
                        <a:t>Description</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2000" dirty="0">
                          <a:latin typeface="Courier"/>
                          <a:cs typeface="Courier"/>
                        </a:rPr>
                        <a:t>\d</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latin typeface="Courier"/>
                          <a:cs typeface="Courier"/>
                        </a:rPr>
                        <a:t>[0-9]</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latin typeface="Courier"/>
                          <a:cs typeface="Courier"/>
                        </a:rPr>
                        <a:t>a digit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2000" dirty="0">
                          <a:latin typeface="Courier"/>
                          <a:cs typeface="Courier"/>
                        </a:rPr>
                        <a:t>\D</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latin typeface="Courier"/>
                          <a:cs typeface="Courier"/>
                        </a:rPr>
                        <a:t>[^0-9]</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latin typeface="Courier"/>
                          <a:cs typeface="Courier"/>
                        </a:rPr>
                        <a:t>a non-digit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2000" dirty="0">
                          <a:latin typeface="Courier"/>
                          <a:cs typeface="Courier"/>
                        </a:rPr>
                        <a:t>\s</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latin typeface="Courier"/>
                          <a:cs typeface="Courier"/>
                        </a:rPr>
                        <a:t>[ \t\n\r\f]</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latin typeface="Courier"/>
                          <a:cs typeface="Courier"/>
                        </a:rPr>
                        <a:t>a whitespace character</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sz="2000" dirty="0">
                          <a:latin typeface="Courier"/>
                          <a:cs typeface="Courier"/>
                        </a:rPr>
                        <a:t>\S</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latin typeface="Courier"/>
                          <a:cs typeface="Courier"/>
                        </a:rPr>
                        <a:t>[^ \t\n\r\f]</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latin typeface="Courier"/>
                          <a:cs typeface="Courier"/>
                        </a:rPr>
                        <a:t>a</a:t>
                      </a:r>
                      <a:r>
                        <a:rPr lang="en-US" sz="2000" baseline="0" dirty="0">
                          <a:latin typeface="Courier"/>
                          <a:cs typeface="Courier"/>
                        </a:rPr>
                        <a:t> non-whitespace character</a:t>
                      </a:r>
                      <a:endParaRPr lang="en-US" sz="2000" dirty="0">
                        <a:latin typeface="Courier"/>
                        <a:cs typeface="Courier"/>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r>
                        <a:rPr lang="en-US" sz="2000" dirty="0">
                          <a:latin typeface="Courier"/>
                          <a:cs typeface="Courier"/>
                        </a:rPr>
                        <a:t>\w</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latin typeface="Courier"/>
                          <a:cs typeface="Courier"/>
                        </a:rPr>
                        <a:t>[a-zA-Z0-9]</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latin typeface="Courier"/>
                          <a:cs typeface="Courier"/>
                        </a:rPr>
                        <a:t>a 'word'</a:t>
                      </a:r>
                      <a:r>
                        <a:rPr lang="en-US" sz="2000" baseline="0" dirty="0">
                          <a:latin typeface="Courier"/>
                          <a:cs typeface="Courier"/>
                        </a:rPr>
                        <a:t> character</a:t>
                      </a:r>
                      <a:endParaRPr lang="en-US" sz="2000" dirty="0">
                        <a:latin typeface="Courier"/>
                        <a:cs typeface="Courier"/>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r>
                        <a:rPr lang="en-US" sz="2000" dirty="0">
                          <a:latin typeface="Courier"/>
                          <a:cs typeface="Courier"/>
                        </a:rPr>
                        <a:t>\W</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latin typeface="Courier"/>
                          <a:cs typeface="Courier"/>
                        </a:rPr>
                        <a:t>[^a-zA-Z0-9]</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latin typeface="Courier"/>
                          <a:cs typeface="Courier"/>
                        </a:rPr>
                        <a:t>a 'non-word' character</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469607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0389" y="176523"/>
            <a:ext cx="8436747" cy="862385"/>
          </a:xfrm>
        </p:spPr>
        <p:txBody>
          <a:bodyPr>
            <a:normAutofit/>
          </a:bodyPr>
          <a:lstStyle/>
          <a:p>
            <a:r>
              <a:rPr lang="en-US" sz="3600" dirty="0" err="1">
                <a:latin typeface="+mn-lt"/>
                <a:cs typeface="Courier"/>
              </a:rPr>
              <a:t>Metacharacters</a:t>
            </a:r>
            <a:endParaRPr lang="en-US" sz="3600" dirty="0">
              <a:latin typeface="+mn-lt"/>
              <a:cs typeface="Courier"/>
            </a:endParaRPr>
          </a:p>
        </p:txBody>
      </p:sp>
      <p:sp>
        <p:nvSpPr>
          <p:cNvPr id="6" name="TextBox 5"/>
          <p:cNvSpPr txBox="1"/>
          <p:nvPr/>
        </p:nvSpPr>
        <p:spPr>
          <a:xfrm>
            <a:off x="359806" y="2279398"/>
            <a:ext cx="8447330" cy="553998"/>
          </a:xfrm>
          <a:prstGeom prst="rect">
            <a:avLst/>
          </a:prstGeom>
          <a:noFill/>
        </p:spPr>
        <p:txBody>
          <a:bodyPr wrap="square" rtlCol="0">
            <a:spAutoFit/>
          </a:bodyPr>
          <a:lstStyle/>
          <a:p>
            <a:pPr marL="0" lvl="2" algn="ctr">
              <a:spcAft>
                <a:spcPts val="800"/>
              </a:spcAft>
            </a:pPr>
            <a:r>
              <a:rPr lang="en-US" sz="3000" dirty="0">
                <a:solidFill>
                  <a:srgbClr val="0000FF"/>
                </a:solidFill>
                <a:latin typeface="Courier"/>
                <a:cs typeface="Courier"/>
              </a:rPr>
              <a:t>\ | ( ) [ ] { } ^ $ * + ? .</a:t>
            </a:r>
          </a:p>
        </p:txBody>
      </p:sp>
    </p:spTree>
    <p:extLst>
      <p:ext uri="{BB962C8B-B14F-4D97-AF65-F5344CB8AC3E}">
        <p14:creationId xmlns:p14="http://schemas.microsoft.com/office/powerpoint/2010/main" val="10872216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0389" y="176523"/>
            <a:ext cx="8436747" cy="862385"/>
          </a:xfrm>
        </p:spPr>
        <p:txBody>
          <a:bodyPr>
            <a:normAutofit/>
          </a:bodyPr>
          <a:lstStyle/>
          <a:p>
            <a:r>
              <a:rPr lang="en-US" sz="3600" dirty="0" err="1">
                <a:latin typeface="+mn-lt"/>
                <a:cs typeface="Courier"/>
              </a:rPr>
              <a:t>Metacharacters</a:t>
            </a:r>
            <a:endParaRPr lang="en-US" sz="3600" dirty="0">
              <a:latin typeface="+mn-lt"/>
              <a:cs typeface="Courier"/>
            </a:endParaRPr>
          </a:p>
        </p:txBody>
      </p:sp>
      <p:sp>
        <p:nvSpPr>
          <p:cNvPr id="6" name="TextBox 5"/>
          <p:cNvSpPr txBox="1"/>
          <p:nvPr/>
        </p:nvSpPr>
        <p:spPr>
          <a:xfrm>
            <a:off x="359805" y="1517422"/>
            <a:ext cx="8603441" cy="4524315"/>
          </a:xfrm>
          <a:prstGeom prst="rect">
            <a:avLst/>
          </a:prstGeom>
          <a:noFill/>
        </p:spPr>
        <p:txBody>
          <a:bodyPr wrap="square" rtlCol="0">
            <a:spAutoFit/>
          </a:bodyPr>
          <a:lstStyle/>
          <a:p>
            <a:pPr marL="530352" indent="-342900">
              <a:spcAft>
                <a:spcPts val="800"/>
              </a:spcAft>
              <a:buFont typeface="Arial"/>
              <a:buChar char="•"/>
            </a:pPr>
            <a:r>
              <a:rPr lang="en-US" sz="2400" dirty="0"/>
              <a:t>The dot</a:t>
            </a:r>
            <a:r>
              <a:rPr lang="en-US" sz="2400" dirty="0">
                <a:cs typeface="Courier"/>
              </a:rPr>
              <a:t> </a:t>
            </a:r>
            <a:r>
              <a:rPr lang="en-US" sz="2400" dirty="0">
                <a:latin typeface="Courier"/>
                <a:cs typeface="Courier"/>
              </a:rPr>
              <a:t>(.)</a:t>
            </a:r>
            <a:r>
              <a:rPr lang="en-US" sz="2400" dirty="0">
                <a:latin typeface="Calibri"/>
                <a:cs typeface="Calibri"/>
              </a:rPr>
              <a:t> is a wildcard character that matches any ONE character except a newline</a:t>
            </a:r>
            <a:endParaRPr lang="en-US" dirty="0">
              <a:solidFill>
                <a:srgbClr val="0000FF"/>
              </a:solidFill>
              <a:latin typeface="Courier"/>
              <a:cs typeface="Courier"/>
            </a:endParaRPr>
          </a:p>
          <a:p>
            <a:pPr marL="803275" lvl="2">
              <a:spcAft>
                <a:spcPts val="800"/>
              </a:spcAft>
            </a:pPr>
            <a:r>
              <a:rPr lang="en-US" dirty="0">
                <a:solidFill>
                  <a:srgbClr val="0000FF"/>
                </a:solidFill>
                <a:latin typeface="Courier"/>
                <a:cs typeface="Courier"/>
              </a:rPr>
              <a:t>artist = 'Alicia Keys'</a:t>
            </a:r>
          </a:p>
          <a:p>
            <a:pPr marL="803275" lvl="2">
              <a:spcAft>
                <a:spcPts val="800"/>
              </a:spcAft>
            </a:pPr>
            <a:r>
              <a:rPr lang="en-US" dirty="0" err="1">
                <a:solidFill>
                  <a:srgbClr val="0000FF"/>
                </a:solidFill>
                <a:latin typeface="Courier"/>
                <a:cs typeface="Courier"/>
              </a:rPr>
              <a:t>re.search</a:t>
            </a:r>
            <a:r>
              <a:rPr lang="en-US" dirty="0">
                <a:solidFill>
                  <a:srgbClr val="0000FF"/>
                </a:solidFill>
                <a:latin typeface="Courier"/>
                <a:cs typeface="Courier"/>
              </a:rPr>
              <a:t>("Alicia </a:t>
            </a:r>
            <a:r>
              <a:rPr lang="en-US" dirty="0" err="1">
                <a:solidFill>
                  <a:srgbClr val="0000FF"/>
                </a:solidFill>
                <a:latin typeface="Courier"/>
                <a:cs typeface="Courier"/>
              </a:rPr>
              <a:t>Ke.s</a:t>
            </a:r>
            <a:r>
              <a:rPr lang="en-US" dirty="0">
                <a:solidFill>
                  <a:srgbClr val="0000FF"/>
                </a:solidFill>
                <a:latin typeface="Courier"/>
                <a:cs typeface="Courier"/>
              </a:rPr>
              <a:t>", artist) # matches 'Alicia Keys'</a:t>
            </a:r>
          </a:p>
          <a:p>
            <a:pPr marL="519113" lvl="2" indent="-349250">
              <a:spcAft>
                <a:spcPts val="800"/>
              </a:spcAft>
              <a:buFont typeface="Arial"/>
              <a:buChar char="•"/>
            </a:pPr>
            <a:endParaRPr lang="en-US" sz="1200" dirty="0"/>
          </a:p>
          <a:p>
            <a:pPr marL="519113" lvl="2" indent="-349250">
              <a:spcAft>
                <a:spcPts val="800"/>
              </a:spcAft>
              <a:buFont typeface="Arial"/>
              <a:buChar char="•"/>
            </a:pPr>
            <a:r>
              <a:rPr lang="en-US" sz="2400" dirty="0"/>
              <a:t>Would also match, for example:</a:t>
            </a:r>
          </a:p>
          <a:p>
            <a:pPr marL="1893888" lvl="8" indent="-349250">
              <a:spcAft>
                <a:spcPts val="800"/>
              </a:spcAft>
              <a:buFont typeface="Lucida Grande"/>
              <a:buChar char="–"/>
            </a:pPr>
            <a:r>
              <a:rPr lang="en-US" dirty="0">
                <a:solidFill>
                  <a:srgbClr val="0000FF"/>
                </a:solidFill>
                <a:latin typeface="Courier"/>
                <a:cs typeface="Courier"/>
              </a:rPr>
              <a:t>Alicia Ke5s</a:t>
            </a:r>
            <a:endParaRPr lang="en-US" dirty="0"/>
          </a:p>
          <a:p>
            <a:pPr marL="1893888" lvl="8" indent="-349250">
              <a:spcAft>
                <a:spcPts val="800"/>
              </a:spcAft>
              <a:buFont typeface="Lucida Grande"/>
              <a:buChar char="–"/>
            </a:pPr>
            <a:r>
              <a:rPr lang="en-US" dirty="0">
                <a:solidFill>
                  <a:srgbClr val="0000FF"/>
                </a:solidFill>
                <a:latin typeface="Courier"/>
                <a:cs typeface="Courier"/>
              </a:rPr>
              <a:t>Alicia </a:t>
            </a:r>
            <a:r>
              <a:rPr lang="en-US" dirty="0" err="1">
                <a:solidFill>
                  <a:srgbClr val="0000FF"/>
                </a:solidFill>
                <a:latin typeface="Courier"/>
                <a:cs typeface="Courier"/>
              </a:rPr>
              <a:t>Ke</a:t>
            </a:r>
            <a:r>
              <a:rPr lang="en-US" dirty="0">
                <a:solidFill>
                  <a:srgbClr val="0000FF"/>
                </a:solidFill>
                <a:latin typeface="Courier"/>
                <a:cs typeface="Courier"/>
              </a:rPr>
              <a:t> s</a:t>
            </a:r>
            <a:endParaRPr lang="en-US" dirty="0"/>
          </a:p>
          <a:p>
            <a:pPr marL="1893888" lvl="8" indent="-349250">
              <a:spcAft>
                <a:spcPts val="800"/>
              </a:spcAft>
              <a:buFont typeface="Lucida Grande"/>
              <a:buChar char="–"/>
            </a:pPr>
            <a:r>
              <a:rPr lang="en-US" dirty="0">
                <a:solidFill>
                  <a:srgbClr val="0000FF"/>
                </a:solidFill>
                <a:latin typeface="Courier"/>
                <a:cs typeface="Courier"/>
              </a:rPr>
              <a:t>Alicia </a:t>
            </a:r>
            <a:r>
              <a:rPr lang="en-US" dirty="0" err="1">
                <a:solidFill>
                  <a:srgbClr val="0000FF"/>
                </a:solidFill>
                <a:latin typeface="Courier"/>
                <a:cs typeface="Courier"/>
              </a:rPr>
              <a:t>KeYs</a:t>
            </a:r>
            <a:endParaRPr lang="en-US" dirty="0"/>
          </a:p>
          <a:p>
            <a:pPr marL="1893888" lvl="8" indent="-349250">
              <a:spcAft>
                <a:spcPts val="800"/>
              </a:spcAft>
              <a:buFont typeface="Lucida Grande"/>
              <a:buChar char="–"/>
            </a:pPr>
            <a:r>
              <a:rPr lang="en-US" dirty="0">
                <a:solidFill>
                  <a:srgbClr val="0000FF"/>
                </a:solidFill>
                <a:latin typeface="Courier"/>
                <a:cs typeface="Courier"/>
              </a:rPr>
              <a:t>Alicia </a:t>
            </a:r>
            <a:r>
              <a:rPr lang="en-US" dirty="0" err="1">
                <a:solidFill>
                  <a:srgbClr val="0000FF"/>
                </a:solidFill>
                <a:latin typeface="Courier"/>
                <a:cs typeface="Courier"/>
              </a:rPr>
              <a:t>Kebs</a:t>
            </a:r>
            <a:endParaRPr lang="en-US" dirty="0"/>
          </a:p>
          <a:p>
            <a:pPr marL="1893888" lvl="8" indent="-349250">
              <a:spcAft>
                <a:spcPts val="800"/>
              </a:spcAft>
              <a:buFont typeface="Lucida Grande"/>
              <a:buChar char="–"/>
            </a:pPr>
            <a:r>
              <a:rPr lang="en-US" dirty="0">
                <a:solidFill>
                  <a:srgbClr val="0000FF"/>
                </a:solidFill>
                <a:latin typeface="Courier"/>
                <a:cs typeface="Courier"/>
              </a:rPr>
              <a:t>Alicia </a:t>
            </a:r>
            <a:r>
              <a:rPr lang="en-US" dirty="0" err="1">
                <a:solidFill>
                  <a:srgbClr val="0000FF"/>
                </a:solidFill>
                <a:latin typeface="Courier"/>
                <a:cs typeface="Courier"/>
              </a:rPr>
              <a:t>Ke%s</a:t>
            </a:r>
            <a:endParaRPr lang="en-US" dirty="0">
              <a:solidFill>
                <a:srgbClr val="0000FF"/>
              </a:solidFill>
              <a:latin typeface="Courier"/>
              <a:cs typeface="Courier"/>
            </a:endParaRPr>
          </a:p>
        </p:txBody>
      </p:sp>
    </p:spTree>
    <p:extLst>
      <p:ext uri="{BB962C8B-B14F-4D97-AF65-F5344CB8AC3E}">
        <p14:creationId xmlns:p14="http://schemas.microsoft.com/office/powerpoint/2010/main" val="4942962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0389" y="176523"/>
            <a:ext cx="8436747" cy="862385"/>
          </a:xfrm>
        </p:spPr>
        <p:txBody>
          <a:bodyPr>
            <a:normAutofit/>
          </a:bodyPr>
          <a:lstStyle/>
          <a:p>
            <a:r>
              <a:rPr lang="en-US" sz="3600" dirty="0">
                <a:latin typeface="+mn-lt"/>
                <a:cs typeface="Courier"/>
              </a:rPr>
              <a:t>The "any old junk" construct</a:t>
            </a:r>
          </a:p>
        </p:txBody>
      </p:sp>
      <p:sp>
        <p:nvSpPr>
          <p:cNvPr id="6" name="TextBox 5"/>
          <p:cNvSpPr txBox="1"/>
          <p:nvPr/>
        </p:nvSpPr>
        <p:spPr>
          <a:xfrm>
            <a:off x="359806" y="1337511"/>
            <a:ext cx="8447330" cy="3611245"/>
          </a:xfrm>
          <a:prstGeom prst="rect">
            <a:avLst/>
          </a:prstGeom>
          <a:noFill/>
        </p:spPr>
        <p:txBody>
          <a:bodyPr wrap="square" rtlCol="0">
            <a:spAutoFit/>
          </a:bodyPr>
          <a:lstStyle/>
          <a:p>
            <a:pPr algn="ctr">
              <a:spcAft>
                <a:spcPts val="800"/>
              </a:spcAft>
            </a:pPr>
            <a:r>
              <a:rPr lang="en-US" sz="2400" dirty="0">
                <a:solidFill>
                  <a:srgbClr val="0000FF"/>
                </a:solidFill>
                <a:latin typeface="Courier"/>
                <a:cs typeface="Courier"/>
              </a:rPr>
              <a:t>.*</a:t>
            </a:r>
            <a:r>
              <a:rPr lang="en-US" sz="2400" dirty="0"/>
              <a:t> will match any character or combination of characters (except a newline) any number of times</a:t>
            </a:r>
            <a:endParaRPr lang="en-US" dirty="0">
              <a:solidFill>
                <a:srgbClr val="0000FF"/>
              </a:solidFill>
              <a:latin typeface="Courier"/>
              <a:cs typeface="Courier"/>
            </a:endParaRPr>
          </a:p>
          <a:p>
            <a:pPr marL="1312863" lvl="2">
              <a:spcAft>
                <a:spcPts val="800"/>
              </a:spcAft>
            </a:pPr>
            <a:endParaRPr lang="en-US" dirty="0">
              <a:solidFill>
                <a:srgbClr val="0000FF"/>
              </a:solidFill>
              <a:latin typeface="Courier"/>
              <a:cs typeface="Courier"/>
            </a:endParaRPr>
          </a:p>
          <a:p>
            <a:pPr marL="1312863" lvl="2">
              <a:spcAft>
                <a:spcPts val="800"/>
              </a:spcAft>
            </a:pPr>
            <a:r>
              <a:rPr lang="en-US" sz="1600" dirty="0">
                <a:solidFill>
                  <a:srgbClr val="0000FF"/>
                </a:solidFill>
                <a:latin typeface="Courier"/>
                <a:cs typeface="Courier"/>
              </a:rPr>
              <a:t>artist = ‘Alicia </a:t>
            </a:r>
            <a:r>
              <a:rPr lang="en-US" sz="1600" dirty="0" err="1">
                <a:solidFill>
                  <a:srgbClr val="0000FF"/>
                </a:solidFill>
                <a:latin typeface="Courier"/>
                <a:cs typeface="Courier"/>
              </a:rPr>
              <a:t>GoBBleeGoo</a:t>
            </a:r>
            <a:r>
              <a:rPr lang="en-US" sz="1600" dirty="0">
                <a:solidFill>
                  <a:srgbClr val="0000FF"/>
                </a:solidFill>
                <a:latin typeface="Courier"/>
                <a:cs typeface="Courier"/>
              </a:rPr>
              <a:t>&amp;&amp;K==Keys'</a:t>
            </a:r>
          </a:p>
          <a:p>
            <a:pPr marL="1312863" lvl="2">
              <a:spcAft>
                <a:spcPts val="800"/>
              </a:spcAft>
            </a:pPr>
            <a:r>
              <a:rPr lang="en-US" sz="1600" dirty="0" err="1">
                <a:solidFill>
                  <a:srgbClr val="0000FF"/>
                </a:solidFill>
                <a:latin typeface="Courier"/>
                <a:cs typeface="Courier"/>
              </a:rPr>
              <a:t>re.search</a:t>
            </a:r>
            <a:r>
              <a:rPr lang="en-US" sz="1600" dirty="0">
                <a:solidFill>
                  <a:srgbClr val="0000FF"/>
                </a:solidFill>
                <a:latin typeface="Courier"/>
                <a:cs typeface="Courier"/>
              </a:rPr>
              <a:t>("Alicia.*Keys", artist)  </a:t>
            </a:r>
            <a:r>
              <a:rPr lang="en-US" sz="1600" dirty="0">
                <a:solidFill>
                  <a:srgbClr val="000000"/>
                </a:solidFill>
                <a:latin typeface="Courier"/>
                <a:cs typeface="Courier"/>
              </a:rPr>
              <a:t># does it match?</a:t>
            </a:r>
          </a:p>
          <a:p>
            <a:pPr marL="1312863" lvl="2">
              <a:spcBef>
                <a:spcPts val="1200"/>
              </a:spcBef>
              <a:spcAft>
                <a:spcPts val="800"/>
              </a:spcAft>
            </a:pPr>
            <a:r>
              <a:rPr lang="en-US" sz="1600" dirty="0">
                <a:solidFill>
                  <a:srgbClr val="0000FF"/>
                </a:solidFill>
                <a:latin typeface="Courier"/>
                <a:cs typeface="Courier"/>
              </a:rPr>
              <a:t>artist = 'Alicia Keys'</a:t>
            </a:r>
          </a:p>
          <a:p>
            <a:pPr marL="1312863" lvl="2">
              <a:spcAft>
                <a:spcPts val="800"/>
              </a:spcAft>
            </a:pPr>
            <a:r>
              <a:rPr lang="en-US" sz="1600" dirty="0" err="1">
                <a:solidFill>
                  <a:srgbClr val="0000FF"/>
                </a:solidFill>
                <a:latin typeface="Courier"/>
                <a:cs typeface="Courier"/>
              </a:rPr>
              <a:t>re.search</a:t>
            </a:r>
            <a:r>
              <a:rPr lang="en-US" sz="1600" dirty="0">
                <a:solidFill>
                  <a:srgbClr val="0000FF"/>
                </a:solidFill>
                <a:latin typeface="Courier"/>
                <a:cs typeface="Courier"/>
              </a:rPr>
              <a:t>("Alicia.*Keys", artist)  </a:t>
            </a:r>
            <a:r>
              <a:rPr lang="en-US" sz="1600" dirty="0">
                <a:solidFill>
                  <a:srgbClr val="000000"/>
                </a:solidFill>
                <a:latin typeface="Courier"/>
                <a:cs typeface="Courier"/>
              </a:rPr>
              <a:t># does it match?</a:t>
            </a:r>
          </a:p>
          <a:p>
            <a:pPr marL="1312863" lvl="2">
              <a:spcBef>
                <a:spcPts val="1200"/>
              </a:spcBef>
              <a:spcAft>
                <a:spcPts val="800"/>
              </a:spcAft>
            </a:pPr>
            <a:r>
              <a:rPr lang="en-US" sz="1600" dirty="0">
                <a:solidFill>
                  <a:srgbClr val="0000FF"/>
                </a:solidFill>
                <a:latin typeface="Courier"/>
                <a:cs typeface="Courier"/>
              </a:rPr>
              <a:t>artist = '</a:t>
            </a:r>
            <a:r>
              <a:rPr lang="en-US" sz="1600" dirty="0" err="1">
                <a:solidFill>
                  <a:srgbClr val="0000FF"/>
                </a:solidFill>
                <a:latin typeface="Courier"/>
                <a:cs typeface="Courier"/>
              </a:rPr>
              <a:t>AliciaKeys</a:t>
            </a:r>
            <a:r>
              <a:rPr lang="en-US" sz="1600" dirty="0">
                <a:solidFill>
                  <a:srgbClr val="0000FF"/>
                </a:solidFill>
                <a:latin typeface="Courier"/>
                <a:cs typeface="Courier"/>
              </a:rPr>
              <a:t>'</a:t>
            </a:r>
          </a:p>
          <a:p>
            <a:pPr marL="1312863" lvl="2">
              <a:spcAft>
                <a:spcPts val="800"/>
              </a:spcAft>
            </a:pPr>
            <a:r>
              <a:rPr lang="en-US" sz="1600" dirty="0" err="1">
                <a:solidFill>
                  <a:srgbClr val="0000FF"/>
                </a:solidFill>
                <a:latin typeface="Courier"/>
                <a:cs typeface="Courier"/>
              </a:rPr>
              <a:t>re.search</a:t>
            </a:r>
            <a:r>
              <a:rPr lang="en-US" sz="1600" dirty="0">
                <a:solidFill>
                  <a:srgbClr val="0000FF"/>
                </a:solidFill>
                <a:latin typeface="Courier"/>
                <a:cs typeface="Courier"/>
              </a:rPr>
              <a:t>("Alicia.*Keys", artist)  </a:t>
            </a:r>
            <a:r>
              <a:rPr lang="en-US" sz="1600" dirty="0">
                <a:solidFill>
                  <a:srgbClr val="000000"/>
                </a:solidFill>
                <a:latin typeface="Courier"/>
                <a:cs typeface="Courier"/>
              </a:rPr>
              <a:t># does it match?</a:t>
            </a:r>
          </a:p>
        </p:txBody>
      </p:sp>
    </p:spTree>
    <p:extLst>
      <p:ext uri="{BB962C8B-B14F-4D97-AF65-F5344CB8AC3E}">
        <p14:creationId xmlns:p14="http://schemas.microsoft.com/office/powerpoint/2010/main" val="42851496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0389" y="176523"/>
            <a:ext cx="8436747" cy="862385"/>
          </a:xfrm>
        </p:spPr>
        <p:txBody>
          <a:bodyPr>
            <a:normAutofit/>
          </a:bodyPr>
          <a:lstStyle/>
          <a:p>
            <a:r>
              <a:rPr lang="en-US" sz="3600" dirty="0">
                <a:latin typeface="+mn-lt"/>
                <a:cs typeface="Courier"/>
              </a:rPr>
              <a:t>Quantifiers</a:t>
            </a:r>
          </a:p>
        </p:txBody>
      </p:sp>
      <p:sp>
        <p:nvSpPr>
          <p:cNvPr id="6" name="TextBox 5"/>
          <p:cNvSpPr txBox="1"/>
          <p:nvPr/>
        </p:nvSpPr>
        <p:spPr>
          <a:xfrm>
            <a:off x="359806" y="1337511"/>
            <a:ext cx="8447330" cy="3498394"/>
          </a:xfrm>
          <a:prstGeom prst="rect">
            <a:avLst/>
          </a:prstGeom>
          <a:noFill/>
        </p:spPr>
        <p:txBody>
          <a:bodyPr wrap="square" rtlCol="0">
            <a:spAutoFit/>
          </a:bodyPr>
          <a:lstStyle/>
          <a:p>
            <a:pPr algn="ctr">
              <a:spcAft>
                <a:spcPts val="800"/>
              </a:spcAft>
            </a:pPr>
            <a:r>
              <a:rPr lang="en-US" sz="2400" dirty="0">
                <a:solidFill>
                  <a:srgbClr val="0000FF"/>
                </a:solidFill>
                <a:latin typeface="Courier"/>
                <a:cs typeface="Courier"/>
              </a:rPr>
              <a:t>? </a:t>
            </a:r>
            <a:r>
              <a:rPr lang="en-US" sz="2400" dirty="0"/>
              <a:t>means to match the preceding character ZERO OR ONE</a:t>
            </a:r>
            <a:r>
              <a:rPr lang="en-US" sz="2400" b="1" dirty="0"/>
              <a:t> </a:t>
            </a:r>
            <a:r>
              <a:rPr lang="en-US" sz="2400" dirty="0"/>
              <a:t>times</a:t>
            </a:r>
            <a:endParaRPr lang="en-US" dirty="0">
              <a:solidFill>
                <a:srgbClr val="0000FF"/>
              </a:solidFill>
              <a:latin typeface="Courier"/>
              <a:cs typeface="Courier"/>
            </a:endParaRPr>
          </a:p>
          <a:p>
            <a:pPr marL="231775" lvl="2">
              <a:spcAft>
                <a:spcPts val="800"/>
              </a:spcAft>
            </a:pPr>
            <a:endParaRPr lang="en-US" dirty="0">
              <a:solidFill>
                <a:srgbClr val="0000FF"/>
              </a:solidFill>
              <a:latin typeface="Courier"/>
              <a:cs typeface="Courier"/>
            </a:endParaRPr>
          </a:p>
          <a:p>
            <a:pPr marL="231775" lvl="2">
              <a:spcAft>
                <a:spcPts val="800"/>
              </a:spcAft>
            </a:pPr>
            <a:r>
              <a:rPr lang="en-US" dirty="0">
                <a:solidFill>
                  <a:srgbClr val="0000FF"/>
                </a:solidFill>
                <a:latin typeface="Courier"/>
                <a:cs typeface="Courier"/>
              </a:rPr>
              <a:t>artist = 'Alicia Keys’</a:t>
            </a:r>
          </a:p>
          <a:p>
            <a:pPr marL="231775" lvl="2">
              <a:spcAft>
                <a:spcPts val="800"/>
              </a:spcAft>
            </a:pPr>
            <a:r>
              <a:rPr lang="en-US" dirty="0">
                <a:solidFill>
                  <a:srgbClr val="0000FF"/>
                </a:solidFill>
                <a:latin typeface="Courier"/>
                <a:cs typeface="Courier"/>
              </a:rPr>
              <a:t>match = </a:t>
            </a:r>
            <a:r>
              <a:rPr lang="en-US" dirty="0" err="1">
                <a:solidFill>
                  <a:srgbClr val="0000FF"/>
                </a:solidFill>
                <a:latin typeface="Courier"/>
                <a:cs typeface="Courier"/>
              </a:rPr>
              <a:t>re.search</a:t>
            </a:r>
            <a:r>
              <a:rPr lang="en-US" dirty="0">
                <a:solidFill>
                  <a:srgbClr val="0000FF"/>
                </a:solidFill>
                <a:latin typeface="Courier"/>
                <a:cs typeface="Courier"/>
              </a:rPr>
              <a:t>("Alicia ?Keys", artist) </a:t>
            </a:r>
            <a:r>
              <a:rPr lang="en-US" dirty="0">
                <a:solidFill>
                  <a:srgbClr val="000000"/>
                </a:solidFill>
                <a:latin typeface="Courier"/>
                <a:cs typeface="Courier"/>
              </a:rPr>
              <a:t># does it match?</a:t>
            </a:r>
          </a:p>
          <a:p>
            <a:pPr marL="231775" lvl="2">
              <a:spcAft>
                <a:spcPts val="800"/>
              </a:spcAft>
            </a:pPr>
            <a:endParaRPr lang="en-US" dirty="0">
              <a:solidFill>
                <a:srgbClr val="0000FF"/>
              </a:solidFill>
              <a:latin typeface="Courier"/>
              <a:cs typeface="Courier"/>
            </a:endParaRPr>
          </a:p>
          <a:p>
            <a:pPr marL="231775" lvl="2">
              <a:spcAft>
                <a:spcPts val="800"/>
              </a:spcAft>
            </a:pPr>
            <a:r>
              <a:rPr lang="en-US" dirty="0">
                <a:solidFill>
                  <a:srgbClr val="0000FF"/>
                </a:solidFill>
                <a:latin typeface="Courier"/>
                <a:cs typeface="Courier"/>
              </a:rPr>
              <a:t>artist = '</a:t>
            </a:r>
            <a:r>
              <a:rPr lang="en-US" dirty="0" err="1">
                <a:solidFill>
                  <a:srgbClr val="0000FF"/>
                </a:solidFill>
                <a:latin typeface="Courier"/>
                <a:cs typeface="Courier"/>
              </a:rPr>
              <a:t>AliciaKeys</a:t>
            </a:r>
            <a:r>
              <a:rPr lang="en-US" dirty="0">
                <a:solidFill>
                  <a:srgbClr val="0000FF"/>
                </a:solidFill>
                <a:latin typeface="Courier"/>
                <a:cs typeface="Courier"/>
              </a:rPr>
              <a:t>'</a:t>
            </a:r>
          </a:p>
          <a:p>
            <a:pPr marL="231775" lvl="2">
              <a:spcAft>
                <a:spcPts val="800"/>
              </a:spcAft>
            </a:pPr>
            <a:r>
              <a:rPr lang="en-US" dirty="0">
                <a:solidFill>
                  <a:srgbClr val="0000FF"/>
                </a:solidFill>
                <a:latin typeface="Courier"/>
                <a:cs typeface="Courier"/>
              </a:rPr>
              <a:t>match = </a:t>
            </a:r>
            <a:r>
              <a:rPr lang="en-US" dirty="0" err="1">
                <a:solidFill>
                  <a:srgbClr val="0000FF"/>
                </a:solidFill>
                <a:latin typeface="Courier"/>
                <a:cs typeface="Courier"/>
              </a:rPr>
              <a:t>re.search</a:t>
            </a:r>
            <a:r>
              <a:rPr lang="en-US" dirty="0">
                <a:solidFill>
                  <a:srgbClr val="0000FF"/>
                </a:solidFill>
                <a:latin typeface="Courier"/>
                <a:cs typeface="Courier"/>
              </a:rPr>
              <a:t>("Alicia ?Keys", artist) </a:t>
            </a:r>
            <a:r>
              <a:rPr lang="en-US" dirty="0">
                <a:solidFill>
                  <a:srgbClr val="000000"/>
                </a:solidFill>
                <a:latin typeface="Courier"/>
                <a:cs typeface="Courier"/>
              </a:rPr>
              <a:t># does it match?</a:t>
            </a:r>
          </a:p>
          <a:p>
            <a:pPr marL="1312863" lvl="2">
              <a:spcAft>
                <a:spcPts val="800"/>
              </a:spcAft>
            </a:pPr>
            <a:endParaRPr lang="en-US" dirty="0">
              <a:solidFill>
                <a:srgbClr val="0000FF"/>
              </a:solidFill>
              <a:latin typeface="Courier"/>
              <a:cs typeface="Courier"/>
            </a:endParaRPr>
          </a:p>
          <a:p>
            <a:pPr marL="1312863" lvl="2">
              <a:spcAft>
                <a:spcPts val="800"/>
              </a:spcAft>
            </a:pPr>
            <a:endParaRPr lang="en-US" dirty="0">
              <a:solidFill>
                <a:srgbClr val="0000FF"/>
              </a:solidFill>
              <a:latin typeface="Courier"/>
              <a:cs typeface="Courier"/>
            </a:endParaRPr>
          </a:p>
        </p:txBody>
      </p:sp>
      <p:sp>
        <p:nvSpPr>
          <p:cNvPr id="7" name="TextBox 6"/>
          <p:cNvSpPr txBox="1"/>
          <p:nvPr/>
        </p:nvSpPr>
        <p:spPr>
          <a:xfrm>
            <a:off x="497416" y="5182749"/>
            <a:ext cx="2662508" cy="830997"/>
          </a:xfrm>
          <a:prstGeom prst="rect">
            <a:avLst/>
          </a:prstGeom>
          <a:noFill/>
        </p:spPr>
        <p:txBody>
          <a:bodyPr wrap="none" rtlCol="0">
            <a:spAutoFit/>
          </a:bodyPr>
          <a:lstStyle/>
          <a:p>
            <a:r>
              <a:rPr lang="en-US" sz="2400" dirty="0">
                <a:solidFill>
                  <a:srgbClr val="0000FF"/>
                </a:solidFill>
                <a:latin typeface="Courier"/>
                <a:cs typeface="Courier"/>
                <a:sym typeface="Wingdings"/>
              </a:rPr>
              <a:t>* </a:t>
            </a:r>
            <a:r>
              <a:rPr lang="en-US" sz="2400" dirty="0">
                <a:sym typeface="Wingdings"/>
              </a:rPr>
              <a:t> zero or MORE </a:t>
            </a:r>
          </a:p>
          <a:p>
            <a:r>
              <a:rPr lang="en-US" sz="2400" dirty="0">
                <a:solidFill>
                  <a:srgbClr val="0000FF"/>
                </a:solidFill>
                <a:latin typeface="Courier"/>
                <a:cs typeface="Courier"/>
              </a:rPr>
              <a:t>? </a:t>
            </a:r>
            <a:r>
              <a:rPr lang="en-US" sz="2400" dirty="0">
                <a:sym typeface="Wingdings"/>
              </a:rPr>
              <a:t> zero or ONE</a:t>
            </a:r>
            <a:endParaRPr lang="en-US" sz="2400" dirty="0"/>
          </a:p>
        </p:txBody>
      </p:sp>
    </p:spTree>
    <p:extLst>
      <p:ext uri="{BB962C8B-B14F-4D97-AF65-F5344CB8AC3E}">
        <p14:creationId xmlns:p14="http://schemas.microsoft.com/office/powerpoint/2010/main" val="8791350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0389" y="176523"/>
            <a:ext cx="8436747" cy="862385"/>
          </a:xfrm>
        </p:spPr>
        <p:txBody>
          <a:bodyPr>
            <a:normAutofit/>
          </a:bodyPr>
          <a:lstStyle/>
          <a:p>
            <a:r>
              <a:rPr lang="en-US" sz="3600" dirty="0">
                <a:latin typeface="+mn-lt"/>
                <a:cs typeface="Courier"/>
              </a:rPr>
              <a:t>Quantifiers</a:t>
            </a:r>
          </a:p>
        </p:txBody>
      </p:sp>
      <p:sp>
        <p:nvSpPr>
          <p:cNvPr id="6" name="TextBox 5"/>
          <p:cNvSpPr txBox="1"/>
          <p:nvPr/>
        </p:nvSpPr>
        <p:spPr>
          <a:xfrm>
            <a:off x="359805" y="1188649"/>
            <a:ext cx="8587813" cy="3877985"/>
          </a:xfrm>
          <a:prstGeom prst="rect">
            <a:avLst/>
          </a:prstGeom>
          <a:noFill/>
        </p:spPr>
        <p:txBody>
          <a:bodyPr wrap="square" rtlCol="0">
            <a:spAutoFit/>
          </a:bodyPr>
          <a:lstStyle/>
          <a:p>
            <a:pPr algn="ctr">
              <a:spcAft>
                <a:spcPts val="800"/>
              </a:spcAft>
            </a:pPr>
            <a:r>
              <a:rPr lang="en-US" sz="2400" dirty="0">
                <a:solidFill>
                  <a:srgbClr val="0000FF"/>
                </a:solidFill>
                <a:latin typeface="Courier"/>
                <a:cs typeface="Courier"/>
              </a:rPr>
              <a:t>+ </a:t>
            </a:r>
            <a:r>
              <a:rPr lang="en-US" sz="2400" dirty="0"/>
              <a:t>means to match the preceding character ONE OR MORE times</a:t>
            </a:r>
            <a:endParaRPr lang="en-US" dirty="0">
              <a:solidFill>
                <a:srgbClr val="0000FF"/>
              </a:solidFill>
              <a:latin typeface="Courier"/>
              <a:cs typeface="Courier"/>
            </a:endParaRPr>
          </a:p>
          <a:p>
            <a:pPr marL="1312863" lvl="2">
              <a:spcAft>
                <a:spcPts val="800"/>
              </a:spcAft>
            </a:pPr>
            <a:endParaRPr lang="en-US" dirty="0">
              <a:solidFill>
                <a:srgbClr val="0000FF"/>
              </a:solidFill>
              <a:latin typeface="Courier"/>
              <a:cs typeface="Courier"/>
            </a:endParaRPr>
          </a:p>
          <a:p>
            <a:pPr marL="1312863" lvl="2">
              <a:spcAft>
                <a:spcPts val="800"/>
              </a:spcAft>
            </a:pPr>
            <a:r>
              <a:rPr lang="en-US" dirty="0">
                <a:solidFill>
                  <a:srgbClr val="0000FF"/>
                </a:solidFill>
                <a:latin typeface="Courier"/>
                <a:cs typeface="Courier"/>
              </a:rPr>
              <a:t>artist = 'Alicia Keys’</a:t>
            </a:r>
          </a:p>
          <a:p>
            <a:pPr marL="1312863" lvl="2">
              <a:spcAft>
                <a:spcPts val="800"/>
              </a:spcAft>
            </a:pPr>
            <a:r>
              <a:rPr lang="en-US" dirty="0" err="1">
                <a:solidFill>
                  <a:srgbClr val="0000FF"/>
                </a:solidFill>
                <a:latin typeface="Courier"/>
                <a:cs typeface="Courier"/>
              </a:rPr>
              <a:t>re.search</a:t>
            </a:r>
            <a:r>
              <a:rPr lang="en-US" dirty="0">
                <a:solidFill>
                  <a:srgbClr val="0000FF"/>
                </a:solidFill>
                <a:latin typeface="Courier"/>
                <a:cs typeface="Courier"/>
              </a:rPr>
              <a:t>(“</a:t>
            </a:r>
            <a:r>
              <a:rPr lang="en-US" dirty="0" err="1">
                <a:solidFill>
                  <a:srgbClr val="0000FF"/>
                </a:solidFill>
                <a:latin typeface="Courier"/>
                <a:cs typeface="Courier"/>
              </a:rPr>
              <a:t>Al+icia</a:t>
            </a:r>
            <a:r>
              <a:rPr lang="en-US" dirty="0">
                <a:solidFill>
                  <a:srgbClr val="0000FF"/>
                </a:solidFill>
                <a:latin typeface="Courier"/>
                <a:cs typeface="Courier"/>
              </a:rPr>
              <a:t> Keys”, artist)  </a:t>
            </a:r>
            <a:r>
              <a:rPr lang="en-US" dirty="0">
                <a:solidFill>
                  <a:srgbClr val="000000"/>
                </a:solidFill>
                <a:latin typeface="Courier"/>
                <a:cs typeface="Courier"/>
              </a:rPr>
              <a:t># does it match?</a:t>
            </a:r>
          </a:p>
          <a:p>
            <a:pPr marL="1312863" lvl="2">
              <a:spcAft>
                <a:spcPts val="800"/>
              </a:spcAft>
            </a:pPr>
            <a:endParaRPr lang="en-US" dirty="0">
              <a:solidFill>
                <a:srgbClr val="0000FF"/>
              </a:solidFill>
              <a:latin typeface="Courier"/>
              <a:cs typeface="Courier"/>
            </a:endParaRPr>
          </a:p>
          <a:p>
            <a:pPr marL="1312863" lvl="2">
              <a:spcAft>
                <a:spcPts val="800"/>
              </a:spcAft>
            </a:pPr>
            <a:r>
              <a:rPr lang="en-US" dirty="0">
                <a:solidFill>
                  <a:srgbClr val="0000FF"/>
                </a:solidFill>
                <a:latin typeface="Courier"/>
                <a:cs typeface="Courier"/>
              </a:rPr>
              <a:t>artist = '</a:t>
            </a:r>
            <a:r>
              <a:rPr lang="en-US" dirty="0" err="1">
                <a:solidFill>
                  <a:srgbClr val="0000FF"/>
                </a:solidFill>
                <a:latin typeface="Courier"/>
                <a:cs typeface="Courier"/>
              </a:rPr>
              <a:t>Allllllicia</a:t>
            </a:r>
            <a:r>
              <a:rPr lang="en-US" dirty="0">
                <a:solidFill>
                  <a:srgbClr val="0000FF"/>
                </a:solidFill>
                <a:latin typeface="Courier"/>
                <a:cs typeface="Courier"/>
              </a:rPr>
              <a:t> Keys’</a:t>
            </a:r>
          </a:p>
          <a:p>
            <a:pPr marL="1312863" lvl="2">
              <a:spcAft>
                <a:spcPts val="800"/>
              </a:spcAft>
            </a:pPr>
            <a:r>
              <a:rPr lang="en-US" dirty="0" err="1">
                <a:solidFill>
                  <a:srgbClr val="0000FF"/>
                </a:solidFill>
                <a:latin typeface="Courier"/>
                <a:cs typeface="Courier"/>
              </a:rPr>
              <a:t>re.search</a:t>
            </a:r>
            <a:r>
              <a:rPr lang="en-US" dirty="0">
                <a:solidFill>
                  <a:srgbClr val="0000FF"/>
                </a:solidFill>
                <a:latin typeface="Courier"/>
                <a:cs typeface="Courier"/>
              </a:rPr>
              <a:t>(“</a:t>
            </a:r>
            <a:r>
              <a:rPr lang="en-US" dirty="0" err="1">
                <a:solidFill>
                  <a:srgbClr val="0000FF"/>
                </a:solidFill>
                <a:latin typeface="Courier"/>
                <a:cs typeface="Courier"/>
              </a:rPr>
              <a:t>Al+icia</a:t>
            </a:r>
            <a:r>
              <a:rPr lang="en-US" dirty="0">
                <a:solidFill>
                  <a:srgbClr val="0000FF"/>
                </a:solidFill>
                <a:latin typeface="Courier"/>
                <a:cs typeface="Courier"/>
              </a:rPr>
              <a:t> +Keys”, artist) </a:t>
            </a:r>
            <a:r>
              <a:rPr lang="en-US" dirty="0">
                <a:solidFill>
                  <a:srgbClr val="000000"/>
                </a:solidFill>
                <a:latin typeface="Courier"/>
                <a:cs typeface="Courier"/>
              </a:rPr>
              <a:t># does it match?</a:t>
            </a:r>
          </a:p>
          <a:p>
            <a:pPr marL="1312863" lvl="2">
              <a:spcAft>
                <a:spcPts val="800"/>
              </a:spcAft>
            </a:pPr>
            <a:endParaRPr lang="en-US" dirty="0">
              <a:solidFill>
                <a:srgbClr val="0000FF"/>
              </a:solidFill>
              <a:latin typeface="Courier"/>
              <a:cs typeface="Courier"/>
            </a:endParaRPr>
          </a:p>
          <a:p>
            <a:pPr marL="1312863" lvl="2">
              <a:spcAft>
                <a:spcPts val="800"/>
              </a:spcAft>
            </a:pPr>
            <a:r>
              <a:rPr lang="en-US" dirty="0">
                <a:solidFill>
                  <a:srgbClr val="0000FF"/>
                </a:solidFill>
                <a:latin typeface="Courier"/>
                <a:cs typeface="Courier"/>
              </a:rPr>
              <a:t>artist = '</a:t>
            </a:r>
            <a:r>
              <a:rPr lang="en-US" dirty="0" err="1">
                <a:solidFill>
                  <a:srgbClr val="0000FF"/>
                </a:solidFill>
                <a:latin typeface="Courier"/>
                <a:cs typeface="Courier"/>
              </a:rPr>
              <a:t>AliciaKeys</a:t>
            </a:r>
            <a:r>
              <a:rPr lang="en-US" dirty="0">
                <a:solidFill>
                  <a:srgbClr val="0000FF"/>
                </a:solidFill>
                <a:latin typeface="Courier"/>
                <a:cs typeface="Courier"/>
              </a:rPr>
              <a:t>’</a:t>
            </a:r>
          </a:p>
          <a:p>
            <a:pPr marL="1312863" lvl="2">
              <a:spcAft>
                <a:spcPts val="800"/>
              </a:spcAft>
            </a:pPr>
            <a:r>
              <a:rPr lang="en-US" dirty="0" err="1">
                <a:solidFill>
                  <a:srgbClr val="0000FF"/>
                </a:solidFill>
                <a:latin typeface="Courier"/>
                <a:cs typeface="Courier"/>
              </a:rPr>
              <a:t>re.search</a:t>
            </a:r>
            <a:r>
              <a:rPr lang="en-US" dirty="0">
                <a:solidFill>
                  <a:srgbClr val="0000FF"/>
                </a:solidFill>
                <a:latin typeface="Courier"/>
                <a:cs typeface="Courier"/>
              </a:rPr>
              <a:t>(“ +”, artist)            </a:t>
            </a:r>
            <a:r>
              <a:rPr lang="en-US" dirty="0">
                <a:solidFill>
                  <a:srgbClr val="000000"/>
                </a:solidFill>
                <a:latin typeface="Courier"/>
                <a:cs typeface="Courier"/>
              </a:rPr>
              <a:t># does it match?</a:t>
            </a:r>
            <a:endParaRPr lang="en-US" dirty="0">
              <a:solidFill>
                <a:srgbClr val="0000FF"/>
              </a:solidFill>
              <a:latin typeface="Courier"/>
              <a:cs typeface="Courier"/>
            </a:endParaRPr>
          </a:p>
        </p:txBody>
      </p:sp>
      <p:sp>
        <p:nvSpPr>
          <p:cNvPr id="5" name="TextBox 4"/>
          <p:cNvSpPr txBox="1"/>
          <p:nvPr/>
        </p:nvSpPr>
        <p:spPr>
          <a:xfrm>
            <a:off x="497416" y="5299162"/>
            <a:ext cx="2662508" cy="1200328"/>
          </a:xfrm>
          <a:prstGeom prst="rect">
            <a:avLst/>
          </a:prstGeom>
          <a:noFill/>
        </p:spPr>
        <p:txBody>
          <a:bodyPr wrap="none" rtlCol="0">
            <a:spAutoFit/>
          </a:bodyPr>
          <a:lstStyle/>
          <a:p>
            <a:r>
              <a:rPr lang="en-US" sz="2400" dirty="0">
                <a:solidFill>
                  <a:srgbClr val="0000FF"/>
                </a:solidFill>
                <a:latin typeface="Courier"/>
                <a:cs typeface="Courier"/>
                <a:sym typeface="Wingdings"/>
              </a:rPr>
              <a:t>* </a:t>
            </a:r>
            <a:r>
              <a:rPr lang="en-US" sz="2400" dirty="0">
                <a:sym typeface="Wingdings"/>
              </a:rPr>
              <a:t> zero or MORE </a:t>
            </a:r>
          </a:p>
          <a:p>
            <a:r>
              <a:rPr lang="en-US" sz="2400" dirty="0">
                <a:solidFill>
                  <a:srgbClr val="0000FF"/>
                </a:solidFill>
                <a:latin typeface="Courier"/>
                <a:cs typeface="Courier"/>
              </a:rPr>
              <a:t>? </a:t>
            </a:r>
            <a:r>
              <a:rPr lang="en-US" sz="2400" dirty="0">
                <a:sym typeface="Wingdings"/>
              </a:rPr>
              <a:t> zero or ONE</a:t>
            </a:r>
          </a:p>
          <a:p>
            <a:r>
              <a:rPr lang="en-US" sz="2400" dirty="0">
                <a:solidFill>
                  <a:srgbClr val="0000FF"/>
                </a:solidFill>
                <a:latin typeface="Courier"/>
                <a:cs typeface="Courier"/>
              </a:rPr>
              <a:t>+ </a:t>
            </a:r>
            <a:r>
              <a:rPr lang="en-US" sz="2400" dirty="0">
                <a:sym typeface="Wingdings"/>
              </a:rPr>
              <a:t> one or MORE</a:t>
            </a:r>
            <a:endParaRPr lang="en-US" sz="2400" dirty="0"/>
          </a:p>
        </p:txBody>
      </p:sp>
    </p:spTree>
    <p:extLst>
      <p:ext uri="{BB962C8B-B14F-4D97-AF65-F5344CB8AC3E}">
        <p14:creationId xmlns:p14="http://schemas.microsoft.com/office/powerpoint/2010/main" val="23480896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0389" y="176523"/>
            <a:ext cx="8436747" cy="862385"/>
          </a:xfrm>
        </p:spPr>
        <p:txBody>
          <a:bodyPr>
            <a:normAutofit/>
          </a:bodyPr>
          <a:lstStyle/>
          <a:p>
            <a:r>
              <a:rPr lang="en-US" sz="3600" dirty="0">
                <a:latin typeface="+mn-lt"/>
                <a:cs typeface="Courier"/>
              </a:rPr>
              <a:t>General quantifiers</a:t>
            </a:r>
          </a:p>
        </p:txBody>
      </p:sp>
      <p:sp>
        <p:nvSpPr>
          <p:cNvPr id="6" name="TextBox 5"/>
          <p:cNvSpPr txBox="1"/>
          <p:nvPr/>
        </p:nvSpPr>
        <p:spPr>
          <a:xfrm>
            <a:off x="359806" y="1337511"/>
            <a:ext cx="8447330" cy="3529171"/>
          </a:xfrm>
          <a:prstGeom prst="rect">
            <a:avLst/>
          </a:prstGeom>
          <a:noFill/>
        </p:spPr>
        <p:txBody>
          <a:bodyPr wrap="square" rtlCol="0">
            <a:spAutoFit/>
          </a:bodyPr>
          <a:lstStyle/>
          <a:p>
            <a:pPr>
              <a:spcAft>
                <a:spcPts val="800"/>
              </a:spcAft>
            </a:pPr>
            <a:r>
              <a:rPr lang="en-US" sz="2000" dirty="0">
                <a:solidFill>
                  <a:srgbClr val="0000FF"/>
                </a:solidFill>
                <a:latin typeface="Courier"/>
                <a:cs typeface="Courier"/>
              </a:rPr>
              <a:t>{N}   </a:t>
            </a:r>
            <a:r>
              <a:rPr lang="en-US" sz="2000" dirty="0">
                <a:latin typeface="Courier"/>
                <a:cs typeface="Courier"/>
              </a:rPr>
              <a:t>match exactly  </a:t>
            </a:r>
            <a:r>
              <a:rPr lang="en-US" sz="2000" i="1" dirty="0">
                <a:latin typeface="Courier"/>
                <a:cs typeface="Courier"/>
              </a:rPr>
              <a:t>N</a:t>
            </a:r>
            <a:r>
              <a:rPr lang="en-US" sz="2000" dirty="0">
                <a:latin typeface="Courier"/>
                <a:cs typeface="Courier"/>
              </a:rPr>
              <a:t> times</a:t>
            </a:r>
          </a:p>
          <a:p>
            <a:pPr>
              <a:spcAft>
                <a:spcPts val="800"/>
              </a:spcAft>
            </a:pPr>
            <a:r>
              <a:rPr lang="en-US" sz="2000" dirty="0">
                <a:solidFill>
                  <a:srgbClr val="0000FF"/>
                </a:solidFill>
                <a:latin typeface="Courier"/>
                <a:cs typeface="Courier"/>
              </a:rPr>
              <a:t>{N,}  </a:t>
            </a:r>
            <a:r>
              <a:rPr lang="en-US" sz="2000" dirty="0">
                <a:latin typeface="Courier"/>
                <a:cs typeface="Courier"/>
              </a:rPr>
              <a:t>match at least </a:t>
            </a:r>
            <a:r>
              <a:rPr lang="en-US" sz="2000" i="1" dirty="0">
                <a:latin typeface="Courier"/>
                <a:cs typeface="Courier"/>
              </a:rPr>
              <a:t>N</a:t>
            </a:r>
            <a:r>
              <a:rPr lang="en-US" sz="2000" dirty="0">
                <a:latin typeface="Courier"/>
                <a:cs typeface="Courier"/>
              </a:rPr>
              <a:t> times</a:t>
            </a:r>
            <a:endParaRPr lang="en-US" sz="2000" dirty="0">
              <a:solidFill>
                <a:srgbClr val="0000FF"/>
              </a:solidFill>
              <a:latin typeface="Courier"/>
              <a:cs typeface="Courier"/>
            </a:endParaRPr>
          </a:p>
          <a:p>
            <a:pPr>
              <a:spcAft>
                <a:spcPts val="800"/>
              </a:spcAft>
            </a:pPr>
            <a:r>
              <a:rPr lang="en-US" sz="2000" dirty="0">
                <a:solidFill>
                  <a:srgbClr val="0000FF"/>
                </a:solidFill>
                <a:latin typeface="Courier"/>
                <a:cs typeface="Courier"/>
              </a:rPr>
              <a:t>{N,M} </a:t>
            </a:r>
            <a:r>
              <a:rPr lang="en-US" sz="2000" dirty="0">
                <a:latin typeface="Courier"/>
                <a:cs typeface="Courier"/>
              </a:rPr>
              <a:t>match at least </a:t>
            </a:r>
            <a:r>
              <a:rPr lang="en-US" sz="2000" i="1" dirty="0">
                <a:latin typeface="Courier"/>
                <a:cs typeface="Courier"/>
              </a:rPr>
              <a:t>N</a:t>
            </a:r>
            <a:r>
              <a:rPr lang="en-US" sz="2000" dirty="0">
                <a:latin typeface="Courier"/>
                <a:cs typeface="Courier"/>
              </a:rPr>
              <a:t> times but not more than </a:t>
            </a:r>
            <a:r>
              <a:rPr lang="en-US" sz="2000" i="1" dirty="0">
                <a:latin typeface="Courier"/>
                <a:cs typeface="Courier"/>
              </a:rPr>
              <a:t>M</a:t>
            </a:r>
            <a:r>
              <a:rPr lang="en-US" sz="2000" dirty="0">
                <a:latin typeface="Courier"/>
                <a:cs typeface="Courier"/>
              </a:rPr>
              <a:t> times</a:t>
            </a:r>
            <a:endParaRPr lang="en-US" sz="2000" dirty="0">
              <a:solidFill>
                <a:srgbClr val="0000FF"/>
              </a:solidFill>
              <a:latin typeface="Courier"/>
              <a:cs typeface="Courier"/>
            </a:endParaRPr>
          </a:p>
          <a:p>
            <a:pPr>
              <a:spcAft>
                <a:spcPts val="800"/>
              </a:spcAft>
            </a:pPr>
            <a:endParaRPr lang="en-US" sz="2000" dirty="0">
              <a:solidFill>
                <a:srgbClr val="0000FF"/>
              </a:solidFill>
              <a:latin typeface="Courier"/>
              <a:cs typeface="Courier"/>
            </a:endParaRPr>
          </a:p>
          <a:p>
            <a:pPr>
              <a:spcAft>
                <a:spcPts val="800"/>
              </a:spcAft>
            </a:pPr>
            <a:r>
              <a:rPr lang="en-US" dirty="0">
                <a:solidFill>
                  <a:srgbClr val="0000FF"/>
                </a:solidFill>
                <a:latin typeface="Courier"/>
                <a:cs typeface="Courier"/>
              </a:rPr>
              <a:t>artist = </a:t>
            </a:r>
            <a:r>
              <a:rPr lang="en-US" dirty="0" err="1">
                <a:solidFill>
                  <a:srgbClr val="0000FF"/>
                </a:solidFill>
                <a:latin typeface="Courier"/>
                <a:cs typeface="Courier"/>
              </a:rPr>
              <a:t>AliciaAliciaAlica</a:t>
            </a:r>
            <a:r>
              <a:rPr lang="en-US" dirty="0">
                <a:solidFill>
                  <a:srgbClr val="0000FF"/>
                </a:solidFill>
                <a:latin typeface="Courier"/>
                <a:cs typeface="Courier"/>
              </a:rPr>
              <a:t> Keys’</a:t>
            </a:r>
          </a:p>
          <a:p>
            <a:pPr>
              <a:spcAft>
                <a:spcPts val="800"/>
              </a:spcAft>
            </a:pPr>
            <a:r>
              <a:rPr lang="en-US" dirty="0" err="1">
                <a:solidFill>
                  <a:srgbClr val="0000FF"/>
                </a:solidFill>
                <a:latin typeface="Courier"/>
                <a:cs typeface="Courier"/>
              </a:rPr>
              <a:t>re.search</a:t>
            </a:r>
            <a:r>
              <a:rPr lang="en-US" dirty="0">
                <a:solidFill>
                  <a:srgbClr val="0000FF"/>
                </a:solidFill>
                <a:latin typeface="Courier"/>
                <a:cs typeface="Courier"/>
              </a:rPr>
              <a:t>(“Alicia{2,} Keys”, artist) </a:t>
            </a:r>
            <a:r>
              <a:rPr lang="en-US" dirty="0">
                <a:solidFill>
                  <a:srgbClr val="000000"/>
                </a:solidFill>
                <a:latin typeface="Courier"/>
                <a:cs typeface="Courier"/>
              </a:rPr>
              <a:t># does it match?</a:t>
            </a:r>
          </a:p>
          <a:p>
            <a:pPr>
              <a:spcAft>
                <a:spcPts val="800"/>
              </a:spcAft>
            </a:pPr>
            <a:endParaRPr lang="en-US" dirty="0">
              <a:solidFill>
                <a:srgbClr val="000000"/>
              </a:solidFill>
              <a:latin typeface="Courier"/>
              <a:cs typeface="Courier"/>
            </a:endParaRPr>
          </a:p>
          <a:p>
            <a:pPr>
              <a:spcAft>
                <a:spcPts val="800"/>
              </a:spcAft>
            </a:pPr>
            <a:r>
              <a:rPr lang="en-US" dirty="0">
                <a:solidFill>
                  <a:srgbClr val="0000FF"/>
                </a:solidFill>
                <a:latin typeface="Courier"/>
                <a:cs typeface="Courier"/>
              </a:rPr>
              <a:t>artist = 'Alicia\t\t\t\</a:t>
            </a:r>
            <a:r>
              <a:rPr lang="en-US" dirty="0" err="1">
                <a:solidFill>
                  <a:srgbClr val="0000FF"/>
                </a:solidFill>
                <a:latin typeface="Courier"/>
                <a:cs typeface="Courier"/>
              </a:rPr>
              <a:t>tKeys</a:t>
            </a:r>
            <a:r>
              <a:rPr lang="en-US" dirty="0">
                <a:solidFill>
                  <a:srgbClr val="0000FF"/>
                </a:solidFill>
                <a:latin typeface="Courier"/>
                <a:cs typeface="Courier"/>
              </a:rPr>
              <a:t>’</a:t>
            </a:r>
          </a:p>
          <a:p>
            <a:pPr>
              <a:spcAft>
                <a:spcPts val="800"/>
              </a:spcAft>
            </a:pPr>
            <a:r>
              <a:rPr lang="en-US" dirty="0" err="1">
                <a:solidFill>
                  <a:srgbClr val="0000FF"/>
                </a:solidFill>
                <a:latin typeface="Courier"/>
                <a:cs typeface="Courier"/>
              </a:rPr>
              <a:t>re.search</a:t>
            </a:r>
            <a:r>
              <a:rPr lang="en-US" dirty="0">
                <a:solidFill>
                  <a:srgbClr val="0000FF"/>
                </a:solidFill>
                <a:latin typeface="Courier"/>
                <a:cs typeface="Courier"/>
              </a:rPr>
              <a:t>(“Alicia\s{3,10}Keys”, artist)  </a:t>
            </a:r>
            <a:r>
              <a:rPr lang="en-US" dirty="0">
                <a:solidFill>
                  <a:srgbClr val="000000"/>
                </a:solidFill>
                <a:latin typeface="Courier"/>
                <a:cs typeface="Courier"/>
              </a:rPr>
              <a:t># does it match?</a:t>
            </a:r>
            <a:endParaRPr lang="en-US" dirty="0">
              <a:solidFill>
                <a:srgbClr val="0000FF"/>
              </a:solidFill>
              <a:latin typeface="Courier"/>
              <a:cs typeface="Courier"/>
            </a:endParaRPr>
          </a:p>
        </p:txBody>
      </p:sp>
    </p:spTree>
    <p:extLst>
      <p:ext uri="{BB962C8B-B14F-4D97-AF65-F5344CB8AC3E}">
        <p14:creationId xmlns:p14="http://schemas.microsoft.com/office/powerpoint/2010/main" val="37619992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0389" y="176523"/>
            <a:ext cx="8436747" cy="862385"/>
          </a:xfrm>
        </p:spPr>
        <p:txBody>
          <a:bodyPr>
            <a:normAutofit/>
          </a:bodyPr>
          <a:lstStyle/>
          <a:p>
            <a:r>
              <a:rPr lang="en-US" sz="3600" dirty="0">
                <a:latin typeface="+mn-lt"/>
                <a:cs typeface="Courier"/>
              </a:rPr>
              <a:t>Greedy vs. Non-greedy Quantifiers</a:t>
            </a:r>
          </a:p>
        </p:txBody>
      </p:sp>
      <p:sp>
        <p:nvSpPr>
          <p:cNvPr id="5" name="TextBox 4"/>
          <p:cNvSpPr txBox="1"/>
          <p:nvPr/>
        </p:nvSpPr>
        <p:spPr>
          <a:xfrm>
            <a:off x="370389" y="1234034"/>
            <a:ext cx="8447330" cy="4488408"/>
          </a:xfrm>
          <a:prstGeom prst="rect">
            <a:avLst/>
          </a:prstGeom>
          <a:noFill/>
        </p:spPr>
        <p:txBody>
          <a:bodyPr wrap="square" rtlCol="0">
            <a:spAutoFit/>
          </a:bodyPr>
          <a:lstStyle/>
          <a:p>
            <a:pPr marL="517525" indent="-517525">
              <a:spcAft>
                <a:spcPts val="800"/>
              </a:spcAft>
            </a:pPr>
            <a:r>
              <a:rPr lang="en-US" sz="2400" dirty="0"/>
              <a:t>Greedy quantifiers (</a:t>
            </a:r>
            <a:r>
              <a:rPr lang="en-US" sz="2400" dirty="0">
                <a:solidFill>
                  <a:srgbClr val="0000FF"/>
                </a:solidFill>
                <a:latin typeface="Courier"/>
                <a:cs typeface="Courier"/>
              </a:rPr>
              <a:t>*</a:t>
            </a:r>
            <a:r>
              <a:rPr lang="en-US" sz="2400" dirty="0"/>
              <a:t>, </a:t>
            </a:r>
            <a:r>
              <a:rPr lang="en-US" sz="2400" dirty="0">
                <a:solidFill>
                  <a:srgbClr val="0000FF"/>
                </a:solidFill>
                <a:latin typeface="Courier"/>
                <a:cs typeface="Courier"/>
              </a:rPr>
              <a:t>+</a:t>
            </a:r>
            <a:r>
              <a:rPr lang="en-US" sz="2400" dirty="0"/>
              <a:t>, </a:t>
            </a:r>
            <a:r>
              <a:rPr lang="en-US" sz="2400" dirty="0">
                <a:solidFill>
                  <a:srgbClr val="0000FF"/>
                </a:solidFill>
                <a:latin typeface="Courier"/>
                <a:cs typeface="Courier"/>
              </a:rPr>
              <a:t>?</a:t>
            </a:r>
            <a:r>
              <a:rPr lang="en-US" sz="2400" dirty="0"/>
              <a:t>, and </a:t>
            </a:r>
            <a:r>
              <a:rPr lang="en-US" sz="2400" dirty="0">
                <a:solidFill>
                  <a:srgbClr val="0000FF"/>
                </a:solidFill>
                <a:latin typeface="Courier"/>
                <a:cs typeface="Courier"/>
              </a:rPr>
              <a:t>{}</a:t>
            </a:r>
            <a:r>
              <a:rPr lang="en-US" sz="2400" dirty="0"/>
              <a:t>) match as much as they possibly can.</a:t>
            </a:r>
          </a:p>
          <a:p>
            <a:pPr marL="687388"/>
            <a:r>
              <a:rPr lang="en-US" sz="1600" dirty="0">
                <a:solidFill>
                  <a:srgbClr val="0000FF"/>
                </a:solidFill>
                <a:latin typeface="Courier"/>
                <a:cs typeface="Courier"/>
              </a:rPr>
              <a:t>artist = 'Alicia </a:t>
            </a:r>
            <a:r>
              <a:rPr lang="en-US" sz="1600" dirty="0" err="1">
                <a:solidFill>
                  <a:srgbClr val="0000FF"/>
                </a:solidFill>
                <a:latin typeface="Courier"/>
                <a:cs typeface="Courier"/>
              </a:rPr>
              <a:t>GoBBleeGoo</a:t>
            </a:r>
            <a:r>
              <a:rPr lang="en-US" sz="1600" dirty="0">
                <a:solidFill>
                  <a:srgbClr val="0000FF"/>
                </a:solidFill>
                <a:latin typeface="Courier"/>
                <a:cs typeface="Courier"/>
              </a:rPr>
              <a:t>&amp;&amp;K==Keys'</a:t>
            </a:r>
          </a:p>
          <a:p>
            <a:pPr marL="687388"/>
            <a:endParaRPr lang="en-US" sz="1600" dirty="0">
              <a:latin typeface="Courier"/>
              <a:cs typeface="Courier"/>
            </a:endParaRPr>
          </a:p>
          <a:p>
            <a:pPr marL="687388"/>
            <a:r>
              <a:rPr lang="en-US" sz="1600" dirty="0">
                <a:latin typeface="Courier"/>
                <a:cs typeface="Courier"/>
              </a:rPr>
              <a:t># these two behave the same</a:t>
            </a:r>
          </a:p>
          <a:p>
            <a:pPr marL="687388"/>
            <a:r>
              <a:rPr lang="en-US" sz="1600" dirty="0" err="1">
                <a:solidFill>
                  <a:srgbClr val="0000FF"/>
                </a:solidFill>
                <a:latin typeface="Courier"/>
                <a:cs typeface="Courier"/>
              </a:rPr>
              <a:t>re.search</a:t>
            </a:r>
            <a:r>
              <a:rPr lang="en-US" sz="1600" dirty="0">
                <a:solidFill>
                  <a:srgbClr val="0000FF"/>
                </a:solidFill>
                <a:latin typeface="Courier"/>
                <a:cs typeface="Courier"/>
              </a:rPr>
              <a:t>("Alicia.*Keys", artist)</a:t>
            </a:r>
          </a:p>
          <a:p>
            <a:pPr marL="687388"/>
            <a:r>
              <a:rPr lang="en-US" sz="1600" dirty="0" err="1">
                <a:solidFill>
                  <a:srgbClr val="0000FF"/>
                </a:solidFill>
                <a:latin typeface="Courier"/>
                <a:cs typeface="Courier"/>
              </a:rPr>
              <a:t>re.search</a:t>
            </a:r>
            <a:r>
              <a:rPr lang="en-US" sz="1600" dirty="0">
                <a:solidFill>
                  <a:srgbClr val="0000FF"/>
                </a:solidFill>
                <a:latin typeface="Courier"/>
                <a:cs typeface="Courier"/>
              </a:rPr>
              <a:t>("</a:t>
            </a:r>
            <a:r>
              <a:rPr lang="en-US" sz="1600" dirty="0" err="1">
                <a:solidFill>
                  <a:srgbClr val="0000FF"/>
                </a:solidFill>
                <a:latin typeface="Courier"/>
                <a:cs typeface="Courier"/>
              </a:rPr>
              <a:t>Alicia.+Keys</a:t>
            </a:r>
            <a:r>
              <a:rPr lang="en-US" sz="1600" dirty="0">
                <a:solidFill>
                  <a:srgbClr val="0000FF"/>
                </a:solidFill>
                <a:latin typeface="Courier"/>
                <a:cs typeface="Courier"/>
              </a:rPr>
              <a:t>", artist)</a:t>
            </a:r>
          </a:p>
          <a:p>
            <a:pPr marL="687388"/>
            <a:r>
              <a:rPr lang="en-US" sz="1600" dirty="0">
                <a:solidFill>
                  <a:srgbClr val="0000FF"/>
                </a:solidFill>
                <a:latin typeface="Courier"/>
                <a:cs typeface="Courier"/>
              </a:rPr>
              <a:t>	</a:t>
            </a:r>
          </a:p>
          <a:p>
            <a:pPr marL="517525" indent="-517525">
              <a:spcAft>
                <a:spcPts val="600"/>
              </a:spcAft>
            </a:pPr>
            <a:r>
              <a:rPr lang="en-US" sz="2400" dirty="0">
                <a:solidFill>
                  <a:srgbClr val="000000"/>
                </a:solidFill>
                <a:latin typeface="Calibri"/>
                <a:cs typeface="Calibri"/>
              </a:rPr>
              <a:t>The regular expression algorithm does the following:</a:t>
            </a:r>
          </a:p>
          <a:p>
            <a:pPr marL="1081088" indent="-393700">
              <a:spcAft>
                <a:spcPts val="600"/>
              </a:spcAft>
              <a:buFont typeface="+mj-lt"/>
              <a:buAutoNum type="arabicPeriod"/>
            </a:pPr>
            <a:r>
              <a:rPr lang="en-US" sz="2400" dirty="0">
                <a:solidFill>
                  <a:srgbClr val="000000"/>
                </a:solidFill>
                <a:latin typeface="Calibri"/>
                <a:cs typeface="Calibri"/>
              </a:rPr>
              <a:t>Matches </a:t>
            </a:r>
            <a:r>
              <a:rPr lang="en-US" sz="2400" dirty="0">
                <a:solidFill>
                  <a:srgbClr val="FF0000"/>
                </a:solidFill>
                <a:latin typeface="Courier"/>
                <a:cs typeface="Courier"/>
              </a:rPr>
              <a:t>Alicia</a:t>
            </a:r>
          </a:p>
          <a:p>
            <a:pPr marL="1081088" indent="-393700">
              <a:spcAft>
                <a:spcPts val="600"/>
              </a:spcAft>
              <a:buFont typeface="+mj-lt"/>
              <a:buAutoNum type="arabicPeriod"/>
            </a:pPr>
            <a:r>
              <a:rPr lang="en-US" sz="2400" dirty="0">
                <a:solidFill>
                  <a:srgbClr val="000000"/>
                </a:solidFill>
                <a:latin typeface="Calibri"/>
                <a:cs typeface="Calibri"/>
              </a:rPr>
              <a:t>Matches everything through </a:t>
            </a:r>
            <a:r>
              <a:rPr lang="en-US" sz="2400" dirty="0">
                <a:solidFill>
                  <a:srgbClr val="FF0000"/>
                </a:solidFill>
                <a:latin typeface="Courier"/>
                <a:cs typeface="Courier"/>
              </a:rPr>
              <a:t>Keys</a:t>
            </a:r>
            <a:r>
              <a:rPr lang="en-US" sz="2400" dirty="0">
                <a:solidFill>
                  <a:srgbClr val="000000"/>
                </a:solidFill>
                <a:latin typeface="Calibri"/>
                <a:cs typeface="Calibri"/>
              </a:rPr>
              <a:t> (the "greedy" part)</a:t>
            </a:r>
          </a:p>
          <a:p>
            <a:pPr marL="1081088" indent="-393700">
              <a:spcAft>
                <a:spcPts val="600"/>
              </a:spcAft>
              <a:buFont typeface="+mj-lt"/>
              <a:buAutoNum type="arabicPeriod"/>
            </a:pPr>
            <a:r>
              <a:rPr lang="en-US" sz="2400" dirty="0">
                <a:solidFill>
                  <a:srgbClr val="000000"/>
                </a:solidFill>
                <a:latin typeface="Calibri"/>
                <a:cs typeface="Calibri"/>
              </a:rPr>
              <a:t>Backtracks one letter at a time (</a:t>
            </a:r>
            <a:r>
              <a:rPr lang="en-US" sz="2400" dirty="0" err="1">
                <a:solidFill>
                  <a:srgbClr val="FF0000"/>
                </a:solidFill>
                <a:latin typeface="Courier"/>
                <a:cs typeface="Courier"/>
              </a:rPr>
              <a:t>s</a:t>
            </a:r>
            <a:r>
              <a:rPr lang="en-US" sz="2400" dirty="0" err="1">
                <a:solidFill>
                  <a:srgbClr val="000000"/>
                </a:solidFill>
                <a:latin typeface="Courier"/>
                <a:cs typeface="Courier"/>
                <a:sym typeface="Wingdings"/>
              </a:rPr>
              <a:t></a:t>
            </a:r>
            <a:r>
              <a:rPr lang="en-US" sz="2400" dirty="0" err="1">
                <a:solidFill>
                  <a:srgbClr val="FF0000"/>
                </a:solidFill>
                <a:latin typeface="Courier"/>
                <a:cs typeface="Courier"/>
              </a:rPr>
              <a:t>y</a:t>
            </a:r>
            <a:r>
              <a:rPr lang="en-US" sz="2400" dirty="0" err="1">
                <a:solidFill>
                  <a:srgbClr val="000000"/>
                </a:solidFill>
                <a:latin typeface="Courier"/>
                <a:cs typeface="Courier"/>
                <a:sym typeface="Wingdings"/>
              </a:rPr>
              <a:t></a:t>
            </a:r>
            <a:r>
              <a:rPr lang="en-US" sz="2400" dirty="0" err="1">
                <a:solidFill>
                  <a:srgbClr val="FF0000"/>
                </a:solidFill>
                <a:latin typeface="Courier"/>
                <a:cs typeface="Courier"/>
              </a:rPr>
              <a:t>e</a:t>
            </a:r>
            <a:r>
              <a:rPr lang="en-US" sz="2400" dirty="0" err="1">
                <a:solidFill>
                  <a:srgbClr val="000000"/>
                </a:solidFill>
                <a:latin typeface="Courier"/>
                <a:cs typeface="Courier"/>
                <a:sym typeface="Wingdings"/>
              </a:rPr>
              <a:t></a:t>
            </a:r>
            <a:r>
              <a:rPr lang="en-US" sz="2400" dirty="0" err="1">
                <a:solidFill>
                  <a:srgbClr val="FF0000"/>
                </a:solidFill>
                <a:latin typeface="Courier"/>
                <a:cs typeface="Courier"/>
              </a:rPr>
              <a:t>K</a:t>
            </a:r>
            <a:r>
              <a:rPr lang="en-US" sz="2400" dirty="0">
                <a:solidFill>
                  <a:srgbClr val="000000"/>
                </a:solidFill>
                <a:latin typeface="Calibri"/>
                <a:cs typeface="Calibri"/>
              </a:rPr>
              <a:t>) </a:t>
            </a:r>
            <a:r>
              <a:rPr lang="en-US" sz="2400" dirty="0">
                <a:solidFill>
                  <a:srgbClr val="000000"/>
                </a:solidFill>
                <a:cs typeface="Calibri"/>
              </a:rPr>
              <a:t>until the last part of the regular expression (</a:t>
            </a:r>
            <a:r>
              <a:rPr lang="en-US" sz="2400" dirty="0">
                <a:solidFill>
                  <a:srgbClr val="FF0000"/>
                </a:solidFill>
                <a:latin typeface="Courier"/>
                <a:cs typeface="Courier"/>
              </a:rPr>
              <a:t>Keys</a:t>
            </a:r>
            <a:r>
              <a:rPr lang="en-US" sz="2400" dirty="0">
                <a:solidFill>
                  <a:srgbClr val="000000"/>
                </a:solidFill>
                <a:cs typeface="Calibri"/>
              </a:rPr>
              <a:t>) matches</a:t>
            </a:r>
            <a:endParaRPr lang="en-US" sz="2400" dirty="0">
              <a:solidFill>
                <a:srgbClr val="000000"/>
              </a:solidFill>
              <a:latin typeface="Calibri"/>
              <a:cs typeface="Calibri"/>
            </a:endParaRPr>
          </a:p>
        </p:txBody>
      </p:sp>
    </p:spTree>
    <p:extLst>
      <p:ext uri="{BB962C8B-B14F-4D97-AF65-F5344CB8AC3E}">
        <p14:creationId xmlns:p14="http://schemas.microsoft.com/office/powerpoint/2010/main" val="33325526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0083" y="176523"/>
            <a:ext cx="8436747" cy="862385"/>
          </a:xfrm>
        </p:spPr>
        <p:txBody>
          <a:bodyPr>
            <a:normAutofit/>
          </a:bodyPr>
          <a:lstStyle/>
          <a:p>
            <a:r>
              <a:rPr lang="en-US" sz="3600" dirty="0">
                <a:latin typeface="+mn-lt"/>
                <a:cs typeface="Courier"/>
              </a:rPr>
              <a:t>Greedy vs. Non-greedy Quantifiers</a:t>
            </a:r>
          </a:p>
        </p:txBody>
      </p:sp>
      <p:sp>
        <p:nvSpPr>
          <p:cNvPr id="5" name="TextBox 4"/>
          <p:cNvSpPr txBox="1"/>
          <p:nvPr/>
        </p:nvSpPr>
        <p:spPr>
          <a:xfrm>
            <a:off x="285725" y="1234034"/>
            <a:ext cx="8585463" cy="2421176"/>
          </a:xfrm>
          <a:prstGeom prst="rect">
            <a:avLst/>
          </a:prstGeom>
          <a:noFill/>
        </p:spPr>
        <p:txBody>
          <a:bodyPr wrap="square" rtlCol="0">
            <a:spAutoFit/>
          </a:bodyPr>
          <a:lstStyle/>
          <a:p>
            <a:pPr marL="517525" indent="-517525">
              <a:spcAft>
                <a:spcPts val="800"/>
              </a:spcAft>
            </a:pPr>
            <a:r>
              <a:rPr lang="en-US" sz="2400" dirty="0"/>
              <a:t>Greedy quantifiers (</a:t>
            </a:r>
            <a:r>
              <a:rPr lang="en-US" sz="2400" dirty="0">
                <a:solidFill>
                  <a:srgbClr val="0000FF"/>
                </a:solidFill>
                <a:latin typeface="Courier"/>
                <a:cs typeface="Courier"/>
              </a:rPr>
              <a:t>*</a:t>
            </a:r>
            <a:r>
              <a:rPr lang="en-US" sz="2400" dirty="0"/>
              <a:t>, </a:t>
            </a:r>
            <a:r>
              <a:rPr lang="en-US" sz="2400" dirty="0">
                <a:solidFill>
                  <a:srgbClr val="0000FF"/>
                </a:solidFill>
                <a:latin typeface="Courier"/>
                <a:cs typeface="Courier"/>
              </a:rPr>
              <a:t>+</a:t>
            </a:r>
            <a:r>
              <a:rPr lang="en-US" sz="2400" dirty="0"/>
              <a:t>, </a:t>
            </a:r>
            <a:r>
              <a:rPr lang="en-US" sz="2400" dirty="0">
                <a:solidFill>
                  <a:srgbClr val="0000FF"/>
                </a:solidFill>
                <a:latin typeface="Courier"/>
                <a:cs typeface="Courier"/>
              </a:rPr>
              <a:t>?</a:t>
            </a:r>
            <a:r>
              <a:rPr lang="en-US" sz="2400" dirty="0"/>
              <a:t>, and </a:t>
            </a:r>
            <a:r>
              <a:rPr lang="en-US" sz="2400" dirty="0">
                <a:solidFill>
                  <a:srgbClr val="0000FF"/>
                </a:solidFill>
                <a:latin typeface="Courier"/>
                <a:cs typeface="Courier"/>
              </a:rPr>
              <a:t>{}</a:t>
            </a:r>
            <a:r>
              <a:rPr lang="en-US" sz="2400" dirty="0"/>
              <a:t>) match as much as they possibly can.</a:t>
            </a:r>
          </a:p>
          <a:p>
            <a:pPr marL="687388" indent="-687388">
              <a:spcAft>
                <a:spcPts val="400"/>
              </a:spcAft>
            </a:pPr>
            <a:endParaRPr lang="en-US" sz="1600" dirty="0">
              <a:latin typeface="Courier"/>
              <a:cs typeface="Courier"/>
            </a:endParaRPr>
          </a:p>
          <a:p>
            <a:pPr marL="687388" indent="-687388">
              <a:spcAft>
                <a:spcPts val="400"/>
              </a:spcAft>
            </a:pPr>
            <a:r>
              <a:rPr lang="en-US" sz="1600" dirty="0">
                <a:latin typeface="Courier"/>
                <a:cs typeface="Courier"/>
              </a:rPr>
              <a:t># Grab 'Holy moly' from this HTML string</a:t>
            </a:r>
          </a:p>
          <a:p>
            <a:pPr marL="687388" indent="-687388">
              <a:spcAft>
                <a:spcPts val="400"/>
              </a:spcAft>
            </a:pPr>
            <a:r>
              <a:rPr lang="en-US" sz="1600" dirty="0">
                <a:solidFill>
                  <a:srgbClr val="0000FF"/>
                </a:solidFill>
                <a:latin typeface="Courier"/>
                <a:cs typeface="Courier"/>
              </a:rPr>
              <a:t>artist = "&lt;BOLD&gt;Holy moly&lt;/BOLD&gt;, it's &lt;BOLD&gt;Alicia Keys&lt;/BOLD&gt;"</a:t>
            </a:r>
          </a:p>
          <a:p>
            <a:pPr marL="687388" indent="-687388">
              <a:spcAft>
                <a:spcPts val="400"/>
              </a:spcAft>
            </a:pPr>
            <a:r>
              <a:rPr lang="en-US" sz="1600" dirty="0">
                <a:solidFill>
                  <a:srgbClr val="0000FF"/>
                </a:solidFill>
                <a:latin typeface="Courier"/>
                <a:cs typeface="Courier"/>
              </a:rPr>
              <a:t>match = </a:t>
            </a:r>
            <a:r>
              <a:rPr lang="en-US" sz="1600" dirty="0" err="1">
                <a:solidFill>
                  <a:srgbClr val="0000FF"/>
                </a:solidFill>
                <a:latin typeface="Courier"/>
                <a:cs typeface="Courier"/>
              </a:rPr>
              <a:t>re.search</a:t>
            </a:r>
            <a:r>
              <a:rPr lang="en-US" sz="1600" dirty="0">
                <a:solidFill>
                  <a:srgbClr val="0000FF"/>
                </a:solidFill>
                <a:latin typeface="Courier"/>
                <a:cs typeface="Courier"/>
              </a:rPr>
              <a:t>("&lt;BOLD&gt;(.*)&lt;/BOLD&gt;", artist)</a:t>
            </a:r>
            <a:endParaRPr lang="en-US" sz="1600" dirty="0">
              <a:latin typeface="Courier"/>
              <a:cs typeface="Courier"/>
            </a:endParaRPr>
          </a:p>
          <a:p>
            <a:pPr marL="687388" indent="-687388">
              <a:spcAft>
                <a:spcPts val="400"/>
              </a:spcAft>
            </a:pPr>
            <a:endParaRPr lang="en-US" sz="1600" dirty="0">
              <a:latin typeface="Courier"/>
              <a:cs typeface="Courier"/>
            </a:endParaRPr>
          </a:p>
        </p:txBody>
      </p:sp>
    </p:spTree>
    <p:extLst>
      <p:ext uri="{BB962C8B-B14F-4D97-AF65-F5344CB8AC3E}">
        <p14:creationId xmlns:p14="http://schemas.microsoft.com/office/powerpoint/2010/main" val="36580745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0083" y="176523"/>
            <a:ext cx="8436747" cy="862385"/>
          </a:xfrm>
        </p:spPr>
        <p:txBody>
          <a:bodyPr>
            <a:normAutofit/>
          </a:bodyPr>
          <a:lstStyle/>
          <a:p>
            <a:r>
              <a:rPr lang="en-US" sz="3600" dirty="0">
                <a:latin typeface="+mn-lt"/>
                <a:cs typeface="Courier"/>
              </a:rPr>
              <a:t>Greedy vs. Non-greedy Quantifiers</a:t>
            </a:r>
          </a:p>
        </p:txBody>
      </p:sp>
      <p:sp>
        <p:nvSpPr>
          <p:cNvPr id="5" name="TextBox 4"/>
          <p:cNvSpPr txBox="1"/>
          <p:nvPr/>
        </p:nvSpPr>
        <p:spPr>
          <a:xfrm>
            <a:off x="285725" y="2098934"/>
            <a:ext cx="8585463" cy="933589"/>
          </a:xfrm>
          <a:prstGeom prst="rect">
            <a:avLst/>
          </a:prstGeom>
          <a:noFill/>
        </p:spPr>
        <p:txBody>
          <a:bodyPr wrap="square" rtlCol="0">
            <a:spAutoFit/>
          </a:bodyPr>
          <a:lstStyle/>
          <a:p>
            <a:pPr marL="687388" indent="-687388">
              <a:spcAft>
                <a:spcPts val="400"/>
              </a:spcAft>
            </a:pPr>
            <a:r>
              <a:rPr lang="en-US" sz="1600" dirty="0">
                <a:latin typeface="Courier"/>
                <a:cs typeface="Courier"/>
              </a:rPr>
              <a:t># Grab 'Holy moly' from this HTML string</a:t>
            </a:r>
          </a:p>
          <a:p>
            <a:pPr marL="687388" indent="-687388">
              <a:spcAft>
                <a:spcPts val="400"/>
              </a:spcAft>
            </a:pPr>
            <a:r>
              <a:rPr lang="en-US" sz="1600" dirty="0">
                <a:solidFill>
                  <a:srgbClr val="0000FF"/>
                </a:solidFill>
                <a:latin typeface="Courier"/>
                <a:cs typeface="Courier"/>
              </a:rPr>
              <a:t>artist = "&lt;BOLD&gt;Holy moly&lt;/BOLD&gt;, it's &lt;BOLD&gt;Alicia Keys&lt;/BOLD&gt;"</a:t>
            </a:r>
          </a:p>
          <a:p>
            <a:pPr marL="687388" indent="-687388">
              <a:spcAft>
                <a:spcPts val="400"/>
              </a:spcAft>
            </a:pPr>
            <a:r>
              <a:rPr lang="en-US" sz="1600" dirty="0">
                <a:solidFill>
                  <a:srgbClr val="0000FF"/>
                </a:solidFill>
                <a:latin typeface="Courier"/>
                <a:cs typeface="Courier"/>
              </a:rPr>
              <a:t>match = </a:t>
            </a:r>
            <a:r>
              <a:rPr lang="en-US" sz="1600" dirty="0" err="1">
                <a:solidFill>
                  <a:srgbClr val="0000FF"/>
                </a:solidFill>
                <a:latin typeface="Courier"/>
                <a:cs typeface="Courier"/>
              </a:rPr>
              <a:t>re.search</a:t>
            </a:r>
            <a:r>
              <a:rPr lang="en-US" sz="1600" dirty="0">
                <a:solidFill>
                  <a:srgbClr val="0000FF"/>
                </a:solidFill>
                <a:latin typeface="Courier"/>
                <a:cs typeface="Courier"/>
              </a:rPr>
              <a:t>("&lt;BOLD&gt;(.*?)&lt;/BOLD&gt;", artist)</a:t>
            </a:r>
          </a:p>
        </p:txBody>
      </p:sp>
      <p:sp>
        <p:nvSpPr>
          <p:cNvPr id="6" name="TextBox 5"/>
          <p:cNvSpPr txBox="1"/>
          <p:nvPr/>
        </p:nvSpPr>
        <p:spPr>
          <a:xfrm>
            <a:off x="285725" y="1384661"/>
            <a:ext cx="8447330" cy="446276"/>
          </a:xfrm>
          <a:prstGeom prst="rect">
            <a:avLst/>
          </a:prstGeom>
          <a:noFill/>
        </p:spPr>
        <p:txBody>
          <a:bodyPr wrap="square" rtlCol="0">
            <a:spAutoFit/>
          </a:bodyPr>
          <a:lstStyle/>
          <a:p>
            <a:pPr marL="342900" indent="-342900">
              <a:spcAft>
                <a:spcPts val="800"/>
              </a:spcAft>
              <a:buFont typeface="Arial"/>
              <a:buChar char="•"/>
            </a:pPr>
            <a:r>
              <a:rPr lang="en-US" sz="2300" dirty="0"/>
              <a:t>Add</a:t>
            </a:r>
            <a:r>
              <a:rPr lang="en-US" sz="2300" dirty="0">
                <a:latin typeface="Courier"/>
                <a:cs typeface="Courier"/>
              </a:rPr>
              <a:t> </a:t>
            </a:r>
            <a:r>
              <a:rPr lang="en-US" sz="2300" dirty="0">
                <a:solidFill>
                  <a:srgbClr val="0000FF"/>
                </a:solidFill>
                <a:latin typeface="Courier"/>
                <a:cs typeface="Courier"/>
              </a:rPr>
              <a:t>? </a:t>
            </a:r>
            <a:r>
              <a:rPr lang="en-US" sz="2300" dirty="0">
                <a:solidFill>
                  <a:srgbClr val="000000"/>
                </a:solidFill>
                <a:cs typeface="Courier"/>
              </a:rPr>
              <a:t>to make these quantifiers non-greedy</a:t>
            </a:r>
          </a:p>
        </p:txBody>
      </p:sp>
      <p:sp>
        <p:nvSpPr>
          <p:cNvPr id="7" name="TextBox 6"/>
          <p:cNvSpPr txBox="1"/>
          <p:nvPr/>
        </p:nvSpPr>
        <p:spPr>
          <a:xfrm>
            <a:off x="285725" y="3300520"/>
            <a:ext cx="8634574" cy="2549416"/>
          </a:xfrm>
          <a:prstGeom prst="rect">
            <a:avLst/>
          </a:prstGeom>
          <a:noFill/>
        </p:spPr>
        <p:txBody>
          <a:bodyPr wrap="square" rtlCol="0">
            <a:spAutoFit/>
          </a:bodyPr>
          <a:lstStyle/>
          <a:p>
            <a:pPr marL="342900" indent="-342900">
              <a:spcAft>
                <a:spcPts val="800"/>
              </a:spcAft>
              <a:buFont typeface="Arial"/>
              <a:buChar char="•"/>
            </a:pPr>
            <a:r>
              <a:rPr lang="en-US" sz="2300" dirty="0">
                <a:solidFill>
                  <a:srgbClr val="000000"/>
                </a:solidFill>
                <a:cs typeface="Courier"/>
              </a:rPr>
              <a:t>Completely alters the matching algorithm</a:t>
            </a:r>
          </a:p>
          <a:p>
            <a:pPr marL="855663" indent="-282575">
              <a:spcAft>
                <a:spcPts val="600"/>
              </a:spcAft>
              <a:buFont typeface="+mj-lt"/>
              <a:buAutoNum type="arabicPeriod"/>
            </a:pPr>
            <a:r>
              <a:rPr lang="en-US" sz="2300" dirty="0">
                <a:solidFill>
                  <a:srgbClr val="000000"/>
                </a:solidFill>
                <a:latin typeface="Calibri"/>
                <a:cs typeface="Calibri"/>
              </a:rPr>
              <a:t>Matches </a:t>
            </a:r>
            <a:r>
              <a:rPr lang="en-US" sz="2300" dirty="0">
                <a:solidFill>
                  <a:srgbClr val="FF0000"/>
                </a:solidFill>
                <a:latin typeface="Courier"/>
                <a:cs typeface="Courier"/>
              </a:rPr>
              <a:t>&lt;BOLD&gt;</a:t>
            </a:r>
          </a:p>
          <a:p>
            <a:pPr marL="855663" indent="-282575">
              <a:spcAft>
                <a:spcPts val="600"/>
              </a:spcAft>
              <a:buFont typeface="+mj-lt"/>
              <a:buAutoNum type="arabicPeriod"/>
            </a:pPr>
            <a:r>
              <a:rPr lang="en-US" sz="2300" dirty="0">
                <a:solidFill>
                  <a:srgbClr val="000000"/>
                </a:solidFill>
                <a:latin typeface="Calibri"/>
                <a:cs typeface="Calibri"/>
              </a:rPr>
              <a:t>Moves right, </a:t>
            </a:r>
            <a:r>
              <a:rPr lang="en-US" sz="2300" dirty="0">
                <a:solidFill>
                  <a:srgbClr val="000000"/>
                </a:solidFill>
                <a:cs typeface="Calibri"/>
              </a:rPr>
              <a:t>reluctantly </a:t>
            </a:r>
            <a:r>
              <a:rPr lang="en-US" sz="2300" dirty="0">
                <a:solidFill>
                  <a:srgbClr val="000000"/>
                </a:solidFill>
                <a:latin typeface="Calibri"/>
                <a:cs typeface="Calibri"/>
              </a:rPr>
              <a:t>matching one character at a time</a:t>
            </a:r>
          </a:p>
          <a:p>
            <a:pPr marL="855663" indent="-282575">
              <a:spcAft>
                <a:spcPts val="600"/>
              </a:spcAft>
              <a:buFont typeface="+mj-lt"/>
              <a:buAutoNum type="arabicPeriod"/>
            </a:pPr>
            <a:r>
              <a:rPr lang="en-US" sz="2300" dirty="0">
                <a:solidFill>
                  <a:srgbClr val="000000"/>
                </a:solidFill>
                <a:cs typeface="Calibri"/>
              </a:rPr>
              <a:t>After each character match, try to let the rest of the pattern (</a:t>
            </a:r>
            <a:r>
              <a:rPr lang="en-US" sz="2300" dirty="0">
                <a:solidFill>
                  <a:srgbClr val="FF0000"/>
                </a:solidFill>
                <a:latin typeface="Courier"/>
                <a:cs typeface="Courier"/>
              </a:rPr>
              <a:t>&lt;/BOLD&gt;</a:t>
            </a:r>
            <a:r>
              <a:rPr lang="en-US" sz="2300" dirty="0">
                <a:solidFill>
                  <a:srgbClr val="000000"/>
                </a:solidFill>
                <a:cs typeface="Calibri"/>
              </a:rPr>
              <a:t>) match</a:t>
            </a:r>
          </a:p>
          <a:p>
            <a:pPr marL="855663" indent="-282575">
              <a:spcAft>
                <a:spcPts val="600"/>
              </a:spcAft>
              <a:buFont typeface="+mj-lt"/>
              <a:buAutoNum type="arabicPeriod"/>
            </a:pPr>
            <a:r>
              <a:rPr lang="en-US" sz="2300" dirty="0">
                <a:solidFill>
                  <a:srgbClr val="000000"/>
                </a:solidFill>
                <a:latin typeface="Calibri"/>
                <a:cs typeface="Calibri"/>
              </a:rPr>
              <a:t>Stop once all 7 characters in</a:t>
            </a:r>
            <a:r>
              <a:rPr lang="en-US" sz="2300" dirty="0">
                <a:solidFill>
                  <a:srgbClr val="000000"/>
                </a:solidFill>
                <a:latin typeface="Courier"/>
                <a:cs typeface="Courier"/>
              </a:rPr>
              <a:t> </a:t>
            </a:r>
            <a:r>
              <a:rPr lang="en-US" sz="2300" dirty="0">
                <a:solidFill>
                  <a:srgbClr val="FF0000"/>
                </a:solidFill>
                <a:latin typeface="Courier"/>
                <a:cs typeface="Courier"/>
              </a:rPr>
              <a:t>&lt;/BOLD&gt; </a:t>
            </a:r>
            <a:r>
              <a:rPr lang="en-US" sz="2300" dirty="0">
                <a:solidFill>
                  <a:srgbClr val="000000"/>
                </a:solidFill>
                <a:latin typeface="Calibri"/>
                <a:cs typeface="Calibri"/>
              </a:rPr>
              <a:t>have matched</a:t>
            </a:r>
          </a:p>
        </p:txBody>
      </p:sp>
    </p:spTree>
    <p:extLst>
      <p:ext uri="{BB962C8B-B14F-4D97-AF65-F5344CB8AC3E}">
        <p14:creationId xmlns:p14="http://schemas.microsoft.com/office/powerpoint/2010/main" val="13557620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9939" y="176523"/>
            <a:ext cx="8436747" cy="862385"/>
          </a:xfrm>
        </p:spPr>
        <p:txBody>
          <a:bodyPr>
            <a:normAutofit/>
          </a:bodyPr>
          <a:lstStyle/>
          <a:p>
            <a:r>
              <a:rPr lang="en-US" sz="3600" dirty="0">
                <a:latin typeface="+mn-lt"/>
                <a:cs typeface="Courier"/>
              </a:rPr>
              <a:t>Greedy vs. Non-greedy Quantifiers</a:t>
            </a:r>
          </a:p>
        </p:txBody>
      </p:sp>
      <p:sp>
        <p:nvSpPr>
          <p:cNvPr id="6" name="TextBox 5"/>
          <p:cNvSpPr txBox="1"/>
          <p:nvPr/>
        </p:nvSpPr>
        <p:spPr>
          <a:xfrm>
            <a:off x="364647" y="1384661"/>
            <a:ext cx="8447330" cy="3642023"/>
          </a:xfrm>
          <a:prstGeom prst="rect">
            <a:avLst/>
          </a:prstGeom>
          <a:noFill/>
        </p:spPr>
        <p:txBody>
          <a:bodyPr wrap="square" rtlCol="0">
            <a:spAutoFit/>
          </a:bodyPr>
          <a:lstStyle/>
          <a:p>
            <a:pPr marL="342900" indent="-342900">
              <a:spcAft>
                <a:spcPts val="800"/>
              </a:spcAft>
              <a:buFont typeface="Arial"/>
              <a:buChar char="•"/>
            </a:pPr>
            <a:r>
              <a:rPr lang="en-US" sz="2300" dirty="0"/>
              <a:t>Add</a:t>
            </a:r>
            <a:r>
              <a:rPr lang="en-US" sz="2300" dirty="0">
                <a:latin typeface="Courier"/>
                <a:cs typeface="Courier"/>
              </a:rPr>
              <a:t> </a:t>
            </a:r>
            <a:r>
              <a:rPr lang="en-US" sz="2300" dirty="0">
                <a:solidFill>
                  <a:srgbClr val="0000FF"/>
                </a:solidFill>
                <a:latin typeface="Courier"/>
                <a:cs typeface="Courier"/>
              </a:rPr>
              <a:t>? </a:t>
            </a:r>
            <a:r>
              <a:rPr lang="en-US" sz="2300" dirty="0">
                <a:solidFill>
                  <a:srgbClr val="000000"/>
                </a:solidFill>
                <a:cs typeface="Courier"/>
              </a:rPr>
              <a:t>to make these quantifiers non-greedy</a:t>
            </a:r>
          </a:p>
          <a:p>
            <a:pPr marL="342900" indent="-342900">
              <a:spcAft>
                <a:spcPts val="800"/>
              </a:spcAft>
              <a:buFont typeface="Arial"/>
              <a:buChar char="•"/>
            </a:pPr>
            <a:r>
              <a:rPr lang="en-US" sz="2300" dirty="0">
                <a:solidFill>
                  <a:srgbClr val="0000FF"/>
                </a:solidFill>
                <a:latin typeface="Courier"/>
                <a:cs typeface="Courier"/>
              </a:rPr>
              <a:t>? </a:t>
            </a:r>
            <a:r>
              <a:rPr lang="en-US" sz="2300" dirty="0">
                <a:solidFill>
                  <a:srgbClr val="000000"/>
                </a:solidFill>
                <a:cs typeface="Courier"/>
              </a:rPr>
              <a:t>works the same with all the quantifiers</a:t>
            </a:r>
          </a:p>
          <a:p>
            <a:pPr marL="1257300" lvl="2" indent="-342900">
              <a:spcAft>
                <a:spcPts val="800"/>
              </a:spcAft>
              <a:buFont typeface="Lucida Grande"/>
              <a:buChar char="–"/>
            </a:pPr>
            <a:r>
              <a:rPr lang="en-US" sz="2300" dirty="0">
                <a:solidFill>
                  <a:srgbClr val="0000FF"/>
                </a:solidFill>
                <a:latin typeface="Courier"/>
                <a:cs typeface="Courier"/>
              </a:rPr>
              <a:t>*?</a:t>
            </a:r>
          </a:p>
          <a:p>
            <a:pPr marL="1257300" lvl="2" indent="-342900">
              <a:spcAft>
                <a:spcPts val="800"/>
              </a:spcAft>
              <a:buFont typeface="Lucida Grande"/>
              <a:buChar char="–"/>
            </a:pPr>
            <a:r>
              <a:rPr lang="en-US" sz="2300" dirty="0">
                <a:solidFill>
                  <a:srgbClr val="0000FF"/>
                </a:solidFill>
                <a:latin typeface="Courier"/>
                <a:cs typeface="Courier"/>
              </a:rPr>
              <a:t>+?</a:t>
            </a:r>
          </a:p>
          <a:p>
            <a:pPr marL="1257300" lvl="2" indent="-342900">
              <a:spcAft>
                <a:spcPts val="800"/>
              </a:spcAft>
              <a:buFont typeface="Lucida Grande"/>
              <a:buChar char="–"/>
            </a:pPr>
            <a:r>
              <a:rPr lang="en-US" sz="2300" dirty="0">
                <a:solidFill>
                  <a:srgbClr val="0000FF"/>
                </a:solidFill>
                <a:latin typeface="Courier"/>
                <a:cs typeface="Courier"/>
              </a:rPr>
              <a:t>??</a:t>
            </a:r>
          </a:p>
          <a:p>
            <a:pPr marL="1257300" lvl="2" indent="-342900">
              <a:spcAft>
                <a:spcPts val="800"/>
              </a:spcAft>
              <a:buFont typeface="Lucida Grande"/>
              <a:buChar char="–"/>
            </a:pPr>
            <a:r>
              <a:rPr lang="en-US" sz="2300" dirty="0">
                <a:solidFill>
                  <a:srgbClr val="0000FF"/>
                </a:solidFill>
                <a:latin typeface="Courier"/>
                <a:cs typeface="Courier"/>
              </a:rPr>
              <a:t>{5,10}?</a:t>
            </a:r>
          </a:p>
          <a:p>
            <a:pPr marL="1257300" lvl="2" indent="-342900">
              <a:spcAft>
                <a:spcPts val="800"/>
              </a:spcAft>
              <a:buFont typeface="Lucida Grande"/>
              <a:buChar char="–"/>
            </a:pPr>
            <a:r>
              <a:rPr lang="en-US" sz="2300" dirty="0">
                <a:solidFill>
                  <a:srgbClr val="0000FF"/>
                </a:solidFill>
                <a:latin typeface="Courier"/>
                <a:cs typeface="Courier"/>
              </a:rPr>
              <a:t>{8,}?</a:t>
            </a:r>
          </a:p>
          <a:p>
            <a:pPr marL="1257300" lvl="2" indent="-342900">
              <a:spcAft>
                <a:spcPts val="800"/>
              </a:spcAft>
              <a:buFont typeface="Lucida Grande"/>
              <a:buChar char="–"/>
            </a:pPr>
            <a:endParaRPr lang="en-US" sz="2300" dirty="0">
              <a:solidFill>
                <a:srgbClr val="000000"/>
              </a:solidFill>
              <a:cs typeface="Courier"/>
            </a:endParaRPr>
          </a:p>
        </p:txBody>
      </p:sp>
    </p:spTree>
    <p:extLst>
      <p:ext uri="{BB962C8B-B14F-4D97-AF65-F5344CB8AC3E}">
        <p14:creationId xmlns:p14="http://schemas.microsoft.com/office/powerpoint/2010/main" val="10234751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39234</TotalTime>
  <Words>1139</Words>
  <Application>Microsoft Macintosh PowerPoint</Application>
  <PresentationFormat>On-screen Show (4:3)</PresentationFormat>
  <Paragraphs>174</Paragraphs>
  <Slides>19</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Calibri Light</vt:lpstr>
      <vt:lpstr>Courier</vt:lpstr>
      <vt:lpstr>Lucida Grande</vt:lpstr>
      <vt:lpstr>Wingdings</vt:lpstr>
      <vt:lpstr>Office Theme</vt:lpstr>
      <vt:lpstr>Regular Expressions</vt:lpstr>
      <vt:lpstr>A story about Katherine</vt:lpstr>
      <vt:lpstr>Load Python's re module</vt:lpstr>
      <vt:lpstr>Regular Expressions</vt:lpstr>
      <vt:lpstr>Regular Expressions</vt:lpstr>
      <vt:lpstr>Regular Expressions</vt:lpstr>
      <vt:lpstr>Character classes</vt:lpstr>
      <vt:lpstr>Character classes</vt:lpstr>
      <vt:lpstr>Character class shortcuts</vt:lpstr>
      <vt:lpstr>Metacharacters</vt:lpstr>
      <vt:lpstr>Metacharacters</vt:lpstr>
      <vt:lpstr>The "any old junk" construct</vt:lpstr>
      <vt:lpstr>Quantifiers</vt:lpstr>
      <vt:lpstr>Quantifiers</vt:lpstr>
      <vt:lpstr>General quantifiers</vt:lpstr>
      <vt:lpstr>Greedy vs. Non-greedy Quantifiers</vt:lpstr>
      <vt:lpstr>Greedy vs. Non-greedy Quantifiers</vt:lpstr>
      <vt:lpstr>Greedy vs. Non-greedy Quantifiers</vt:lpstr>
      <vt:lpstr>Greedy vs. Non-greedy Quantifiers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Andrew Alverson</dc:creator>
  <cp:lastModifiedBy>Andrew Alverson</cp:lastModifiedBy>
  <cp:revision>1485</cp:revision>
  <cp:lastPrinted>2013-03-26T18:48:22Z</cp:lastPrinted>
  <dcterms:created xsi:type="dcterms:W3CDTF">2013-01-08T16:50:50Z</dcterms:created>
  <dcterms:modified xsi:type="dcterms:W3CDTF">2026-04-25T17:31:03Z</dcterms:modified>
</cp:coreProperties>
</file>